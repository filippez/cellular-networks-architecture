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notesMasterIdLst>
    <p:notesMasterId r:id="rId42"/>
  </p:notesMasterIdLst>
  <p:sldIdLst>
    <p:sldId id="256" r:id="rId2"/>
    <p:sldId id="257" r:id="rId3"/>
    <p:sldId id="265" r:id="rId4"/>
    <p:sldId id="267" r:id="rId5"/>
    <p:sldId id="260" r:id="rId6"/>
    <p:sldId id="259" r:id="rId7"/>
    <p:sldId id="264" r:id="rId8"/>
    <p:sldId id="312" r:id="rId9"/>
    <p:sldId id="270" r:id="rId10"/>
    <p:sldId id="273" r:id="rId11"/>
    <p:sldId id="271" r:id="rId12"/>
    <p:sldId id="272" r:id="rId13"/>
    <p:sldId id="274" r:id="rId14"/>
    <p:sldId id="275" r:id="rId15"/>
    <p:sldId id="310" r:id="rId16"/>
    <p:sldId id="276" r:id="rId17"/>
    <p:sldId id="277" r:id="rId18"/>
    <p:sldId id="278" r:id="rId19"/>
    <p:sldId id="281" r:id="rId20"/>
    <p:sldId id="282" r:id="rId21"/>
    <p:sldId id="283" r:id="rId22"/>
    <p:sldId id="311" r:id="rId23"/>
    <p:sldId id="284" r:id="rId24"/>
    <p:sldId id="287" r:id="rId25"/>
    <p:sldId id="280" r:id="rId26"/>
    <p:sldId id="290" r:id="rId27"/>
    <p:sldId id="291" r:id="rId28"/>
    <p:sldId id="288" r:id="rId29"/>
    <p:sldId id="289" r:id="rId30"/>
    <p:sldId id="299" r:id="rId31"/>
    <p:sldId id="298" r:id="rId32"/>
    <p:sldId id="300" r:id="rId33"/>
    <p:sldId id="302" r:id="rId34"/>
    <p:sldId id="313" r:id="rId35"/>
    <p:sldId id="305" r:id="rId36"/>
    <p:sldId id="303" r:id="rId37"/>
    <p:sldId id="304" r:id="rId38"/>
    <p:sldId id="306" r:id="rId39"/>
    <p:sldId id="309" r:id="rId40"/>
    <p:sldId id="314" r:id="rId41"/>
  </p:sldIdLst>
  <p:sldSz cx="12192000" cy="6858000"/>
  <p:notesSz cx="6858000" cy="91440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065" autoAdjust="0"/>
  </p:normalViewPr>
  <p:slideViewPr>
    <p:cSldViewPr snapToGrid="0">
      <p:cViewPr varScale="1">
        <p:scale>
          <a:sx n="83" d="100"/>
          <a:sy n="83" d="100"/>
        </p:scale>
        <p:origin x="65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l-G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E1221A-1177-4E76-91D3-62D67614FFA0}" type="datetimeFigureOut">
              <a:rPr lang="el-GR" smtClean="0"/>
              <a:t>25/11/2024</a:t>
            </a:fld>
            <a:endParaRPr lang="el-G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l-G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l-G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2BA3A3-B8EA-4D0C-B663-452D9A8C337B}" type="slidenum">
              <a:rPr lang="el-GR" smtClean="0"/>
              <a:t>‹#›</a:t>
            </a:fld>
            <a:endParaRPr lang="el-GR"/>
          </a:p>
        </p:txBody>
      </p:sp>
    </p:spTree>
    <p:extLst>
      <p:ext uri="{BB962C8B-B14F-4D97-AF65-F5344CB8AC3E}">
        <p14:creationId xmlns:p14="http://schemas.microsoft.com/office/powerpoint/2010/main" val="5495183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l-GR" dirty="0"/>
          </a:p>
        </p:txBody>
      </p:sp>
      <p:sp>
        <p:nvSpPr>
          <p:cNvPr id="4" name="Slide Number Placeholder 3"/>
          <p:cNvSpPr>
            <a:spLocks noGrp="1"/>
          </p:cNvSpPr>
          <p:nvPr>
            <p:ph type="sldNum" sz="quarter" idx="5"/>
          </p:nvPr>
        </p:nvSpPr>
        <p:spPr/>
        <p:txBody>
          <a:bodyPr/>
          <a:lstStyle/>
          <a:p>
            <a:fld id="{CA2BA3A3-B8EA-4D0C-B663-452D9A8C337B}" type="slidenum">
              <a:rPr lang="el-GR" smtClean="0"/>
              <a:t>36</a:t>
            </a:fld>
            <a:endParaRPr lang="el-GR"/>
          </a:p>
        </p:txBody>
      </p:sp>
    </p:spTree>
    <p:extLst>
      <p:ext uri="{BB962C8B-B14F-4D97-AF65-F5344CB8AC3E}">
        <p14:creationId xmlns:p14="http://schemas.microsoft.com/office/powerpoint/2010/main" val="20272951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058BF-C5E1-4B52-BD8A-FD1AD5779347}"/>
              </a:ext>
            </a:extLst>
          </p:cNvPr>
          <p:cNvSpPr>
            <a:spLocks noGrp="1"/>
          </p:cNvSpPr>
          <p:nvPr>
            <p:ph type="ctrTitle"/>
          </p:nvPr>
        </p:nvSpPr>
        <p:spPr>
          <a:xfrm>
            <a:off x="1524000" y="1122363"/>
            <a:ext cx="9144000" cy="2387600"/>
          </a:xfrm>
        </p:spPr>
        <p:txBody>
          <a:bodyPr anchor="b"/>
          <a:lstStyle>
            <a:lvl1pPr algn="ctr">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FCD51F7-3CC3-4BB7-8291-B1789482E8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FD320447-D6C7-43E1-AE88-1FB66CC9C55E}"/>
              </a:ext>
            </a:extLst>
          </p:cNvPr>
          <p:cNvSpPr>
            <a:spLocks noGrp="1"/>
          </p:cNvSpPr>
          <p:nvPr>
            <p:ph type="dt" sz="half" idx="10"/>
          </p:nvPr>
        </p:nvSpPr>
        <p:spPr/>
        <p:txBody>
          <a:bodyPr/>
          <a:lstStyle/>
          <a:p>
            <a:fld id="{C43A76A3-ADC8-4477-8FC1-B9DD55D84908}" type="datetime1">
              <a:rPr lang="en-US" smtClean="0"/>
              <a:t>11/25/2024</a:t>
            </a:fld>
            <a:endParaRPr lang="en-US" dirty="0"/>
          </a:p>
        </p:txBody>
      </p:sp>
      <p:sp>
        <p:nvSpPr>
          <p:cNvPr id="5" name="Footer Placeholder 4">
            <a:extLst>
              <a:ext uri="{FF2B5EF4-FFF2-40B4-BE49-F238E27FC236}">
                <a16:creationId xmlns:a16="http://schemas.microsoft.com/office/drawing/2014/main" id="{6F5E17B6-E7FC-473A-8D5F-0E6B838EA7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4AF4E0-FDDB-42B9-862C-7BBC501CDAC5}"/>
              </a:ext>
            </a:extLst>
          </p:cNvPr>
          <p:cNvSpPr>
            <a:spLocks noGrp="1"/>
          </p:cNvSpPr>
          <p:nvPr>
            <p:ph type="sldNum" sz="quarter" idx="12"/>
          </p:nvPr>
        </p:nvSpPr>
        <p:spPr/>
        <p:txBody>
          <a:bodyPr/>
          <a:lstStyle/>
          <a:p>
            <a:fld id="{35747434-7036-48DB-A148-6B3D8EE75CDA}" type="slidenum">
              <a:rPr lang="en-US" smtClean="0"/>
              <a:t>‹#›</a:t>
            </a:fld>
            <a:endParaRPr lang="en-US" dirty="0"/>
          </a:p>
        </p:txBody>
      </p:sp>
    </p:spTree>
    <p:extLst>
      <p:ext uri="{BB962C8B-B14F-4D97-AF65-F5344CB8AC3E}">
        <p14:creationId xmlns:p14="http://schemas.microsoft.com/office/powerpoint/2010/main" val="9797365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736C8-0B4F-4655-A630-0B1D2540B7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78B888-85E0-4D92-903E-C3FE7E870D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648916-250B-4232-BD7D-571FDE79F5E7}"/>
              </a:ext>
            </a:extLst>
          </p:cNvPr>
          <p:cNvSpPr>
            <a:spLocks noGrp="1"/>
          </p:cNvSpPr>
          <p:nvPr>
            <p:ph type="dt" sz="half" idx="10"/>
          </p:nvPr>
        </p:nvSpPr>
        <p:spPr/>
        <p:txBody>
          <a:bodyPr/>
          <a:lstStyle/>
          <a:p>
            <a:fld id="{DE7F49BE-398D-479A-8A7E-5DDBCA61EDCB}" type="datetime1">
              <a:rPr lang="en-US" smtClean="0"/>
              <a:t>11/25/2024</a:t>
            </a:fld>
            <a:endParaRPr lang="en-US"/>
          </a:p>
        </p:txBody>
      </p:sp>
      <p:sp>
        <p:nvSpPr>
          <p:cNvPr id="5" name="Footer Placeholder 4">
            <a:extLst>
              <a:ext uri="{FF2B5EF4-FFF2-40B4-BE49-F238E27FC236}">
                <a16:creationId xmlns:a16="http://schemas.microsoft.com/office/drawing/2014/main" id="{B6A8BFB4-647C-4104-B6D4-3346051C36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0FA73F-2BE8-4370-AE90-58F4CE51FC51}"/>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913250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1446D-9FAC-4157-A41A-51675C8BE929}"/>
              </a:ext>
            </a:extLst>
          </p:cNvPr>
          <p:cNvSpPr>
            <a:spLocks noGrp="1"/>
          </p:cNvSpPr>
          <p:nvPr>
            <p:ph type="title"/>
          </p:nvPr>
        </p:nvSpPr>
        <p:spPr>
          <a:xfrm>
            <a:off x="777240" y="1709738"/>
            <a:ext cx="10570210" cy="2758895"/>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2AF8D4A-8F93-4399-9546-64F286400D24}"/>
              </a:ext>
            </a:extLst>
          </p:cNvPr>
          <p:cNvSpPr>
            <a:spLocks noGrp="1"/>
          </p:cNvSpPr>
          <p:nvPr>
            <p:ph type="body" idx="1"/>
          </p:nvPr>
        </p:nvSpPr>
        <p:spPr>
          <a:xfrm>
            <a:off x="777240" y="4589463"/>
            <a:ext cx="10570210" cy="1500187"/>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9C2FD4-BF96-470C-8247-20DFAE1CF870}"/>
              </a:ext>
            </a:extLst>
          </p:cNvPr>
          <p:cNvSpPr>
            <a:spLocks noGrp="1"/>
          </p:cNvSpPr>
          <p:nvPr>
            <p:ph type="dt" sz="half" idx="10"/>
          </p:nvPr>
        </p:nvSpPr>
        <p:spPr/>
        <p:txBody>
          <a:bodyPr/>
          <a:lstStyle/>
          <a:p>
            <a:fld id="{CCD0C193-4974-4A1F-9C63-07D595E30D66}" type="datetime1">
              <a:rPr lang="en-US" smtClean="0"/>
              <a:t>11/25/2024</a:t>
            </a:fld>
            <a:endParaRPr lang="en-US"/>
          </a:p>
        </p:txBody>
      </p:sp>
      <p:sp>
        <p:nvSpPr>
          <p:cNvPr id="5" name="Footer Placeholder 4">
            <a:extLst>
              <a:ext uri="{FF2B5EF4-FFF2-40B4-BE49-F238E27FC236}">
                <a16:creationId xmlns:a16="http://schemas.microsoft.com/office/drawing/2014/main" id="{27175A2D-86C4-4467-BAB8-E9ED004D2C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442A4D-D9B2-4C82-95E4-B86F9F5F3802}"/>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24203937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6B3AA-8C30-429E-B934-AF12204387B9}"/>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915834E-691F-4728-88F5-A0C4696695EB}"/>
              </a:ext>
            </a:extLst>
          </p:cNvPr>
          <p:cNvSpPr>
            <a:spLocks noGrp="1"/>
          </p:cNvSpPr>
          <p:nvPr>
            <p:ph sz="half" idx="1"/>
          </p:nvPr>
        </p:nvSpPr>
        <p:spPr>
          <a:xfrm>
            <a:off x="777240" y="1825625"/>
            <a:ext cx="524256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3876374-880F-4E25-9F88-79E3C1AB1F9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119BD69-B509-4FCE-95A8-ED03FFC8CC3C}"/>
              </a:ext>
            </a:extLst>
          </p:cNvPr>
          <p:cNvSpPr>
            <a:spLocks noGrp="1"/>
          </p:cNvSpPr>
          <p:nvPr>
            <p:ph type="dt" sz="half" idx="10"/>
          </p:nvPr>
        </p:nvSpPr>
        <p:spPr/>
        <p:txBody>
          <a:bodyPr/>
          <a:lstStyle/>
          <a:p>
            <a:fld id="{701AA87F-28D4-4BF0-B81F-877A89DFD5AC}" type="datetime1">
              <a:rPr lang="en-US" smtClean="0"/>
              <a:t>11/25/2024</a:t>
            </a:fld>
            <a:endParaRPr lang="en-US"/>
          </a:p>
        </p:txBody>
      </p:sp>
      <p:sp>
        <p:nvSpPr>
          <p:cNvPr id="6" name="Footer Placeholder 5">
            <a:extLst>
              <a:ext uri="{FF2B5EF4-FFF2-40B4-BE49-F238E27FC236}">
                <a16:creationId xmlns:a16="http://schemas.microsoft.com/office/drawing/2014/main" id="{DB7C287B-AE5B-490B-BF81-A50D7A2E87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3C2246-303C-4A29-B6EA-E62CEDE6C2A1}"/>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23849743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2FE79-D5BE-43E8-B6C5-2675B7F4D818}"/>
              </a:ext>
            </a:extLst>
          </p:cNvPr>
          <p:cNvSpPr>
            <a:spLocks noGrp="1"/>
          </p:cNvSpPr>
          <p:nvPr>
            <p:ph type="title"/>
          </p:nvPr>
        </p:nvSpPr>
        <p:spPr>
          <a:xfrm>
            <a:off x="777240" y="365125"/>
            <a:ext cx="10578148"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69D3A07-BA51-4113-902E-830A887D2394}"/>
              </a:ext>
            </a:extLst>
          </p:cNvPr>
          <p:cNvSpPr>
            <a:spLocks noGrp="1"/>
          </p:cNvSpPr>
          <p:nvPr>
            <p:ph type="body" idx="1"/>
          </p:nvPr>
        </p:nvSpPr>
        <p:spPr>
          <a:xfrm>
            <a:off x="777240" y="1801812"/>
            <a:ext cx="5220335" cy="9350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E320A9-E274-4E1B-B02D-9A3F510A1F22}"/>
              </a:ext>
            </a:extLst>
          </p:cNvPr>
          <p:cNvSpPr>
            <a:spLocks noGrp="1"/>
          </p:cNvSpPr>
          <p:nvPr>
            <p:ph sz="half" idx="2"/>
          </p:nvPr>
        </p:nvSpPr>
        <p:spPr>
          <a:xfrm>
            <a:off x="777240" y="2825749"/>
            <a:ext cx="5220335" cy="3363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DBE80D3A-C2A8-4B78-B7E2-4908C74B1C43}"/>
              </a:ext>
            </a:extLst>
          </p:cNvPr>
          <p:cNvSpPr>
            <a:spLocks noGrp="1"/>
          </p:cNvSpPr>
          <p:nvPr>
            <p:ph type="body" sz="quarter" idx="3"/>
          </p:nvPr>
        </p:nvSpPr>
        <p:spPr>
          <a:xfrm>
            <a:off x="6172200" y="1801812"/>
            <a:ext cx="5183188" cy="9350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C5D84DD-9460-4B08-86AD-27486A940047}"/>
              </a:ext>
            </a:extLst>
          </p:cNvPr>
          <p:cNvSpPr>
            <a:spLocks noGrp="1"/>
          </p:cNvSpPr>
          <p:nvPr>
            <p:ph sz="quarter" idx="4"/>
          </p:nvPr>
        </p:nvSpPr>
        <p:spPr>
          <a:xfrm>
            <a:off x="6172200" y="2825749"/>
            <a:ext cx="5183188" cy="3363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4B0B7F8-282C-4210-AE7D-F35228BAC803}"/>
              </a:ext>
            </a:extLst>
          </p:cNvPr>
          <p:cNvSpPr>
            <a:spLocks noGrp="1"/>
          </p:cNvSpPr>
          <p:nvPr>
            <p:ph type="dt" sz="half" idx="10"/>
          </p:nvPr>
        </p:nvSpPr>
        <p:spPr/>
        <p:txBody>
          <a:bodyPr/>
          <a:lstStyle/>
          <a:p>
            <a:fld id="{A8A9F1F3-208B-49A3-B337-9C8ACEB3E0E1}" type="datetime1">
              <a:rPr lang="en-US" smtClean="0"/>
              <a:t>11/25/2024</a:t>
            </a:fld>
            <a:endParaRPr lang="en-US"/>
          </a:p>
        </p:txBody>
      </p:sp>
      <p:sp>
        <p:nvSpPr>
          <p:cNvPr id="8" name="Footer Placeholder 7">
            <a:extLst>
              <a:ext uri="{FF2B5EF4-FFF2-40B4-BE49-F238E27FC236}">
                <a16:creationId xmlns:a16="http://schemas.microsoft.com/office/drawing/2014/main" id="{FAE343A9-1067-4DCF-BACC-1F7F3805022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F84E471-04DB-4DB5-8CC5-16B3FC88509D}"/>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3571625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D87C0-272E-4E50-A316-78079B2B923E}"/>
              </a:ext>
            </a:extLst>
          </p:cNvPr>
          <p:cNvSpPr>
            <a:spLocks noGrp="1"/>
          </p:cNvSpPr>
          <p:nvPr>
            <p:ph type="title"/>
          </p:nvPr>
        </p:nvSpPr>
        <p:spPr>
          <a:xfrm>
            <a:off x="777240" y="365125"/>
            <a:ext cx="10659110" cy="1325563"/>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F906C1C9-1F69-432A-858C-D828B56E1659}"/>
              </a:ext>
            </a:extLst>
          </p:cNvPr>
          <p:cNvSpPr>
            <a:spLocks noGrp="1"/>
          </p:cNvSpPr>
          <p:nvPr>
            <p:ph type="dt" sz="half" idx="10"/>
          </p:nvPr>
        </p:nvSpPr>
        <p:spPr/>
        <p:txBody>
          <a:bodyPr/>
          <a:lstStyle/>
          <a:p>
            <a:fld id="{27AF6CA6-7293-4AA2-A0E0-A3BF4416E786}" type="datetime1">
              <a:rPr lang="en-US" smtClean="0"/>
              <a:t>11/25/2024</a:t>
            </a:fld>
            <a:endParaRPr lang="en-US"/>
          </a:p>
        </p:txBody>
      </p:sp>
      <p:sp>
        <p:nvSpPr>
          <p:cNvPr id="4" name="Footer Placeholder 3">
            <a:extLst>
              <a:ext uri="{FF2B5EF4-FFF2-40B4-BE49-F238E27FC236}">
                <a16:creationId xmlns:a16="http://schemas.microsoft.com/office/drawing/2014/main" id="{BD6D9A1B-D149-4B97-B161-3D7C9ADBCF7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AB3722F-8C88-4E54-8CD6-12D31A05F813}"/>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6714442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E1B4EE-6DFC-45F3-9174-D913EB57CB9D}"/>
              </a:ext>
            </a:extLst>
          </p:cNvPr>
          <p:cNvSpPr>
            <a:spLocks noGrp="1"/>
          </p:cNvSpPr>
          <p:nvPr>
            <p:ph type="dt" sz="half" idx="10"/>
          </p:nvPr>
        </p:nvSpPr>
        <p:spPr/>
        <p:txBody>
          <a:bodyPr/>
          <a:lstStyle/>
          <a:p>
            <a:fld id="{98D87016-7BCD-46FB-8EE3-AB6C369108B4}" type="datetime1">
              <a:rPr lang="en-US" smtClean="0"/>
              <a:t>11/25/2024</a:t>
            </a:fld>
            <a:endParaRPr lang="en-US"/>
          </a:p>
        </p:txBody>
      </p:sp>
      <p:sp>
        <p:nvSpPr>
          <p:cNvPr id="3" name="Footer Placeholder 2">
            <a:extLst>
              <a:ext uri="{FF2B5EF4-FFF2-40B4-BE49-F238E27FC236}">
                <a16:creationId xmlns:a16="http://schemas.microsoft.com/office/drawing/2014/main" id="{0BF7F7DC-6DDE-4337-AD27-BBE7D542248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CC58EA9-3AC4-421E-B133-1FA7757DF8BA}"/>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6286791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035BB-74CC-43E9-B71F-A5C05D17EB78}"/>
              </a:ext>
            </a:extLst>
          </p:cNvPr>
          <p:cNvSpPr>
            <a:spLocks noGrp="1"/>
          </p:cNvSpPr>
          <p:nvPr>
            <p:ph type="title"/>
          </p:nvPr>
        </p:nvSpPr>
        <p:spPr>
          <a:xfrm>
            <a:off x="777240" y="457200"/>
            <a:ext cx="3994785" cy="2501900"/>
          </a:xfrm>
        </p:spPr>
        <p:txBody>
          <a:bodyPr anchor="b">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CAADC9E-7845-4DB1-87E3-6FBFB2B03B8A}"/>
              </a:ext>
            </a:extLst>
          </p:cNvPr>
          <p:cNvSpPr>
            <a:spLocks noGrp="1"/>
          </p:cNvSpPr>
          <p:nvPr>
            <p:ph idx="1"/>
          </p:nvPr>
        </p:nvSpPr>
        <p:spPr>
          <a:xfrm>
            <a:off x="5183188" y="457201"/>
            <a:ext cx="6172200" cy="540385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5C925A8-2A07-43B9-B549-061F3684986B}"/>
              </a:ext>
            </a:extLst>
          </p:cNvPr>
          <p:cNvSpPr>
            <a:spLocks noGrp="1"/>
          </p:cNvSpPr>
          <p:nvPr>
            <p:ph type="body" sz="half" idx="2"/>
          </p:nvPr>
        </p:nvSpPr>
        <p:spPr>
          <a:xfrm>
            <a:off x="777240" y="3092450"/>
            <a:ext cx="3994785" cy="2776537"/>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1A9037-0564-43A1-8156-1D9932E1F85F}"/>
              </a:ext>
            </a:extLst>
          </p:cNvPr>
          <p:cNvSpPr>
            <a:spLocks noGrp="1"/>
          </p:cNvSpPr>
          <p:nvPr>
            <p:ph type="dt" sz="half" idx="10"/>
          </p:nvPr>
        </p:nvSpPr>
        <p:spPr/>
        <p:txBody>
          <a:bodyPr/>
          <a:lstStyle/>
          <a:p>
            <a:fld id="{A1547011-1FFC-4EF8-9A2E-53B4AD2ADBD4}" type="datetime1">
              <a:rPr lang="en-US" smtClean="0"/>
              <a:t>11/25/2024</a:t>
            </a:fld>
            <a:endParaRPr lang="en-US"/>
          </a:p>
        </p:txBody>
      </p:sp>
      <p:sp>
        <p:nvSpPr>
          <p:cNvPr id="6" name="Footer Placeholder 5">
            <a:extLst>
              <a:ext uri="{FF2B5EF4-FFF2-40B4-BE49-F238E27FC236}">
                <a16:creationId xmlns:a16="http://schemas.microsoft.com/office/drawing/2014/main" id="{CBFF0D40-D0E1-49C9-BE47-91BBC50AB2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D129BD-890D-412E-9805-D29F4A0D3622}"/>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33257479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8ADB4-BA7B-42C2-9C6C-58B2763F8617}"/>
              </a:ext>
            </a:extLst>
          </p:cNvPr>
          <p:cNvSpPr>
            <a:spLocks noGrp="1"/>
          </p:cNvSpPr>
          <p:nvPr>
            <p:ph type="title"/>
          </p:nvPr>
        </p:nvSpPr>
        <p:spPr>
          <a:xfrm>
            <a:off x="777240" y="457200"/>
            <a:ext cx="3994785" cy="2505456"/>
          </a:xfrm>
        </p:spPr>
        <p:txBody>
          <a:bodyPr anchor="b"/>
          <a:lstStyle>
            <a:lvl1pPr>
              <a:defRPr sz="4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E9519B58-B546-4E6B-BE00-3D1D64DA8699}"/>
              </a:ext>
            </a:extLst>
          </p:cNvPr>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3FAA0AB8-41A9-4548-9B83-3EFF79A00793}"/>
              </a:ext>
            </a:extLst>
          </p:cNvPr>
          <p:cNvSpPr>
            <a:spLocks noGrp="1"/>
          </p:cNvSpPr>
          <p:nvPr>
            <p:ph type="body" sz="half" idx="2"/>
          </p:nvPr>
        </p:nvSpPr>
        <p:spPr>
          <a:xfrm>
            <a:off x="777240" y="3081275"/>
            <a:ext cx="3994785" cy="2779776"/>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BB33ED-A015-4992-A004-33D41CFFADA1}"/>
              </a:ext>
            </a:extLst>
          </p:cNvPr>
          <p:cNvSpPr>
            <a:spLocks noGrp="1"/>
          </p:cNvSpPr>
          <p:nvPr>
            <p:ph type="dt" sz="half" idx="10"/>
          </p:nvPr>
        </p:nvSpPr>
        <p:spPr/>
        <p:txBody>
          <a:bodyPr/>
          <a:lstStyle/>
          <a:p>
            <a:fld id="{9562EB47-45B4-4EF5-A743-B4885DD2F060}" type="datetime1">
              <a:rPr lang="en-US" smtClean="0"/>
              <a:t>11/25/2024</a:t>
            </a:fld>
            <a:endParaRPr lang="en-US"/>
          </a:p>
        </p:txBody>
      </p:sp>
      <p:sp>
        <p:nvSpPr>
          <p:cNvPr id="6" name="Footer Placeholder 5">
            <a:extLst>
              <a:ext uri="{FF2B5EF4-FFF2-40B4-BE49-F238E27FC236}">
                <a16:creationId xmlns:a16="http://schemas.microsoft.com/office/drawing/2014/main" id="{D3C29CDA-E85F-47D1-83B7-02A50DEBFD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49625F-5352-4136-8AC4-F8899D00A1A9}"/>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764116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E922F-6166-4009-A42D-027DC718071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F7791CF-167D-446D-9F99-6976C986E2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3CA422-E040-4DE1-9DA5-C8D37C116A7B}"/>
              </a:ext>
            </a:extLst>
          </p:cNvPr>
          <p:cNvSpPr>
            <a:spLocks noGrp="1"/>
          </p:cNvSpPr>
          <p:nvPr>
            <p:ph type="dt" sz="half" idx="10"/>
          </p:nvPr>
        </p:nvSpPr>
        <p:spPr/>
        <p:txBody>
          <a:bodyPr/>
          <a:lstStyle/>
          <a:p>
            <a:fld id="{D6762538-DC4D-4667-96E5-B3278DDF8B12}" type="datetime1">
              <a:rPr lang="en-US" smtClean="0"/>
              <a:t>11/25/2024</a:t>
            </a:fld>
            <a:endParaRPr lang="en-US"/>
          </a:p>
        </p:txBody>
      </p:sp>
      <p:sp>
        <p:nvSpPr>
          <p:cNvPr id="5" name="Footer Placeholder 4">
            <a:extLst>
              <a:ext uri="{FF2B5EF4-FFF2-40B4-BE49-F238E27FC236}">
                <a16:creationId xmlns:a16="http://schemas.microsoft.com/office/drawing/2014/main" id="{6C813B0B-60E7-494E-91CB-055BC26906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48C554-7C1B-4D8F-9B6B-04492656904B}"/>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41946669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EC66EF0-6ED8-49A7-BDAD-E20A143FAEA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0FCE9CD-90A9-44BA-B293-0662E077DD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57DAE0-05C4-460B-B96D-BD183ED030C4}"/>
              </a:ext>
            </a:extLst>
          </p:cNvPr>
          <p:cNvSpPr>
            <a:spLocks noGrp="1"/>
          </p:cNvSpPr>
          <p:nvPr>
            <p:ph type="dt" sz="half" idx="10"/>
          </p:nvPr>
        </p:nvSpPr>
        <p:spPr/>
        <p:txBody>
          <a:bodyPr/>
          <a:lstStyle/>
          <a:p>
            <a:fld id="{05880548-5C08-4BE3-B63E-F2BB63B0B00C}" type="datetime1">
              <a:rPr lang="en-US" smtClean="0"/>
              <a:t>11/25/2024</a:t>
            </a:fld>
            <a:endParaRPr lang="en-US"/>
          </a:p>
        </p:txBody>
      </p:sp>
      <p:sp>
        <p:nvSpPr>
          <p:cNvPr id="5" name="Footer Placeholder 4">
            <a:extLst>
              <a:ext uri="{FF2B5EF4-FFF2-40B4-BE49-F238E27FC236}">
                <a16:creationId xmlns:a16="http://schemas.microsoft.com/office/drawing/2014/main" id="{33B3CA93-55C9-4AA3-89A0-55490F745B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BFD820-FF26-4325-816F-310C30F80ACC}"/>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8364472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99B5B3C5-A599-465B-B2B9-866E8B2087CE}"/>
              </a:ext>
            </a:extLst>
          </p:cNvPr>
          <p:cNvSpPr/>
          <p:nvPr/>
        </p:nvSpPr>
        <p:spPr>
          <a:xfrm>
            <a:off x="-1" y="-1"/>
            <a:ext cx="12192001"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25C84982-7DD0-43B1-8A2D-BFA4DF1B4E60}"/>
              </a:ext>
            </a:extLst>
          </p:cNvPr>
          <p:cNvSpPr/>
          <p:nvPr/>
        </p:nvSpPr>
        <p:spPr>
          <a:xfrm>
            <a:off x="-1" y="-1"/>
            <a:ext cx="12192001" cy="68580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grpSp>
        <p:nvGrpSpPr>
          <p:cNvPr id="8" name="Decorative Circles">
            <a:extLst>
              <a:ext uri="{FF2B5EF4-FFF2-40B4-BE49-F238E27FC236}">
                <a16:creationId xmlns:a16="http://schemas.microsoft.com/office/drawing/2014/main" id="{1D912E1C-3BBA-42F0-A3EE-FEC382E7230A}"/>
              </a:ext>
            </a:extLst>
          </p:cNvPr>
          <p:cNvGrpSpPr/>
          <p:nvPr/>
        </p:nvGrpSpPr>
        <p:grpSpPr>
          <a:xfrm>
            <a:off x="-1" y="-1"/>
            <a:ext cx="12192001" cy="6858001"/>
            <a:chOff x="-1" y="-1"/>
            <a:chExt cx="12192001" cy="6858001"/>
          </a:xfrm>
        </p:grpSpPr>
        <p:sp>
          <p:nvSpPr>
            <p:cNvPr id="21" name="Oval 20">
              <a:extLst>
                <a:ext uri="{FF2B5EF4-FFF2-40B4-BE49-F238E27FC236}">
                  <a16:creationId xmlns:a16="http://schemas.microsoft.com/office/drawing/2014/main" id="{2FEEAC76-E273-46A8-8F8E-CE59860FE70D}"/>
                </a:ext>
              </a:extLst>
            </p:cNvPr>
            <p:cNvSpPr/>
            <p:nvPr/>
          </p:nvSpPr>
          <p:spPr>
            <a:xfrm>
              <a:off x="209098" y="727602"/>
              <a:ext cx="172408" cy="172408"/>
            </a:xfrm>
            <a:prstGeom prst="ellipse">
              <a:avLst/>
            </a:prstGeom>
            <a:solidFill>
              <a:schemeClr val="accent2">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76594A0E-9400-45AD-A431-1DA1C0B28966}"/>
                </a:ext>
              </a:extLst>
            </p:cNvPr>
            <p:cNvSpPr/>
            <p:nvPr/>
          </p:nvSpPr>
          <p:spPr>
            <a:xfrm>
              <a:off x="949947" y="136523"/>
              <a:ext cx="113367" cy="113367"/>
            </a:xfrm>
            <a:prstGeom prst="ellipse">
              <a:avLst/>
            </a:prstGeom>
            <a:solidFill>
              <a:srgbClr val="F39E29">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20916D6C-D32F-42B6-8512-CD5EDB8F2B9B}"/>
                </a:ext>
              </a:extLst>
            </p:cNvPr>
            <p:cNvSpPr/>
            <p:nvPr/>
          </p:nvSpPr>
          <p:spPr>
            <a:xfrm>
              <a:off x="11575290" y="5859047"/>
              <a:ext cx="305780" cy="305780"/>
            </a:xfrm>
            <a:prstGeom prst="ellipse">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3834846D-59C6-40F4-907C-F1A4689B58F1}"/>
                </a:ext>
              </a:extLst>
            </p:cNvPr>
            <p:cNvSpPr/>
            <p:nvPr/>
          </p:nvSpPr>
          <p:spPr>
            <a:xfrm>
              <a:off x="95730" y="1133938"/>
              <a:ext cx="226735" cy="226735"/>
            </a:xfrm>
            <a:prstGeom prst="ellipse">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5A257CDF-2E36-4DC7-8EE4-5CD8F8ECAC87}"/>
                </a:ext>
              </a:extLst>
            </p:cNvPr>
            <p:cNvSpPr/>
            <p:nvPr/>
          </p:nvSpPr>
          <p:spPr>
            <a:xfrm>
              <a:off x="11536830" y="554419"/>
              <a:ext cx="382700" cy="382700"/>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Oval 47">
              <a:extLst>
                <a:ext uri="{FF2B5EF4-FFF2-40B4-BE49-F238E27FC236}">
                  <a16:creationId xmlns:a16="http://schemas.microsoft.com/office/drawing/2014/main" id="{D5B26E0E-A115-4AE2-82D8-76BB93CC494F}"/>
                </a:ext>
              </a:extLst>
            </p:cNvPr>
            <p:cNvSpPr/>
            <p:nvPr/>
          </p:nvSpPr>
          <p:spPr>
            <a:xfrm>
              <a:off x="11224303" y="299808"/>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755058DB-7E01-4E95-BF59-983AA1BBB38E}"/>
                </a:ext>
              </a:extLst>
            </p:cNvPr>
            <p:cNvSpPr/>
            <p:nvPr/>
          </p:nvSpPr>
          <p:spPr>
            <a:xfrm>
              <a:off x="11629630" y="5482355"/>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A810F7E2-23F3-44D6-B09E-71E556536052}"/>
                </a:ext>
              </a:extLst>
            </p:cNvPr>
            <p:cNvSpPr/>
            <p:nvPr/>
          </p:nvSpPr>
          <p:spPr>
            <a:xfrm>
              <a:off x="10415328" y="612495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59D5C391-E1DB-410A-A78C-ED3BBDFF0758}"/>
                </a:ext>
              </a:extLst>
            </p:cNvPr>
            <p:cNvSpPr/>
            <p:nvPr/>
          </p:nvSpPr>
          <p:spPr>
            <a:xfrm>
              <a:off x="10120382" y="6255986"/>
              <a:ext cx="305780" cy="30578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Oval 52">
              <a:extLst>
                <a:ext uri="{FF2B5EF4-FFF2-40B4-BE49-F238E27FC236}">
                  <a16:creationId xmlns:a16="http://schemas.microsoft.com/office/drawing/2014/main" id="{77C4944D-9373-4283-BCAA-927A0316659E}"/>
                </a:ext>
              </a:extLst>
            </p:cNvPr>
            <p:cNvSpPr/>
            <p:nvPr/>
          </p:nvSpPr>
          <p:spPr>
            <a:xfrm>
              <a:off x="9934343" y="6204350"/>
              <a:ext cx="113367" cy="11336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Shape 53">
              <a:extLst>
                <a:ext uri="{FF2B5EF4-FFF2-40B4-BE49-F238E27FC236}">
                  <a16:creationId xmlns:a16="http://schemas.microsoft.com/office/drawing/2014/main" id="{6804C521-2D9F-4CE4-AFD3-D4F1551FEC6A}"/>
                </a:ext>
              </a:extLst>
            </p:cNvPr>
            <p:cNvSpPr/>
            <p:nvPr/>
          </p:nvSpPr>
          <p:spPr>
            <a:xfrm>
              <a:off x="11642244" y="6317718"/>
              <a:ext cx="549756" cy="540282"/>
            </a:xfrm>
            <a:custGeom>
              <a:avLst/>
              <a:gdLst>
                <a:gd name="connsiteX0" fmla="*/ 1224540 w 2115556"/>
                <a:gd name="connsiteY0" fmla="*/ 0 h 2079100"/>
                <a:gd name="connsiteX1" fmla="*/ 2090421 w 2115556"/>
                <a:gd name="connsiteY1" fmla="*/ 358660 h 2079100"/>
                <a:gd name="connsiteX2" fmla="*/ 2115556 w 2115556"/>
                <a:gd name="connsiteY2" fmla="*/ 386315 h 2079100"/>
                <a:gd name="connsiteX3" fmla="*/ 2115556 w 2115556"/>
                <a:gd name="connsiteY3" fmla="*/ 2062765 h 2079100"/>
                <a:gd name="connsiteX4" fmla="*/ 2100710 w 2115556"/>
                <a:gd name="connsiteY4" fmla="*/ 2079100 h 2079100"/>
                <a:gd name="connsiteX5" fmla="*/ 348370 w 2115556"/>
                <a:gd name="connsiteY5" fmla="*/ 2079100 h 2079100"/>
                <a:gd name="connsiteX6" fmla="*/ 279625 w 2115556"/>
                <a:gd name="connsiteY6" fmla="*/ 2003461 h 2079100"/>
                <a:gd name="connsiteX7" fmla="*/ 0 w 2115556"/>
                <a:gd name="connsiteY7" fmla="*/ 1224540 h 2079100"/>
                <a:gd name="connsiteX8" fmla="*/ 1224540 w 2115556"/>
                <a:gd name="connsiteY8" fmla="*/ 0 h 207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5556" h="2079100">
                  <a:moveTo>
                    <a:pt x="1224540" y="0"/>
                  </a:moveTo>
                  <a:cubicBezTo>
                    <a:pt x="1562687" y="0"/>
                    <a:pt x="1868823" y="137062"/>
                    <a:pt x="2090421" y="358660"/>
                  </a:cubicBezTo>
                  <a:lnTo>
                    <a:pt x="2115556" y="386315"/>
                  </a:lnTo>
                  <a:lnTo>
                    <a:pt x="2115556" y="2062765"/>
                  </a:lnTo>
                  <a:lnTo>
                    <a:pt x="2100710" y="2079100"/>
                  </a:lnTo>
                  <a:lnTo>
                    <a:pt x="348370" y="2079100"/>
                  </a:lnTo>
                  <a:lnTo>
                    <a:pt x="279625" y="2003461"/>
                  </a:lnTo>
                  <a:cubicBezTo>
                    <a:pt x="104938" y="1791789"/>
                    <a:pt x="0" y="1520419"/>
                    <a:pt x="0" y="1224540"/>
                  </a:cubicBezTo>
                  <a:cubicBezTo>
                    <a:pt x="0" y="548245"/>
                    <a:pt x="548245" y="0"/>
                    <a:pt x="1224540" y="0"/>
                  </a:cubicBez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56" name="Freeform: Shape 55">
              <a:extLst>
                <a:ext uri="{FF2B5EF4-FFF2-40B4-BE49-F238E27FC236}">
                  <a16:creationId xmlns:a16="http://schemas.microsoft.com/office/drawing/2014/main" id="{755AC65C-13EF-4182-AA3C-62BE165CC033}"/>
                </a:ext>
              </a:extLst>
            </p:cNvPr>
            <p:cNvSpPr/>
            <p:nvPr/>
          </p:nvSpPr>
          <p:spPr>
            <a:xfrm>
              <a:off x="-1" y="-1"/>
              <a:ext cx="510196" cy="538336"/>
            </a:xfrm>
            <a:custGeom>
              <a:avLst/>
              <a:gdLst>
                <a:gd name="connsiteX0" fmla="*/ 0 w 510196"/>
                <a:gd name="connsiteY0" fmla="*/ 0 h 538336"/>
                <a:gd name="connsiteX1" fmla="*/ 459276 w 510196"/>
                <a:gd name="connsiteY1" fmla="*/ 0 h 538336"/>
                <a:gd name="connsiteX2" fmla="*/ 482126 w 510196"/>
                <a:gd name="connsiteY2" fmla="*/ 42098 h 538336"/>
                <a:gd name="connsiteX3" fmla="*/ 510196 w 510196"/>
                <a:gd name="connsiteY3" fmla="*/ 181136 h 538336"/>
                <a:gd name="connsiteX4" fmla="*/ 152996 w 510196"/>
                <a:gd name="connsiteY4" fmla="*/ 538336 h 538336"/>
                <a:gd name="connsiteX5" fmla="*/ 13958 w 510196"/>
                <a:gd name="connsiteY5" fmla="*/ 510266 h 538336"/>
                <a:gd name="connsiteX6" fmla="*/ 0 w 510196"/>
                <a:gd name="connsiteY6" fmla="*/ 502690 h 538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0196" h="538336">
                  <a:moveTo>
                    <a:pt x="0" y="0"/>
                  </a:moveTo>
                  <a:lnTo>
                    <a:pt x="459276" y="0"/>
                  </a:lnTo>
                  <a:lnTo>
                    <a:pt x="482126" y="42098"/>
                  </a:lnTo>
                  <a:cubicBezTo>
                    <a:pt x="500201" y="84833"/>
                    <a:pt x="510196" y="131817"/>
                    <a:pt x="510196" y="181136"/>
                  </a:cubicBezTo>
                  <a:cubicBezTo>
                    <a:pt x="510196" y="378412"/>
                    <a:pt x="350272" y="538336"/>
                    <a:pt x="152996" y="538336"/>
                  </a:cubicBezTo>
                  <a:cubicBezTo>
                    <a:pt x="103677" y="538336"/>
                    <a:pt x="56693" y="528341"/>
                    <a:pt x="13958" y="510266"/>
                  </a:cubicBezTo>
                  <a:lnTo>
                    <a:pt x="0" y="50269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58" name="Freeform: Shape 57">
              <a:extLst>
                <a:ext uri="{FF2B5EF4-FFF2-40B4-BE49-F238E27FC236}">
                  <a16:creationId xmlns:a16="http://schemas.microsoft.com/office/drawing/2014/main" id="{E40DA8D2-FA4B-4282-9D44-48C27B63A153}"/>
                </a:ext>
              </a:extLst>
            </p:cNvPr>
            <p:cNvSpPr/>
            <p:nvPr/>
          </p:nvSpPr>
          <p:spPr>
            <a:xfrm>
              <a:off x="10528695" y="1"/>
              <a:ext cx="554074" cy="282754"/>
            </a:xfrm>
            <a:custGeom>
              <a:avLst/>
              <a:gdLst>
                <a:gd name="connsiteX0" fmla="*/ 644 w 309162"/>
                <a:gd name="connsiteY0" fmla="*/ 0 h 157771"/>
                <a:gd name="connsiteX1" fmla="*/ 308518 w 309162"/>
                <a:gd name="connsiteY1" fmla="*/ 0 h 157771"/>
                <a:gd name="connsiteX2" fmla="*/ 309162 w 309162"/>
                <a:gd name="connsiteY2" fmla="*/ 3190 h 157771"/>
                <a:gd name="connsiteX3" fmla="*/ 154581 w 309162"/>
                <a:gd name="connsiteY3" fmla="*/ 157771 h 157771"/>
                <a:gd name="connsiteX4" fmla="*/ 0 w 309162"/>
                <a:gd name="connsiteY4" fmla="*/ 3190 h 157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162" h="157771">
                  <a:moveTo>
                    <a:pt x="644" y="0"/>
                  </a:moveTo>
                  <a:lnTo>
                    <a:pt x="308518" y="0"/>
                  </a:lnTo>
                  <a:lnTo>
                    <a:pt x="309162" y="3190"/>
                  </a:lnTo>
                  <a:cubicBezTo>
                    <a:pt x="309162" y="88563"/>
                    <a:pt x="239954" y="157771"/>
                    <a:pt x="154581" y="157771"/>
                  </a:cubicBezTo>
                  <a:cubicBezTo>
                    <a:pt x="69208" y="157771"/>
                    <a:pt x="0" y="88563"/>
                    <a:pt x="0" y="3190"/>
                  </a:cubicBez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10" name="Oval 9">
              <a:extLst>
                <a:ext uri="{FF2B5EF4-FFF2-40B4-BE49-F238E27FC236}">
                  <a16:creationId xmlns:a16="http://schemas.microsoft.com/office/drawing/2014/main" id="{99065014-CB18-414D-A527-31ECC45700AB}"/>
                </a:ext>
              </a:extLst>
            </p:cNvPr>
            <p:cNvSpPr/>
            <p:nvPr/>
          </p:nvSpPr>
          <p:spPr>
            <a:xfrm>
              <a:off x="504140" y="1132500"/>
              <a:ext cx="84680" cy="8468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1" name="Freeform: Shape 60">
              <a:extLst>
                <a:ext uri="{FF2B5EF4-FFF2-40B4-BE49-F238E27FC236}">
                  <a16:creationId xmlns:a16="http://schemas.microsoft.com/office/drawing/2014/main" id="{8F39E27A-56C1-4328-8DF1-2DA147C78483}"/>
                </a:ext>
              </a:extLst>
            </p:cNvPr>
            <p:cNvSpPr/>
            <p:nvPr/>
          </p:nvSpPr>
          <p:spPr>
            <a:xfrm>
              <a:off x="12051348" y="5576515"/>
              <a:ext cx="137603" cy="210490"/>
            </a:xfrm>
            <a:custGeom>
              <a:avLst/>
              <a:gdLst>
                <a:gd name="connsiteX0" fmla="*/ 105245 w 137603"/>
                <a:gd name="connsiteY0" fmla="*/ 0 h 210490"/>
                <a:gd name="connsiteX1" fmla="*/ 137603 w 137603"/>
                <a:gd name="connsiteY1" fmla="*/ 6533 h 210490"/>
                <a:gd name="connsiteX2" fmla="*/ 137603 w 137603"/>
                <a:gd name="connsiteY2" fmla="*/ 203957 h 210490"/>
                <a:gd name="connsiteX3" fmla="*/ 105245 w 137603"/>
                <a:gd name="connsiteY3" fmla="*/ 210490 h 210490"/>
                <a:gd name="connsiteX4" fmla="*/ 0 w 137603"/>
                <a:gd name="connsiteY4" fmla="*/ 105245 h 210490"/>
                <a:gd name="connsiteX5" fmla="*/ 105245 w 137603"/>
                <a:gd name="connsiteY5" fmla="*/ 0 h 210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603" h="210490">
                  <a:moveTo>
                    <a:pt x="105245" y="0"/>
                  </a:moveTo>
                  <a:lnTo>
                    <a:pt x="137603" y="6533"/>
                  </a:lnTo>
                  <a:lnTo>
                    <a:pt x="137603" y="203957"/>
                  </a:lnTo>
                  <a:lnTo>
                    <a:pt x="105245" y="210490"/>
                  </a:lnTo>
                  <a:cubicBezTo>
                    <a:pt x="47120" y="210490"/>
                    <a:pt x="0" y="163370"/>
                    <a:pt x="0" y="105245"/>
                  </a:cubicBezTo>
                  <a:cubicBezTo>
                    <a:pt x="0" y="47120"/>
                    <a:pt x="47120" y="0"/>
                    <a:pt x="105245"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grpSp>
      <p:sp>
        <p:nvSpPr>
          <p:cNvPr id="4" name="Date Placeholder 3">
            <a:extLst>
              <a:ext uri="{FF2B5EF4-FFF2-40B4-BE49-F238E27FC236}">
                <a16:creationId xmlns:a16="http://schemas.microsoft.com/office/drawing/2014/main" id="{442C5EC6-E331-4312-AC12-56D55F7D2B15}"/>
              </a:ext>
            </a:extLst>
          </p:cNvPr>
          <p:cNvSpPr>
            <a:spLocks noGrp="1"/>
          </p:cNvSpPr>
          <p:nvPr>
            <p:ph type="dt" sz="half" idx="2"/>
          </p:nvPr>
        </p:nvSpPr>
        <p:spPr>
          <a:xfrm>
            <a:off x="777240" y="6488268"/>
            <a:ext cx="2743200" cy="233209"/>
          </a:xfrm>
          <a:prstGeom prst="rect">
            <a:avLst/>
          </a:prstGeom>
        </p:spPr>
        <p:txBody>
          <a:bodyPr vert="horz" lIns="91440" tIns="45720" rIns="91440" bIns="45720" rtlCol="0" anchor="ctr"/>
          <a:lstStyle>
            <a:lvl1pPr algn="l">
              <a:defRPr sz="1000">
                <a:solidFill>
                  <a:schemeClr val="tx1">
                    <a:tint val="75000"/>
                  </a:schemeClr>
                </a:solidFill>
              </a:defRPr>
            </a:lvl1pPr>
          </a:lstStyle>
          <a:p>
            <a:fld id="{4A8D24A4-5FEC-4062-8995-EB21925B3B40}" type="datetime1">
              <a:rPr lang="en-US" smtClean="0"/>
              <a:t>11/25/2024</a:t>
            </a:fld>
            <a:endParaRPr lang="en-US" sz="1000" dirty="0"/>
          </a:p>
        </p:txBody>
      </p:sp>
      <p:sp>
        <p:nvSpPr>
          <p:cNvPr id="5" name="Footer Placeholder 4">
            <a:extLst>
              <a:ext uri="{FF2B5EF4-FFF2-40B4-BE49-F238E27FC236}">
                <a16:creationId xmlns:a16="http://schemas.microsoft.com/office/drawing/2014/main" id="{3337FC5D-92B2-4B4D-8111-6EDEF280692A}"/>
              </a:ext>
            </a:extLst>
          </p:cNvPr>
          <p:cNvSpPr>
            <a:spLocks noGrp="1"/>
          </p:cNvSpPr>
          <p:nvPr>
            <p:ph type="ftr" sz="quarter" idx="3"/>
          </p:nvPr>
        </p:nvSpPr>
        <p:spPr>
          <a:xfrm>
            <a:off x="4038600" y="6488268"/>
            <a:ext cx="4114800" cy="233209"/>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sz="1000"/>
          </a:p>
        </p:txBody>
      </p:sp>
      <p:sp>
        <p:nvSpPr>
          <p:cNvPr id="6" name="Slide Number Placeholder 5">
            <a:extLst>
              <a:ext uri="{FF2B5EF4-FFF2-40B4-BE49-F238E27FC236}">
                <a16:creationId xmlns:a16="http://schemas.microsoft.com/office/drawing/2014/main" id="{723A104D-C777-4A6E-8A43-F94028E5E311}"/>
              </a:ext>
            </a:extLst>
          </p:cNvPr>
          <p:cNvSpPr>
            <a:spLocks noGrp="1"/>
          </p:cNvSpPr>
          <p:nvPr>
            <p:ph type="sldNum" sz="quarter" idx="4"/>
          </p:nvPr>
        </p:nvSpPr>
        <p:spPr>
          <a:xfrm>
            <a:off x="8693150" y="6488268"/>
            <a:ext cx="2743200" cy="233209"/>
          </a:xfrm>
          <a:prstGeom prst="rect">
            <a:avLst/>
          </a:prstGeom>
        </p:spPr>
        <p:txBody>
          <a:bodyPr vert="horz" lIns="91440" tIns="45720" rIns="91440" bIns="45720" rtlCol="0" anchor="ctr"/>
          <a:lstStyle>
            <a:lvl1pPr algn="r">
              <a:defRPr sz="1000">
                <a:solidFill>
                  <a:schemeClr val="tx1">
                    <a:tint val="75000"/>
                  </a:schemeClr>
                </a:solidFill>
              </a:defRPr>
            </a:lvl1pPr>
          </a:lstStyle>
          <a:p>
            <a:fld id="{35747434-7036-48DB-A148-6B3D8EE75CDA}" type="slidenum">
              <a:rPr lang="en-US" smtClean="0"/>
              <a:pPr/>
              <a:t>‹#›</a:t>
            </a:fld>
            <a:endParaRPr lang="en-US" sz="1000" dirty="0"/>
          </a:p>
        </p:txBody>
      </p:sp>
      <p:sp>
        <p:nvSpPr>
          <p:cNvPr id="2" name="Title Placeholder 1">
            <a:extLst>
              <a:ext uri="{FF2B5EF4-FFF2-40B4-BE49-F238E27FC236}">
                <a16:creationId xmlns:a16="http://schemas.microsoft.com/office/drawing/2014/main" id="{12D3A74F-6169-4D30-A245-B46D738BEA81}"/>
              </a:ext>
            </a:extLst>
          </p:cNvPr>
          <p:cNvSpPr>
            <a:spLocks noGrp="1"/>
          </p:cNvSpPr>
          <p:nvPr>
            <p:ph type="title"/>
          </p:nvPr>
        </p:nvSpPr>
        <p:spPr>
          <a:xfrm>
            <a:off x="777240" y="365125"/>
            <a:ext cx="1065911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3877E64-7A05-44DA-81FA-6EF4806BBF0E}"/>
              </a:ext>
            </a:extLst>
          </p:cNvPr>
          <p:cNvSpPr>
            <a:spLocks noGrp="1"/>
          </p:cNvSpPr>
          <p:nvPr>
            <p:ph type="body" idx="1"/>
          </p:nvPr>
        </p:nvSpPr>
        <p:spPr>
          <a:xfrm>
            <a:off x="777240" y="1825625"/>
            <a:ext cx="1065911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88797764"/>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Lst>
  <p:hf sldNum="0" hdr="0" ftr="0" dt="0"/>
  <p:txStyles>
    <p:titleStyle>
      <a:lvl1pPr algn="l" defTabSz="914400" rtl="0" eaLnBrk="1" latinLnBrk="0" hangingPunct="1">
        <a:lnSpc>
          <a:spcPct val="90000"/>
        </a:lnSpc>
        <a:spcBef>
          <a:spcPct val="0"/>
        </a:spcBef>
        <a:buNone/>
        <a:defRPr sz="5400"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tx2">
            <a:lumMod val="75000"/>
            <a:lumOff val="25000"/>
          </a:schemeClr>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jpg"/><Relationship Id="rId5" Type="http://schemas.openxmlformats.org/officeDocument/2006/relationships/image" Target="../media/image6.sv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g"/><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9.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hyperlink" Target="ue_bs_custom_icon_map.html"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33E0473-C315-42D8-A82A-A2FE49DC67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D23A251-68F2-43E5-812B-4BBAE1AF53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schemeClr val="bg1"/>
              </a:solidFill>
              <a:latin typeface="+mj-lt"/>
            </a:endParaRPr>
          </a:p>
        </p:txBody>
      </p:sp>
      <p:pic>
        <p:nvPicPr>
          <p:cNvPr id="30" name="Picture 29" descr="A close-up of a wave&#10;&#10;Description automatically generated">
            <a:extLst>
              <a:ext uri="{FF2B5EF4-FFF2-40B4-BE49-F238E27FC236}">
                <a16:creationId xmlns:a16="http://schemas.microsoft.com/office/drawing/2014/main" id="{A45E4D2F-306F-F5CA-D01F-5390B07035EC}"/>
              </a:ext>
            </a:extLst>
          </p:cNvPr>
          <p:cNvPicPr>
            <a:picLocks noChangeAspect="1"/>
          </p:cNvPicPr>
          <p:nvPr/>
        </p:nvPicPr>
        <p:blipFill>
          <a:blip r:embed="rId2">
            <a:alphaModFix amt="40000"/>
          </a:blip>
          <a:srcRect t="12769" r="-1" b="-1"/>
          <a:stretch/>
        </p:blipFill>
        <p:spPr>
          <a:xfrm>
            <a:off x="1525" y="10"/>
            <a:ext cx="12188951" cy="6857990"/>
          </a:xfrm>
          <a:prstGeom prst="rect">
            <a:avLst/>
          </a:prstGeom>
        </p:spPr>
      </p:pic>
      <p:grpSp>
        <p:nvGrpSpPr>
          <p:cNvPr id="31" name="decorative circle">
            <a:extLst>
              <a:ext uri="{FF2B5EF4-FFF2-40B4-BE49-F238E27FC236}">
                <a16:creationId xmlns:a16="http://schemas.microsoft.com/office/drawing/2014/main" id="{0350AF23-2606-421F-AB7B-23D9B48F3E9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4102" y="236341"/>
            <a:ext cx="11340713" cy="5464029"/>
            <a:chOff x="314102" y="236341"/>
            <a:chExt cx="11340713" cy="5464029"/>
          </a:xfrm>
        </p:grpSpPr>
        <p:sp>
          <p:nvSpPr>
            <p:cNvPr id="32" name="Oval 31">
              <a:extLst>
                <a:ext uri="{FF2B5EF4-FFF2-40B4-BE49-F238E27FC236}">
                  <a16:creationId xmlns:a16="http://schemas.microsoft.com/office/drawing/2014/main" id="{526A544A-3C76-4502-A741-F4DB0E2CD2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0448" y="3803994"/>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017B8593-D171-47B5-8D1A-E34E7B1384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4102" y="3044381"/>
              <a:ext cx="226735" cy="226735"/>
            </a:xfrm>
            <a:prstGeom prst="ellipse">
              <a:avLst/>
            </a:prstGeom>
            <a:solidFill>
              <a:schemeClr val="tx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1FEF60D4-64F6-450F-B86D-383EEA1C84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88374" y="386135"/>
              <a:ext cx="466441" cy="466441"/>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A97D4A7C-B520-46CB-9A94-711F53997B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65714" y="236341"/>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2B7B976F-E84B-4936-90D7-C8298A5E7B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1535" y="2516671"/>
              <a:ext cx="466441" cy="46644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DC91FFEC-59DF-4D22-A925-F51520769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30142" y="458803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58931E95-0847-47E4-8AEC-312312A032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02046" y="5394590"/>
              <a:ext cx="305780" cy="30578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3C094915-EF93-49A0-9B90-C44FB9B500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08287" y="5160714"/>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34ADC900-AC5E-8113-81EA-5559C122DC83}"/>
              </a:ext>
            </a:extLst>
          </p:cNvPr>
          <p:cNvSpPr>
            <a:spLocks noGrp="1"/>
          </p:cNvSpPr>
          <p:nvPr>
            <p:ph type="ctrTitle"/>
          </p:nvPr>
        </p:nvSpPr>
        <p:spPr>
          <a:xfrm>
            <a:off x="2562605" y="1556091"/>
            <a:ext cx="7063739" cy="2387600"/>
          </a:xfrm>
        </p:spPr>
        <p:txBody>
          <a:bodyPr>
            <a:normAutofit/>
          </a:bodyPr>
          <a:lstStyle/>
          <a:p>
            <a:r>
              <a:rPr lang="el-GR" dirty="0">
                <a:solidFill>
                  <a:srgbClr val="FFFFFF"/>
                </a:solidFill>
              </a:rPr>
              <a:t>Προσομοίωση Εναλλαγής Κυττάρων σε Δίκτυο 4G</a:t>
            </a:r>
          </a:p>
        </p:txBody>
      </p:sp>
      <p:sp>
        <p:nvSpPr>
          <p:cNvPr id="3" name="TextBox 2">
            <a:extLst>
              <a:ext uri="{FF2B5EF4-FFF2-40B4-BE49-F238E27FC236}">
                <a16:creationId xmlns:a16="http://schemas.microsoft.com/office/drawing/2014/main" id="{A5445C9A-656C-4B93-6FFD-5D2BF87A44A9}"/>
              </a:ext>
            </a:extLst>
          </p:cNvPr>
          <p:cNvSpPr txBox="1"/>
          <p:nvPr/>
        </p:nvSpPr>
        <p:spPr>
          <a:xfrm>
            <a:off x="1793009" y="5160712"/>
            <a:ext cx="3390416" cy="646331"/>
          </a:xfrm>
          <a:prstGeom prst="rect">
            <a:avLst/>
          </a:prstGeom>
          <a:noFill/>
        </p:spPr>
        <p:txBody>
          <a:bodyPr wrap="none" rtlCol="0">
            <a:spAutoFit/>
          </a:bodyPr>
          <a:lstStyle/>
          <a:p>
            <a:pPr algn="ctr"/>
            <a:r>
              <a:rPr lang="el-GR" b="1" dirty="0">
                <a:solidFill>
                  <a:schemeClr val="bg1"/>
                </a:solidFill>
              </a:rPr>
              <a:t>Φίλιππος-Παρασκευάς Ζυγούρης</a:t>
            </a:r>
          </a:p>
          <a:p>
            <a:pPr algn="ctr"/>
            <a:r>
              <a:rPr lang="el-GR" b="1" dirty="0">
                <a:solidFill>
                  <a:schemeClr val="bg1"/>
                </a:solidFill>
              </a:rPr>
              <a:t>ΑΜ</a:t>
            </a:r>
            <a:r>
              <a:rPr lang="en-GB" b="1" dirty="0">
                <a:solidFill>
                  <a:schemeClr val="bg1"/>
                </a:solidFill>
              </a:rPr>
              <a:t>: 1084660 </a:t>
            </a:r>
            <a:endParaRPr lang="el-GR" b="1" dirty="0">
              <a:solidFill>
                <a:schemeClr val="bg1"/>
              </a:solidFill>
            </a:endParaRPr>
          </a:p>
        </p:txBody>
      </p:sp>
      <p:sp>
        <p:nvSpPr>
          <p:cNvPr id="4" name="TextBox 3">
            <a:extLst>
              <a:ext uri="{FF2B5EF4-FFF2-40B4-BE49-F238E27FC236}">
                <a16:creationId xmlns:a16="http://schemas.microsoft.com/office/drawing/2014/main" id="{512FF289-7ED6-6F10-5143-163955E56465}"/>
              </a:ext>
            </a:extLst>
          </p:cNvPr>
          <p:cNvSpPr txBox="1"/>
          <p:nvPr/>
        </p:nvSpPr>
        <p:spPr>
          <a:xfrm>
            <a:off x="7486054" y="5160712"/>
            <a:ext cx="2071594" cy="646331"/>
          </a:xfrm>
          <a:prstGeom prst="rect">
            <a:avLst/>
          </a:prstGeom>
          <a:noFill/>
        </p:spPr>
        <p:txBody>
          <a:bodyPr wrap="none" rtlCol="0">
            <a:spAutoFit/>
          </a:bodyPr>
          <a:lstStyle/>
          <a:p>
            <a:pPr algn="ctr"/>
            <a:r>
              <a:rPr lang="el-GR" b="1" dirty="0">
                <a:solidFill>
                  <a:schemeClr val="bg1"/>
                </a:solidFill>
              </a:rPr>
              <a:t>Βασίλειος </a:t>
            </a:r>
            <a:r>
              <a:rPr lang="el-GR" b="1" dirty="0" err="1">
                <a:solidFill>
                  <a:schemeClr val="bg1"/>
                </a:solidFill>
              </a:rPr>
              <a:t>Καζολιάς</a:t>
            </a:r>
            <a:endParaRPr lang="el-GR" b="1" dirty="0">
              <a:solidFill>
                <a:schemeClr val="bg1"/>
              </a:solidFill>
            </a:endParaRPr>
          </a:p>
          <a:p>
            <a:pPr algn="ctr"/>
            <a:r>
              <a:rPr lang="el-GR" b="1" dirty="0">
                <a:solidFill>
                  <a:schemeClr val="bg1"/>
                </a:solidFill>
              </a:rPr>
              <a:t>ΑΜ</a:t>
            </a:r>
            <a:r>
              <a:rPr lang="en-GB" b="1" dirty="0">
                <a:solidFill>
                  <a:schemeClr val="bg1"/>
                </a:solidFill>
              </a:rPr>
              <a:t>: 1072610</a:t>
            </a:r>
            <a:endParaRPr lang="el-GR" b="1" dirty="0">
              <a:solidFill>
                <a:schemeClr val="bg1"/>
              </a:solidFill>
            </a:endParaRPr>
          </a:p>
        </p:txBody>
      </p:sp>
    </p:spTree>
    <p:extLst>
      <p:ext uri="{BB962C8B-B14F-4D97-AF65-F5344CB8AC3E}">
        <p14:creationId xmlns:p14="http://schemas.microsoft.com/office/powerpoint/2010/main" val="2852708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566CD-DAD5-0463-E0CD-80BA78401EB7}"/>
              </a:ext>
            </a:extLst>
          </p:cNvPr>
          <p:cNvSpPr>
            <a:spLocks noGrp="1"/>
          </p:cNvSpPr>
          <p:nvPr>
            <p:ph type="title"/>
          </p:nvPr>
        </p:nvSpPr>
        <p:spPr/>
        <p:txBody>
          <a:bodyPr/>
          <a:lstStyle/>
          <a:p>
            <a:r>
              <a:rPr lang="el-GR" dirty="0"/>
              <a:t>Τι θέλουμε να κάνουμε</a:t>
            </a:r>
            <a:r>
              <a:rPr lang="en-GB" dirty="0"/>
              <a:t>;</a:t>
            </a:r>
            <a:r>
              <a:rPr lang="el-GR" dirty="0"/>
              <a:t> </a:t>
            </a:r>
          </a:p>
        </p:txBody>
      </p:sp>
      <p:sp>
        <p:nvSpPr>
          <p:cNvPr id="3" name="Content Placeholder 2">
            <a:extLst>
              <a:ext uri="{FF2B5EF4-FFF2-40B4-BE49-F238E27FC236}">
                <a16:creationId xmlns:a16="http://schemas.microsoft.com/office/drawing/2014/main" id="{C0595FF5-5C54-0948-0662-76D6C4F2D25F}"/>
              </a:ext>
            </a:extLst>
          </p:cNvPr>
          <p:cNvSpPr>
            <a:spLocks noGrp="1"/>
          </p:cNvSpPr>
          <p:nvPr>
            <p:ph idx="1"/>
          </p:nvPr>
        </p:nvSpPr>
        <p:spPr/>
        <p:txBody>
          <a:bodyPr>
            <a:normAutofit/>
          </a:bodyPr>
          <a:lstStyle/>
          <a:p>
            <a:r>
              <a:rPr lang="el-GR" dirty="0"/>
              <a:t>Θέλουμε να αναπαραστήσουμε τη διαδικασία κατά την οποία ο </a:t>
            </a:r>
            <a:r>
              <a:rPr lang="el-GR" b="1" dirty="0"/>
              <a:t>εξοπλισμός χρήστη (UE - </a:t>
            </a:r>
            <a:r>
              <a:rPr lang="el-GR" b="1" dirty="0" err="1"/>
              <a:t>User</a:t>
            </a:r>
            <a:r>
              <a:rPr lang="el-GR" b="1" dirty="0"/>
              <a:t> </a:t>
            </a:r>
            <a:r>
              <a:rPr lang="el-GR" b="1" dirty="0" err="1"/>
              <a:t>Equipment</a:t>
            </a:r>
            <a:r>
              <a:rPr lang="el-GR" b="1" dirty="0"/>
              <a:t>)</a:t>
            </a:r>
            <a:r>
              <a:rPr lang="el-GR" dirty="0"/>
              <a:t>, όπως </a:t>
            </a:r>
            <a:r>
              <a:rPr lang="el-GR" b="1" dirty="0"/>
              <a:t>μια κινητή συσκευή </a:t>
            </a:r>
            <a:r>
              <a:rPr lang="el-GR" dirty="0"/>
              <a:t>(π.χ. ένα </a:t>
            </a:r>
            <a:r>
              <a:rPr lang="el-GR" dirty="0" err="1"/>
              <a:t>smartphone</a:t>
            </a:r>
            <a:r>
              <a:rPr lang="el-GR" dirty="0"/>
              <a:t>) </a:t>
            </a:r>
            <a:r>
              <a:rPr lang="el-GR" b="1" dirty="0"/>
              <a:t>μεταβαίνει</a:t>
            </a:r>
            <a:r>
              <a:rPr lang="el-GR" dirty="0"/>
              <a:t> από μία περιοχή κάλυψης </a:t>
            </a:r>
            <a:r>
              <a:rPr lang="el-GR" b="1" dirty="0"/>
              <a:t>(κυψέλη - </a:t>
            </a:r>
            <a:r>
              <a:rPr lang="el-GR" dirty="0" err="1"/>
              <a:t>cell</a:t>
            </a:r>
            <a:r>
              <a:rPr lang="el-GR" b="1" dirty="0"/>
              <a:t>) σε μία άλλη</a:t>
            </a:r>
            <a:r>
              <a:rPr lang="en-GB" b="1" dirty="0"/>
              <a:t>, </a:t>
            </a:r>
            <a:r>
              <a:rPr lang="el-GR" dirty="0"/>
              <a:t>καθώς κινείται ή αλλάζουν οι συνθήκες του δικτύου, ώστε να διατηρηθεί η σύνδεση με το δίκτυο.</a:t>
            </a:r>
          </a:p>
          <a:p>
            <a:r>
              <a:rPr lang="el-GR" dirty="0">
                <a:solidFill>
                  <a:srgbClr val="2E2F30"/>
                </a:solidFill>
                <a:latin typeface="Inter"/>
              </a:rPr>
              <a:t>Η</a:t>
            </a:r>
            <a:r>
              <a:rPr lang="el-GR" dirty="0"/>
              <a:t> εναλλαγή </a:t>
            </a:r>
            <a:r>
              <a:rPr lang="el-GR" b="0" i="0" dirty="0">
                <a:solidFill>
                  <a:srgbClr val="2E2F30"/>
                </a:solidFill>
                <a:effectLst/>
                <a:latin typeface="Inter"/>
              </a:rPr>
              <a:t>της σύνδεσης από τον έναν σταθμό βάσης στον άλλο,</a:t>
            </a:r>
            <a:r>
              <a:rPr lang="el-GR" dirty="0"/>
              <a:t> είναι απαραίτητη για τη διατήρηση της σύνδεσης στο δίκτυο και την αποφυγή διακοπών στις υπηρεσίες, όπως φωνητικές κλήσεις ή δεδομένα.</a:t>
            </a:r>
            <a:endParaRPr lang="el-GR" dirty="0">
              <a:solidFill>
                <a:srgbClr val="2E2F30"/>
              </a:solidFill>
              <a:latin typeface="Inter"/>
            </a:endParaRPr>
          </a:p>
          <a:p>
            <a:r>
              <a:rPr lang="el-GR" dirty="0"/>
              <a:t>Σε ένα δίκτυο 4G, η εναλλαγή κυττάρων συμβαίνει όταν η ποιότητα σήματος της κυψέλης στην οποία είναι συνδεδεμένη η συσκευή </a:t>
            </a:r>
            <a:r>
              <a:rPr lang="el-GR" b="1" dirty="0"/>
              <a:t>πέσει κάτω από ένα προκαθορισμένο όριο</a:t>
            </a:r>
            <a:r>
              <a:rPr lang="el-GR" dirty="0"/>
              <a:t>, ενώ </a:t>
            </a:r>
            <a:r>
              <a:rPr lang="el-GR" b="1" dirty="0"/>
              <a:t>παράλληλα υπάρχει μια κοντινή κυψέλη</a:t>
            </a:r>
            <a:r>
              <a:rPr lang="el-GR" dirty="0"/>
              <a:t> που μπορεί να προσφέρει </a:t>
            </a:r>
            <a:r>
              <a:rPr lang="el-GR" b="1" dirty="0"/>
              <a:t>καλύτερη σύνδεση</a:t>
            </a:r>
            <a:r>
              <a:rPr lang="el-GR" dirty="0"/>
              <a:t>. </a:t>
            </a:r>
          </a:p>
          <a:p>
            <a:r>
              <a:rPr lang="el-GR" dirty="0"/>
              <a:t>Η διαδικασία περιλαμβάνει </a:t>
            </a:r>
            <a:r>
              <a:rPr lang="el-GR" b="1" dirty="0"/>
              <a:t>την επιλογή της κατάλληλης νέας κυψέλης</a:t>
            </a:r>
            <a:r>
              <a:rPr lang="el-GR" dirty="0"/>
              <a:t>, </a:t>
            </a:r>
            <a:r>
              <a:rPr lang="el-GR" b="1" dirty="0"/>
              <a:t>την εκτέλεση της εναλλαγής </a:t>
            </a:r>
            <a:r>
              <a:rPr lang="el-GR" dirty="0"/>
              <a:t>και </a:t>
            </a:r>
            <a:r>
              <a:rPr lang="el-GR" b="1" dirty="0"/>
              <a:t>τη διασφάλιση ότι δεν θα χαθούν δεδομένα κατά τη μετάβαση</a:t>
            </a:r>
            <a:r>
              <a:rPr lang="el-GR" dirty="0"/>
              <a:t>.</a:t>
            </a:r>
          </a:p>
          <a:p>
            <a:endParaRPr lang="el-GR" dirty="0"/>
          </a:p>
        </p:txBody>
      </p:sp>
    </p:spTree>
    <p:extLst>
      <p:ext uri="{BB962C8B-B14F-4D97-AF65-F5344CB8AC3E}">
        <p14:creationId xmlns:p14="http://schemas.microsoft.com/office/powerpoint/2010/main" val="21448600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88C4C-38EE-AC8E-A8EC-A5CE68BDE580}"/>
              </a:ext>
            </a:extLst>
          </p:cNvPr>
          <p:cNvSpPr>
            <a:spLocks noGrp="1"/>
          </p:cNvSpPr>
          <p:nvPr>
            <p:ph type="title"/>
          </p:nvPr>
        </p:nvSpPr>
        <p:spPr/>
        <p:txBody>
          <a:bodyPr/>
          <a:lstStyle/>
          <a:p>
            <a:r>
              <a:rPr lang="el-GR" dirty="0"/>
              <a:t>Τι θα δούμε</a:t>
            </a:r>
            <a:r>
              <a:rPr lang="en-GB" dirty="0"/>
              <a:t>;</a:t>
            </a:r>
            <a:endParaRPr lang="el-GR" dirty="0"/>
          </a:p>
        </p:txBody>
      </p:sp>
      <p:sp>
        <p:nvSpPr>
          <p:cNvPr id="3" name="Content Placeholder 2">
            <a:extLst>
              <a:ext uri="{FF2B5EF4-FFF2-40B4-BE49-F238E27FC236}">
                <a16:creationId xmlns:a16="http://schemas.microsoft.com/office/drawing/2014/main" id="{1B7C550F-FAF9-1C14-DF09-D59F7C6EBC99}"/>
              </a:ext>
            </a:extLst>
          </p:cNvPr>
          <p:cNvSpPr>
            <a:spLocks noGrp="1"/>
          </p:cNvSpPr>
          <p:nvPr>
            <p:ph idx="1"/>
          </p:nvPr>
        </p:nvSpPr>
        <p:spPr>
          <a:xfrm>
            <a:off x="777240" y="1884619"/>
            <a:ext cx="10659110" cy="4351338"/>
          </a:xfrm>
        </p:spPr>
        <p:txBody>
          <a:bodyPr>
            <a:normAutofit/>
          </a:bodyPr>
          <a:lstStyle/>
          <a:p>
            <a:pPr marL="0" indent="0">
              <a:buNone/>
            </a:pPr>
            <a:r>
              <a:rPr lang="el-GR" sz="2400" b="1" dirty="0"/>
              <a:t>Στόχος</a:t>
            </a:r>
            <a:r>
              <a:rPr lang="en-GB" sz="2400" b="1" dirty="0"/>
              <a:t>: </a:t>
            </a:r>
            <a:r>
              <a:rPr lang="el-GR" sz="2400" dirty="0"/>
              <a:t>Δημιουργία ενός ρεαλιστικού μοντέλου δικτύου που περιλαμβάνει πολλούς σταθμούς βάσης και συσκευές χρηστών. </a:t>
            </a:r>
          </a:p>
          <a:p>
            <a:pPr marL="0" indent="0">
              <a:buNone/>
            </a:pPr>
            <a:endParaRPr lang="el-GR" sz="2400" dirty="0"/>
          </a:p>
          <a:p>
            <a:pPr marL="0" indent="0">
              <a:buNone/>
            </a:pPr>
            <a:r>
              <a:rPr lang="el-GR" sz="2400" dirty="0"/>
              <a:t>Η εργασία αποτελείται από τις ακόλουθες φάσεις: </a:t>
            </a:r>
          </a:p>
          <a:p>
            <a:pPr>
              <a:buFont typeface="Wingdings" panose="05000000000000000000" pitchFamily="2" charset="2"/>
              <a:buChar char="§"/>
            </a:pPr>
            <a:r>
              <a:rPr lang="el-GR" sz="2400" dirty="0"/>
              <a:t>Την μοντελοποίηση του δικτύου, </a:t>
            </a:r>
          </a:p>
          <a:p>
            <a:pPr>
              <a:buFont typeface="Wingdings" panose="05000000000000000000" pitchFamily="2" charset="2"/>
              <a:buChar char="§"/>
            </a:pPr>
            <a:r>
              <a:rPr lang="el-GR" sz="2400" dirty="0"/>
              <a:t>Τον καθορισμό μοντέλων κίνησης, </a:t>
            </a:r>
          </a:p>
          <a:p>
            <a:pPr>
              <a:buFont typeface="Wingdings" panose="05000000000000000000" pitchFamily="2" charset="2"/>
              <a:buChar char="§"/>
            </a:pPr>
            <a:r>
              <a:rPr lang="el-GR" sz="2400" dirty="0"/>
              <a:t>Την υλοποίηση αλγορίθμου εναλλαγής κυττάρων </a:t>
            </a:r>
            <a:r>
              <a:rPr lang="en-GB" sz="2400" dirty="0"/>
              <a:t>RSSI</a:t>
            </a:r>
            <a:r>
              <a:rPr lang="el-GR" sz="2400" dirty="0"/>
              <a:t>,</a:t>
            </a:r>
          </a:p>
          <a:p>
            <a:pPr>
              <a:buFont typeface="Wingdings" panose="05000000000000000000" pitchFamily="2" charset="2"/>
              <a:buChar char="§"/>
            </a:pPr>
            <a:r>
              <a:rPr lang="el-GR" sz="2400" dirty="0"/>
              <a:t>Αξιολόγηση της απόδοσής τους μέσω σεναρίων</a:t>
            </a:r>
            <a:r>
              <a:rPr lang="en-GB" sz="2400" dirty="0"/>
              <a:t>,</a:t>
            </a:r>
          </a:p>
          <a:p>
            <a:pPr>
              <a:buFont typeface="Wingdings" panose="05000000000000000000" pitchFamily="2" charset="2"/>
              <a:buChar char="§"/>
            </a:pPr>
            <a:r>
              <a:rPr lang="el-GR" sz="2400" dirty="0"/>
              <a:t>Προσομοίωση πώς οι </a:t>
            </a:r>
            <a:r>
              <a:rPr lang="el-GR" sz="2400" b="0" i="0" dirty="0">
                <a:solidFill>
                  <a:srgbClr val="2E2F30"/>
                </a:solidFill>
                <a:effectLst/>
                <a:latin typeface="Inter"/>
              </a:rPr>
              <a:t>φορητές συσκευές υγείας </a:t>
            </a:r>
            <a:r>
              <a:rPr lang="el-GR" sz="2400" dirty="0"/>
              <a:t>συνδέονται με διαφορετικούς σταθμούς βάσης καθώς ο ασθενής μετακινείται.</a:t>
            </a:r>
          </a:p>
        </p:txBody>
      </p:sp>
    </p:spTree>
    <p:extLst>
      <p:ext uri="{BB962C8B-B14F-4D97-AF65-F5344CB8AC3E}">
        <p14:creationId xmlns:p14="http://schemas.microsoft.com/office/powerpoint/2010/main" val="7524817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453DCD6-FF48-0F2A-B4C1-7B6CEAC46A8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48133E4-B8CF-408B-43EB-60B52E49AA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10" name="Rectangle 9">
            <a:extLst>
              <a:ext uri="{FF2B5EF4-FFF2-40B4-BE49-F238E27FC236}">
                <a16:creationId xmlns:a16="http://schemas.microsoft.com/office/drawing/2014/main" id="{2E183B15-6BB4-6B4E-AD79-8A474E5D9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Gill Sans Nova"/>
              <a:ea typeface="+mn-ea"/>
              <a:cs typeface="+mn-cs"/>
            </a:endParaRPr>
          </a:p>
        </p:txBody>
      </p:sp>
      <p:pic>
        <p:nvPicPr>
          <p:cNvPr id="30" name="Picture 29" descr="A close-up of a wave&#10;&#10;Description automatically generated">
            <a:extLst>
              <a:ext uri="{FF2B5EF4-FFF2-40B4-BE49-F238E27FC236}">
                <a16:creationId xmlns:a16="http://schemas.microsoft.com/office/drawing/2014/main" id="{7989C844-1DC4-0C1F-0B67-AA4F2C1CEE29}"/>
              </a:ext>
            </a:extLst>
          </p:cNvPr>
          <p:cNvPicPr>
            <a:picLocks noChangeAspect="1"/>
          </p:cNvPicPr>
          <p:nvPr/>
        </p:nvPicPr>
        <p:blipFill>
          <a:blip r:embed="rId2">
            <a:alphaModFix amt="40000"/>
          </a:blip>
          <a:srcRect t="12769" r="-1" b="-1"/>
          <a:stretch/>
        </p:blipFill>
        <p:spPr>
          <a:xfrm>
            <a:off x="1525" y="10"/>
            <a:ext cx="12188951" cy="6857990"/>
          </a:xfrm>
          <a:prstGeom prst="rect">
            <a:avLst/>
          </a:prstGeom>
        </p:spPr>
      </p:pic>
      <p:grpSp>
        <p:nvGrpSpPr>
          <p:cNvPr id="31" name="decorative circle">
            <a:extLst>
              <a:ext uri="{FF2B5EF4-FFF2-40B4-BE49-F238E27FC236}">
                <a16:creationId xmlns:a16="http://schemas.microsoft.com/office/drawing/2014/main" id="{9CB0D814-669A-D553-5429-75E1BA2A03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4102" y="236341"/>
            <a:ext cx="11340713" cy="5464029"/>
            <a:chOff x="314102" y="236341"/>
            <a:chExt cx="11340713" cy="5464029"/>
          </a:xfrm>
        </p:grpSpPr>
        <p:sp>
          <p:nvSpPr>
            <p:cNvPr id="32" name="Oval 31">
              <a:extLst>
                <a:ext uri="{FF2B5EF4-FFF2-40B4-BE49-F238E27FC236}">
                  <a16:creationId xmlns:a16="http://schemas.microsoft.com/office/drawing/2014/main" id="{32A1DC7B-2298-397F-F46B-FB43F2C4B8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0448" y="3803994"/>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14" name="Oval 13">
              <a:extLst>
                <a:ext uri="{FF2B5EF4-FFF2-40B4-BE49-F238E27FC236}">
                  <a16:creationId xmlns:a16="http://schemas.microsoft.com/office/drawing/2014/main" id="{BF187311-A9A4-D9C0-9926-ABB2E8AD09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4102" y="3044381"/>
              <a:ext cx="226735" cy="226735"/>
            </a:xfrm>
            <a:prstGeom prst="ellipse">
              <a:avLst/>
            </a:prstGeom>
            <a:solidFill>
              <a:schemeClr val="tx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15" name="Oval 14">
              <a:extLst>
                <a:ext uri="{FF2B5EF4-FFF2-40B4-BE49-F238E27FC236}">
                  <a16:creationId xmlns:a16="http://schemas.microsoft.com/office/drawing/2014/main" id="{4315FFCB-6FA2-D8C4-25F4-649DA4A1CE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88374" y="386135"/>
              <a:ext cx="466441" cy="466441"/>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3" name="Oval 32">
              <a:extLst>
                <a:ext uri="{FF2B5EF4-FFF2-40B4-BE49-F238E27FC236}">
                  <a16:creationId xmlns:a16="http://schemas.microsoft.com/office/drawing/2014/main" id="{C3B66685-6B41-33D9-F028-D97A275379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65714" y="236341"/>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4" name="Oval 33">
              <a:extLst>
                <a:ext uri="{FF2B5EF4-FFF2-40B4-BE49-F238E27FC236}">
                  <a16:creationId xmlns:a16="http://schemas.microsoft.com/office/drawing/2014/main" id="{43B626A6-EE04-2CD3-A29B-92F2AE4E7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1535" y="2516671"/>
              <a:ext cx="466441" cy="46644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5" name="Oval 34">
              <a:extLst>
                <a:ext uri="{FF2B5EF4-FFF2-40B4-BE49-F238E27FC236}">
                  <a16:creationId xmlns:a16="http://schemas.microsoft.com/office/drawing/2014/main" id="{06303333-57A3-22B0-7A46-D0485EF6B1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30142" y="458803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6" name="Oval 35">
              <a:extLst>
                <a:ext uri="{FF2B5EF4-FFF2-40B4-BE49-F238E27FC236}">
                  <a16:creationId xmlns:a16="http://schemas.microsoft.com/office/drawing/2014/main" id="{183448FD-60AB-1E29-0F8B-B65B7669D8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02046" y="5394590"/>
              <a:ext cx="305780" cy="30578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7" name="Oval 36">
              <a:extLst>
                <a:ext uri="{FF2B5EF4-FFF2-40B4-BE49-F238E27FC236}">
                  <a16:creationId xmlns:a16="http://schemas.microsoft.com/office/drawing/2014/main" id="{2994AD49-7FDB-CB95-F352-0844AF8114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08287" y="5160714"/>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BD0412BD-0BB7-717D-F631-EA669B007EB9}"/>
              </a:ext>
            </a:extLst>
          </p:cNvPr>
          <p:cNvSpPr>
            <a:spLocks noGrp="1"/>
          </p:cNvSpPr>
          <p:nvPr>
            <p:ph type="ctrTitle"/>
          </p:nvPr>
        </p:nvSpPr>
        <p:spPr>
          <a:xfrm>
            <a:off x="2562606" y="1122363"/>
            <a:ext cx="7063739" cy="2387600"/>
          </a:xfrm>
        </p:spPr>
        <p:txBody>
          <a:bodyPr>
            <a:normAutofit/>
          </a:bodyPr>
          <a:lstStyle/>
          <a:p>
            <a:r>
              <a:rPr lang="el-GR" dirty="0">
                <a:solidFill>
                  <a:srgbClr val="FFFFFF"/>
                </a:solidFill>
              </a:rPr>
              <a:t>Σημαντικές Έννοιες</a:t>
            </a:r>
          </a:p>
        </p:txBody>
      </p:sp>
    </p:spTree>
    <p:extLst>
      <p:ext uri="{BB962C8B-B14F-4D97-AF65-F5344CB8AC3E}">
        <p14:creationId xmlns:p14="http://schemas.microsoft.com/office/powerpoint/2010/main" val="2398946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9502F-8266-9A42-6596-FD7D6F3D3F5B}"/>
              </a:ext>
            </a:extLst>
          </p:cNvPr>
          <p:cNvSpPr>
            <a:spLocks noGrp="1"/>
          </p:cNvSpPr>
          <p:nvPr>
            <p:ph type="title"/>
          </p:nvPr>
        </p:nvSpPr>
        <p:spPr/>
        <p:txBody>
          <a:bodyPr/>
          <a:lstStyle/>
          <a:p>
            <a:r>
              <a:rPr lang="el-GR"/>
              <a:t>Πως λειτουργεί η κινητή τηλεφωνία;</a:t>
            </a:r>
            <a:endParaRPr lang="el-GR" dirty="0"/>
          </a:p>
        </p:txBody>
      </p:sp>
      <p:sp>
        <p:nvSpPr>
          <p:cNvPr id="3" name="Content Placeholder 2">
            <a:extLst>
              <a:ext uri="{FF2B5EF4-FFF2-40B4-BE49-F238E27FC236}">
                <a16:creationId xmlns:a16="http://schemas.microsoft.com/office/drawing/2014/main" id="{B2B3319D-BBE7-B067-2850-4BF0F5EFDAAA}"/>
              </a:ext>
            </a:extLst>
          </p:cNvPr>
          <p:cNvSpPr>
            <a:spLocks noGrp="1"/>
          </p:cNvSpPr>
          <p:nvPr>
            <p:ph idx="1"/>
          </p:nvPr>
        </p:nvSpPr>
        <p:spPr/>
        <p:txBody>
          <a:bodyPr>
            <a:normAutofit/>
          </a:bodyPr>
          <a:lstStyle/>
          <a:p>
            <a:r>
              <a:rPr lang="el-GR" dirty="0"/>
              <a:t>Για να χρησιμοποιήσουμε το κινητό μας τηλέφωνο, πρέπει να </a:t>
            </a:r>
            <a:r>
              <a:rPr lang="el-GR" b="1" dirty="0"/>
              <a:t>υπάρχει ένα τουλάχιστον ασύρματο δίκτυο κινητής τηλεφωνίας. </a:t>
            </a:r>
            <a:r>
              <a:rPr lang="el-GR" dirty="0"/>
              <a:t>Τα δίκτυα αυτά χρησιμοποιούν σταθμούς βάσης για να καλύψουν με ηλεκτρομαγνητικό σήμα τους χώρους που βρισκόμαστε. Όταν χρησιμοποιούμε το κινητό μας τηλέφωνο για να επικοινωνήσουμε, τότε αυτό στέλνει και λαμβάνει ηλεκτρομαγνητικά σήματα προς και από έναν σταθμό βάσης.</a:t>
            </a:r>
            <a:endParaRPr lang="en-GB" dirty="0"/>
          </a:p>
          <a:p>
            <a:pPr>
              <a:buClr>
                <a:srgbClr val="412F24">
                  <a:lumMod val="75000"/>
                  <a:lumOff val="25000"/>
                </a:srgbClr>
              </a:buClr>
              <a:defRPr/>
            </a:pPr>
            <a:r>
              <a:rPr kumimoji="0" lang="el-GR" sz="2000" b="0" i="0" u="none" strike="noStrike" kern="1200" cap="none" spc="0" normalizeH="0" baseline="0" noProof="0" dirty="0">
                <a:ln>
                  <a:noFill/>
                </a:ln>
                <a:solidFill>
                  <a:srgbClr val="412F24"/>
                </a:solidFill>
                <a:effectLst/>
                <a:uLnTx/>
                <a:uFillTx/>
                <a:latin typeface="Calibri"/>
                <a:ea typeface="+mn-ea"/>
                <a:cs typeface="+mn-cs"/>
              </a:rPr>
              <a:t>Ο σταθμός βάσης είναι το σύνολο των εγκαταστάσεων μιας εταιρείας κινητής τηλεφωνίας που τοποθετούνται σε μια περιοχή για την υποστήριξη του ασύρματου δικτύου της.</a:t>
            </a:r>
            <a:r>
              <a:rPr kumimoji="0" lang="en-GB" sz="2000" b="0" i="0" u="none" strike="noStrike" kern="1200" cap="none" spc="0" normalizeH="0" baseline="0" noProof="0" dirty="0">
                <a:ln>
                  <a:noFill/>
                </a:ln>
                <a:solidFill>
                  <a:srgbClr val="412F24"/>
                </a:solidFill>
                <a:effectLst/>
                <a:uLnTx/>
                <a:uFillTx/>
                <a:latin typeface="Calibri"/>
                <a:ea typeface="+mn-ea"/>
                <a:cs typeface="+mn-cs"/>
              </a:rPr>
              <a:t> </a:t>
            </a:r>
            <a:r>
              <a:rPr kumimoji="0" lang="el-GR" sz="2000" b="0" i="0" u="none" strike="noStrike" kern="1200" cap="none" spc="0" normalizeH="0" baseline="0" noProof="0" dirty="0">
                <a:ln>
                  <a:noFill/>
                </a:ln>
                <a:solidFill>
                  <a:srgbClr val="412F24"/>
                </a:solidFill>
                <a:effectLst/>
                <a:uLnTx/>
                <a:uFillTx/>
                <a:latin typeface="Calibri"/>
                <a:ea typeface="+mn-ea"/>
                <a:cs typeface="+mn-cs"/>
              </a:rPr>
              <a:t>Αποτελούνται από</a:t>
            </a:r>
            <a:r>
              <a:rPr kumimoji="0" lang="en-GB" sz="2000" b="0" i="0" u="none" strike="noStrike" kern="1200" cap="none" spc="0" normalizeH="0" baseline="0" noProof="0" dirty="0">
                <a:ln>
                  <a:noFill/>
                </a:ln>
                <a:solidFill>
                  <a:srgbClr val="412F24"/>
                </a:solidFill>
                <a:effectLst/>
                <a:uLnTx/>
                <a:uFillTx/>
                <a:latin typeface="Calibri"/>
                <a:ea typeface="+mn-ea"/>
                <a:cs typeface="+mn-cs"/>
              </a:rPr>
              <a:t>:</a:t>
            </a:r>
          </a:p>
          <a:p>
            <a:pPr lvl="1">
              <a:spcBef>
                <a:spcPts val="1000"/>
              </a:spcBef>
              <a:buClr>
                <a:srgbClr val="412F24">
                  <a:lumMod val="75000"/>
                  <a:lumOff val="25000"/>
                </a:srgbClr>
              </a:buClr>
              <a:defRPr/>
            </a:pPr>
            <a:r>
              <a:rPr kumimoji="0" lang="el-GR" b="0" i="0" u="none" strike="noStrike" kern="1200" cap="none" spc="0" normalizeH="0" baseline="0" noProof="0" dirty="0" err="1">
                <a:ln>
                  <a:noFill/>
                </a:ln>
                <a:solidFill>
                  <a:srgbClr val="412F24"/>
                </a:solidFill>
                <a:effectLst/>
                <a:uLnTx/>
                <a:uFillTx/>
                <a:latin typeface="Calibri"/>
                <a:ea typeface="+mn-ea"/>
                <a:cs typeface="+mn-cs"/>
              </a:rPr>
              <a:t>Κεραιοσυστήματα</a:t>
            </a:r>
            <a:r>
              <a:rPr kumimoji="0" lang="el-GR" b="0" i="0" u="none" strike="noStrike" kern="1200" cap="none" spc="0" normalizeH="0" baseline="0" noProof="0" dirty="0">
                <a:ln>
                  <a:noFill/>
                </a:ln>
                <a:solidFill>
                  <a:srgbClr val="412F24"/>
                </a:solidFill>
                <a:effectLst/>
                <a:uLnTx/>
                <a:uFillTx/>
                <a:latin typeface="Calibri"/>
                <a:ea typeface="+mn-ea"/>
                <a:cs typeface="+mn-cs"/>
              </a:rPr>
              <a:t> εκπομπής και λήψης των ηλεκτρομαγνητικών σημάτων από τα </a:t>
            </a:r>
            <a:r>
              <a:rPr kumimoji="0" lang="en-GB" b="0" i="0" u="none" strike="noStrike" kern="1200" cap="none" spc="0" normalizeH="0" baseline="0" noProof="0" dirty="0">
                <a:ln>
                  <a:noFill/>
                </a:ln>
                <a:solidFill>
                  <a:srgbClr val="412F24"/>
                </a:solidFill>
                <a:effectLst/>
                <a:uLnTx/>
                <a:uFillTx/>
                <a:latin typeface="Calibri"/>
                <a:ea typeface="+mn-ea"/>
                <a:cs typeface="+mn-cs"/>
              </a:rPr>
              <a:t>UE’s</a:t>
            </a:r>
            <a:r>
              <a:rPr kumimoji="0" lang="el-GR" b="0" i="0" u="none" strike="noStrike" kern="1200" cap="none" spc="0" normalizeH="0" baseline="0" noProof="0" dirty="0">
                <a:ln>
                  <a:noFill/>
                </a:ln>
                <a:solidFill>
                  <a:srgbClr val="412F24"/>
                </a:solidFill>
                <a:effectLst/>
                <a:uLnTx/>
                <a:uFillTx/>
                <a:latin typeface="Calibri"/>
                <a:ea typeface="+mn-ea"/>
                <a:cs typeface="+mn-cs"/>
              </a:rPr>
              <a:t>,</a:t>
            </a:r>
          </a:p>
          <a:p>
            <a:pPr lvl="1">
              <a:spcBef>
                <a:spcPts val="1000"/>
              </a:spcBef>
              <a:buClr>
                <a:srgbClr val="412F24">
                  <a:lumMod val="75000"/>
                  <a:lumOff val="25000"/>
                </a:srgbClr>
              </a:buClr>
              <a:defRPr/>
            </a:pPr>
            <a:r>
              <a:rPr kumimoji="0" lang="el-GR" b="0" i="0" u="none" strike="noStrike" kern="1200" cap="none" spc="0" normalizeH="0" baseline="0" noProof="0" dirty="0">
                <a:ln>
                  <a:noFill/>
                </a:ln>
                <a:solidFill>
                  <a:srgbClr val="412F24"/>
                </a:solidFill>
                <a:effectLst/>
                <a:uLnTx/>
                <a:uFillTx/>
                <a:latin typeface="Calibri"/>
                <a:ea typeface="+mn-ea"/>
                <a:cs typeface="+mn-cs"/>
              </a:rPr>
              <a:t>Ηλεκτρονικό εξοπλισμό </a:t>
            </a:r>
            <a:r>
              <a:rPr kumimoji="0" lang="en-GB" b="0" i="0" u="none" strike="noStrike" kern="1200" cap="none" spc="0" normalizeH="0" baseline="0" noProof="0" dirty="0">
                <a:ln>
                  <a:noFill/>
                </a:ln>
                <a:solidFill>
                  <a:srgbClr val="412F24"/>
                </a:solidFill>
                <a:effectLst/>
                <a:uLnTx/>
                <a:uFillTx/>
                <a:latin typeface="Calibri"/>
                <a:ea typeface="+mn-ea"/>
                <a:cs typeface="+mn-cs"/>
              </a:rPr>
              <a:t>(</a:t>
            </a:r>
            <a:r>
              <a:rPr kumimoji="0" lang="el-GR" b="0" i="0" u="none" strike="noStrike" kern="1200" cap="none" spc="0" normalizeH="0" baseline="0" noProof="0" dirty="0" err="1">
                <a:ln>
                  <a:noFill/>
                </a:ln>
                <a:solidFill>
                  <a:srgbClr val="412F24"/>
                </a:solidFill>
                <a:effectLst/>
                <a:uLnTx/>
                <a:uFillTx/>
                <a:latin typeface="Calibri"/>
                <a:ea typeface="+mn-ea"/>
                <a:cs typeface="+mn-cs"/>
              </a:rPr>
              <a:t>ραδιοεξοπλισμό</a:t>
            </a:r>
            <a:r>
              <a:rPr kumimoji="0" lang="el-GR" b="0" i="0" u="none" strike="noStrike" kern="1200" cap="none" spc="0" normalizeH="0" baseline="0" noProof="0" dirty="0">
                <a:ln>
                  <a:noFill/>
                </a:ln>
                <a:solidFill>
                  <a:srgbClr val="412F24"/>
                </a:solidFill>
                <a:effectLst/>
                <a:uLnTx/>
                <a:uFillTx/>
                <a:latin typeface="Calibri"/>
                <a:ea typeface="+mn-ea"/>
                <a:cs typeface="+mn-cs"/>
              </a:rPr>
              <a:t> - πομπούς και δέκτες</a:t>
            </a:r>
            <a:r>
              <a:rPr kumimoji="0" lang="en-GB" b="0" i="0" u="none" strike="noStrike" kern="1200" cap="none" spc="0" normalizeH="0" baseline="0" noProof="0" dirty="0">
                <a:ln>
                  <a:noFill/>
                </a:ln>
                <a:solidFill>
                  <a:srgbClr val="412F24"/>
                </a:solidFill>
                <a:effectLst/>
                <a:uLnTx/>
                <a:uFillTx/>
                <a:latin typeface="Calibri"/>
                <a:ea typeface="+mn-ea"/>
                <a:cs typeface="+mn-cs"/>
              </a:rPr>
              <a:t>) </a:t>
            </a:r>
            <a:r>
              <a:rPr kumimoji="0" lang="el-GR" b="0" i="0" u="none" strike="noStrike" kern="1200" cap="none" spc="0" normalizeH="0" baseline="0" noProof="0" dirty="0">
                <a:ln>
                  <a:noFill/>
                </a:ln>
                <a:solidFill>
                  <a:srgbClr val="412F24"/>
                </a:solidFill>
                <a:effectLst/>
                <a:uLnTx/>
                <a:uFillTx/>
                <a:latin typeface="Calibri"/>
                <a:ea typeface="+mn-ea"/>
                <a:cs typeface="+mn-cs"/>
              </a:rPr>
              <a:t>για την επεξεργασία των σημάτων αυτών,</a:t>
            </a:r>
          </a:p>
          <a:p>
            <a:pPr lvl="1">
              <a:spcBef>
                <a:spcPts val="1000"/>
              </a:spcBef>
              <a:buClr>
                <a:srgbClr val="412F24">
                  <a:lumMod val="75000"/>
                  <a:lumOff val="25000"/>
                </a:srgbClr>
              </a:buClr>
              <a:defRPr/>
            </a:pPr>
            <a:r>
              <a:rPr kumimoji="0" lang="el-GR" b="1" i="0" u="none" strike="noStrike" kern="1200" cap="none" spc="0" normalizeH="0" baseline="0" noProof="0" dirty="0">
                <a:ln>
                  <a:noFill/>
                </a:ln>
                <a:solidFill>
                  <a:srgbClr val="412F24"/>
                </a:solidFill>
                <a:effectLst/>
                <a:uLnTx/>
                <a:uFillTx/>
                <a:latin typeface="Calibri"/>
                <a:ea typeface="+mn-ea"/>
                <a:cs typeface="+mn-cs"/>
              </a:rPr>
              <a:t>Συστήματα ελέγχου, τα οποία διαχειρίζονται την κατανομή των συσκευών στις κατάλληλες κυψέλες και την επικοινωνία με το δίκτυο.</a:t>
            </a:r>
          </a:p>
          <a:p>
            <a:endParaRPr lang="en-GB" dirty="0"/>
          </a:p>
        </p:txBody>
      </p:sp>
    </p:spTree>
    <p:extLst>
      <p:ext uri="{BB962C8B-B14F-4D97-AF65-F5344CB8AC3E}">
        <p14:creationId xmlns:p14="http://schemas.microsoft.com/office/powerpoint/2010/main" val="35881565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258B7CF-7D3E-458E-A0EF-C50451D41C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B4454793-B5F3-4C84-A357-8A6E10AB4B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sp>
        <p:nvSpPr>
          <p:cNvPr id="2" name="Title 1">
            <a:extLst>
              <a:ext uri="{FF2B5EF4-FFF2-40B4-BE49-F238E27FC236}">
                <a16:creationId xmlns:a16="http://schemas.microsoft.com/office/drawing/2014/main" id="{DF4D613A-668C-469A-78C3-64AFCFE42D06}"/>
              </a:ext>
            </a:extLst>
          </p:cNvPr>
          <p:cNvSpPr>
            <a:spLocks noGrp="1"/>
          </p:cNvSpPr>
          <p:nvPr>
            <p:ph type="title"/>
          </p:nvPr>
        </p:nvSpPr>
        <p:spPr>
          <a:xfrm>
            <a:off x="886754" y="-990586"/>
            <a:ext cx="6765026" cy="2493876"/>
          </a:xfrm>
        </p:spPr>
        <p:txBody>
          <a:bodyPr anchor="b">
            <a:normAutofit/>
          </a:bodyPr>
          <a:lstStyle/>
          <a:p>
            <a:r>
              <a:rPr lang="el-GR" sz="4400" dirty="0"/>
              <a:t>Τι κάνει η κυψέλη;</a:t>
            </a:r>
          </a:p>
        </p:txBody>
      </p:sp>
      <p:sp>
        <p:nvSpPr>
          <p:cNvPr id="3" name="Content Placeholder 2">
            <a:extLst>
              <a:ext uri="{FF2B5EF4-FFF2-40B4-BE49-F238E27FC236}">
                <a16:creationId xmlns:a16="http://schemas.microsoft.com/office/drawing/2014/main" id="{CF001792-FBA7-8FAC-D19C-BD70ACAC909A}"/>
              </a:ext>
            </a:extLst>
          </p:cNvPr>
          <p:cNvSpPr>
            <a:spLocks noGrp="1"/>
          </p:cNvSpPr>
          <p:nvPr>
            <p:ph idx="1"/>
          </p:nvPr>
        </p:nvSpPr>
        <p:spPr>
          <a:xfrm>
            <a:off x="744819" y="1858312"/>
            <a:ext cx="6765026" cy="3974536"/>
          </a:xfrm>
        </p:spPr>
        <p:txBody>
          <a:bodyPr anchor="t">
            <a:normAutofit fontScale="92500" lnSpcReduction="20000"/>
          </a:bodyPr>
          <a:lstStyle/>
          <a:p>
            <a:r>
              <a:rPr lang="el-GR" sz="2400" dirty="0"/>
              <a:t>Κάθε σταθμός βάσης καλύπτει μια συγκεκριμένη γεωγραφική περιοχή, η οποία χωρίζεται σε μία ή περισσότερες κυψέλες</a:t>
            </a:r>
            <a:r>
              <a:rPr lang="en-GB" sz="2400" dirty="0"/>
              <a:t>, </a:t>
            </a:r>
            <a:r>
              <a:rPr lang="el-GR" sz="2400" dirty="0"/>
              <a:t>που </a:t>
            </a:r>
            <a:r>
              <a:rPr lang="el-GR" sz="2400" b="1" dirty="0"/>
              <a:t>παρέχουν </a:t>
            </a:r>
            <a:r>
              <a:rPr lang="el-GR" sz="2400" b="1" dirty="0" err="1"/>
              <a:t>ραδιοσήματα</a:t>
            </a:r>
            <a:r>
              <a:rPr lang="el-GR" sz="2400" b="1" dirty="0"/>
              <a:t> </a:t>
            </a:r>
            <a:r>
              <a:rPr lang="el-GR" sz="2400" dirty="0"/>
              <a:t>σε αυτή. Όσο πιο κοντά βρίσκεται η συσκευή στην κεραία του σταθμού βάσης, τόσο καλύτερη είναι η ποιότητα του σήματος.</a:t>
            </a:r>
            <a:endParaRPr lang="en-GB" sz="2400" dirty="0"/>
          </a:p>
          <a:p>
            <a:r>
              <a:rPr lang="el-GR" sz="2400" dirty="0"/>
              <a:t>Οι κυψέλες </a:t>
            </a:r>
            <a:r>
              <a:rPr lang="el-GR" sz="2400" b="1" dirty="0"/>
              <a:t>επικαλύπτονται ελαφρώς μεταξύ του</a:t>
            </a:r>
            <a:r>
              <a:rPr lang="el-GR" sz="2400" dirty="0"/>
              <a:t>ς, επιτρέποντας στις κινητές συσκευές να </a:t>
            </a:r>
            <a:r>
              <a:rPr lang="el-GR" sz="2400" b="1" dirty="0"/>
              <a:t>μετακινούνται από τη μία κυψέλη στην άλλη </a:t>
            </a:r>
            <a:r>
              <a:rPr lang="el-GR" sz="2400" dirty="0"/>
              <a:t>χωρίς να χάνεται η σύνδεση.</a:t>
            </a:r>
          </a:p>
          <a:p>
            <a:r>
              <a:rPr lang="el-GR" sz="2400" dirty="0"/>
              <a:t>Οι κυψέλες επιτρέπουν στο δίκτυο να </a:t>
            </a:r>
            <a:r>
              <a:rPr lang="el-GR" sz="2400" b="1" dirty="0"/>
              <a:t>διαχειρίζεται πολλούς χρήστες </a:t>
            </a:r>
            <a:r>
              <a:rPr lang="el-GR" sz="2400" dirty="0"/>
              <a:t>σε μεγάλες περιοχές, </a:t>
            </a:r>
            <a:r>
              <a:rPr lang="el-GR" sz="2400" b="1" dirty="0"/>
              <a:t>κατανέμοντας το φορτίο επικοινωνίας σε διαφορετικούς σταθμούς βάσης</a:t>
            </a:r>
            <a:r>
              <a:rPr lang="el-GR" sz="2400" dirty="0"/>
              <a:t>.</a:t>
            </a:r>
          </a:p>
          <a:p>
            <a:endParaRPr lang="el-GR" sz="1800" dirty="0"/>
          </a:p>
        </p:txBody>
      </p:sp>
      <p:sp>
        <p:nvSpPr>
          <p:cNvPr id="13" name="Freeform: Shape 12">
            <a:extLst>
              <a:ext uri="{FF2B5EF4-FFF2-40B4-BE49-F238E27FC236}">
                <a16:creationId xmlns:a16="http://schemas.microsoft.com/office/drawing/2014/main" id="{6C34A46E-7333-4D42-BE18-40B230373D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11786" y="357441"/>
            <a:ext cx="3580214" cy="5994304"/>
          </a:xfrm>
          <a:custGeom>
            <a:avLst/>
            <a:gdLst>
              <a:gd name="connsiteX0" fmla="*/ 3127001 w 3735324"/>
              <a:gd name="connsiteY0" fmla="*/ 0 h 6254002"/>
              <a:gd name="connsiteX1" fmla="*/ 3603212 w 3735324"/>
              <a:gd name="connsiteY1" fmla="*/ 36030 h 6254002"/>
              <a:gd name="connsiteX2" fmla="*/ 3735324 w 3735324"/>
              <a:gd name="connsiteY2" fmla="*/ 59623 h 6254002"/>
              <a:gd name="connsiteX3" fmla="*/ 3735324 w 3735324"/>
              <a:gd name="connsiteY3" fmla="*/ 6194380 h 6254002"/>
              <a:gd name="connsiteX4" fmla="*/ 3603212 w 3735324"/>
              <a:gd name="connsiteY4" fmla="*/ 6217972 h 6254002"/>
              <a:gd name="connsiteX5" fmla="*/ 3127001 w 3735324"/>
              <a:gd name="connsiteY5" fmla="*/ 6254002 h 6254002"/>
              <a:gd name="connsiteX6" fmla="*/ 0 w 3735324"/>
              <a:gd name="connsiteY6" fmla="*/ 3127001 h 6254002"/>
              <a:gd name="connsiteX7" fmla="*/ 3127001 w 3735324"/>
              <a:gd name="connsiteY7" fmla="*/ 0 h 6254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5324" h="6254002">
                <a:moveTo>
                  <a:pt x="3127001" y="0"/>
                </a:moveTo>
                <a:cubicBezTo>
                  <a:pt x="3288907" y="0"/>
                  <a:pt x="3447939" y="12305"/>
                  <a:pt x="3603212" y="36030"/>
                </a:cubicBezTo>
                <a:lnTo>
                  <a:pt x="3735324" y="59623"/>
                </a:lnTo>
                <a:lnTo>
                  <a:pt x="3735324" y="6194380"/>
                </a:lnTo>
                <a:lnTo>
                  <a:pt x="3603212" y="6217972"/>
                </a:lnTo>
                <a:cubicBezTo>
                  <a:pt x="3447939" y="6241698"/>
                  <a:pt x="3288907" y="6254002"/>
                  <a:pt x="3127001" y="6254002"/>
                </a:cubicBezTo>
                <a:cubicBezTo>
                  <a:pt x="1400006" y="6254002"/>
                  <a:pt x="0" y="4853996"/>
                  <a:pt x="0" y="3127001"/>
                </a:cubicBezTo>
                <a:cubicBezTo>
                  <a:pt x="0" y="1400006"/>
                  <a:pt x="1400006" y="0"/>
                  <a:pt x="312700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a:extLst>
              <a:ext uri="{FF2B5EF4-FFF2-40B4-BE49-F238E27FC236}">
                <a16:creationId xmlns:a16="http://schemas.microsoft.com/office/drawing/2014/main" id="{A3753F63-BF34-4FE9-B50C-0831B97A318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437008" y="433142"/>
            <a:ext cx="1122760" cy="6178301"/>
            <a:chOff x="8437008" y="433142"/>
            <a:chExt cx="1122760" cy="6178301"/>
          </a:xfrm>
        </p:grpSpPr>
        <p:sp>
          <p:nvSpPr>
            <p:cNvPr id="6" name="Oval 5">
              <a:extLst>
                <a:ext uri="{FF2B5EF4-FFF2-40B4-BE49-F238E27FC236}">
                  <a16:creationId xmlns:a16="http://schemas.microsoft.com/office/drawing/2014/main" id="{5D6AD2B4-0168-4100-8C04-ECE2BB5A51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575160" y="825175"/>
              <a:ext cx="466441" cy="466441"/>
            </a:xfrm>
            <a:prstGeom prst="ellipse">
              <a:avLst/>
            </a:prstGeom>
            <a:solidFill>
              <a:schemeClr val="tx2">
                <a:lumMod val="50000"/>
                <a:lumOff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2099DCA1-B66C-462E-AE74-BEC2D2731C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28229" y="433142"/>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FE2411A5-5D5E-4552-BA2E-C52771F1C6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437008" y="5719481"/>
              <a:ext cx="226735" cy="226735"/>
            </a:xfrm>
            <a:prstGeom prst="ellipse">
              <a:avLst/>
            </a:prstGeom>
            <a:solidFill>
              <a:schemeClr val="tx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2A4A39DC-2A41-45B0-8720-28A0B7FB1F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093327" y="6145002"/>
              <a:ext cx="466441" cy="46644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18E7B6DF-EAE5-4B26-B4C3-485E6DF8C4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896963" y="5817067"/>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Picture 3">
            <a:extLst>
              <a:ext uri="{FF2B5EF4-FFF2-40B4-BE49-F238E27FC236}">
                <a16:creationId xmlns:a16="http://schemas.microsoft.com/office/drawing/2014/main" id="{FA03E97C-EB26-A49D-65DF-450BC0B27597}"/>
              </a:ext>
            </a:extLst>
          </p:cNvPr>
          <p:cNvPicPr>
            <a:picLocks noChangeAspect="1"/>
          </p:cNvPicPr>
          <p:nvPr/>
        </p:nvPicPr>
        <p:blipFill>
          <a:blip r:embed="rId2"/>
          <a:stretch>
            <a:fillRect/>
          </a:stretch>
        </p:blipFill>
        <p:spPr>
          <a:xfrm>
            <a:off x="9312748" y="1771690"/>
            <a:ext cx="2653109" cy="3234612"/>
          </a:xfrm>
          <a:prstGeom prst="rect">
            <a:avLst/>
          </a:prstGeom>
        </p:spPr>
      </p:pic>
    </p:spTree>
    <p:extLst>
      <p:ext uri="{BB962C8B-B14F-4D97-AF65-F5344CB8AC3E}">
        <p14:creationId xmlns:p14="http://schemas.microsoft.com/office/powerpoint/2010/main" val="33816318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65772B6-7417-F72D-41B1-08D3AD0AE30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9F610C-0EDF-8A37-D816-FA1AF68417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10" name="Rectangle 9">
            <a:extLst>
              <a:ext uri="{FF2B5EF4-FFF2-40B4-BE49-F238E27FC236}">
                <a16:creationId xmlns:a16="http://schemas.microsoft.com/office/drawing/2014/main" id="{C6179729-DCA0-17C0-AD80-958BBCC763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Gill Sans Nova"/>
              <a:ea typeface="+mn-ea"/>
              <a:cs typeface="+mn-cs"/>
            </a:endParaRPr>
          </a:p>
        </p:txBody>
      </p:sp>
      <p:pic>
        <p:nvPicPr>
          <p:cNvPr id="30" name="Picture 29" descr="A close-up of a wave&#10;&#10;Description automatically generated">
            <a:extLst>
              <a:ext uri="{FF2B5EF4-FFF2-40B4-BE49-F238E27FC236}">
                <a16:creationId xmlns:a16="http://schemas.microsoft.com/office/drawing/2014/main" id="{C4FBDEF9-35B7-B9D1-5466-A73123A76C89}"/>
              </a:ext>
            </a:extLst>
          </p:cNvPr>
          <p:cNvPicPr>
            <a:picLocks noChangeAspect="1"/>
          </p:cNvPicPr>
          <p:nvPr/>
        </p:nvPicPr>
        <p:blipFill>
          <a:blip r:embed="rId2">
            <a:alphaModFix amt="40000"/>
          </a:blip>
          <a:srcRect t="12769" r="-1" b="-1"/>
          <a:stretch/>
        </p:blipFill>
        <p:spPr>
          <a:xfrm>
            <a:off x="1525" y="10"/>
            <a:ext cx="12188951" cy="6857990"/>
          </a:xfrm>
          <a:prstGeom prst="rect">
            <a:avLst/>
          </a:prstGeom>
        </p:spPr>
      </p:pic>
      <p:grpSp>
        <p:nvGrpSpPr>
          <p:cNvPr id="31" name="decorative circle">
            <a:extLst>
              <a:ext uri="{FF2B5EF4-FFF2-40B4-BE49-F238E27FC236}">
                <a16:creationId xmlns:a16="http://schemas.microsoft.com/office/drawing/2014/main" id="{3785048B-4867-DCB7-9397-D26FEC8D878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4102" y="236341"/>
            <a:ext cx="11340713" cy="5464029"/>
            <a:chOff x="314102" y="236341"/>
            <a:chExt cx="11340713" cy="5464029"/>
          </a:xfrm>
        </p:grpSpPr>
        <p:sp>
          <p:nvSpPr>
            <p:cNvPr id="32" name="Oval 31">
              <a:extLst>
                <a:ext uri="{FF2B5EF4-FFF2-40B4-BE49-F238E27FC236}">
                  <a16:creationId xmlns:a16="http://schemas.microsoft.com/office/drawing/2014/main" id="{A843DBFD-B26E-2751-89AE-4FE27B1B52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0448" y="3803994"/>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14" name="Oval 13">
              <a:extLst>
                <a:ext uri="{FF2B5EF4-FFF2-40B4-BE49-F238E27FC236}">
                  <a16:creationId xmlns:a16="http://schemas.microsoft.com/office/drawing/2014/main" id="{7F4E42A2-9911-8232-60E9-04393E1878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4102" y="3044381"/>
              <a:ext cx="226735" cy="226735"/>
            </a:xfrm>
            <a:prstGeom prst="ellipse">
              <a:avLst/>
            </a:prstGeom>
            <a:solidFill>
              <a:schemeClr val="tx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15" name="Oval 14">
              <a:extLst>
                <a:ext uri="{FF2B5EF4-FFF2-40B4-BE49-F238E27FC236}">
                  <a16:creationId xmlns:a16="http://schemas.microsoft.com/office/drawing/2014/main" id="{34F0D251-8728-E644-0A0B-909E8669AE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88374" y="386135"/>
              <a:ext cx="466441" cy="466441"/>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3" name="Oval 32">
              <a:extLst>
                <a:ext uri="{FF2B5EF4-FFF2-40B4-BE49-F238E27FC236}">
                  <a16:creationId xmlns:a16="http://schemas.microsoft.com/office/drawing/2014/main" id="{24EB0A80-3C97-CB25-7379-9D76EF854A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65714" y="236341"/>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4" name="Oval 33">
              <a:extLst>
                <a:ext uri="{FF2B5EF4-FFF2-40B4-BE49-F238E27FC236}">
                  <a16:creationId xmlns:a16="http://schemas.microsoft.com/office/drawing/2014/main" id="{B37CCA64-1B80-5C8E-2939-D5DC4A002C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1535" y="2516671"/>
              <a:ext cx="466441" cy="46644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5" name="Oval 34">
              <a:extLst>
                <a:ext uri="{FF2B5EF4-FFF2-40B4-BE49-F238E27FC236}">
                  <a16:creationId xmlns:a16="http://schemas.microsoft.com/office/drawing/2014/main" id="{9CF46669-1BCB-ED1C-72E3-8337325BB3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30142" y="458803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6" name="Oval 35">
              <a:extLst>
                <a:ext uri="{FF2B5EF4-FFF2-40B4-BE49-F238E27FC236}">
                  <a16:creationId xmlns:a16="http://schemas.microsoft.com/office/drawing/2014/main" id="{81644950-D2EA-1FE3-F0E9-8A6B1F634C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02046" y="5394590"/>
              <a:ext cx="305780" cy="30578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7" name="Oval 36">
              <a:extLst>
                <a:ext uri="{FF2B5EF4-FFF2-40B4-BE49-F238E27FC236}">
                  <a16:creationId xmlns:a16="http://schemas.microsoft.com/office/drawing/2014/main" id="{92C0D0A8-A300-7443-9140-26566CD5A7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08287" y="5160714"/>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7BE067A1-10A6-1000-F333-DD0993B8598D}"/>
              </a:ext>
            </a:extLst>
          </p:cNvPr>
          <p:cNvSpPr>
            <a:spLocks noGrp="1"/>
          </p:cNvSpPr>
          <p:nvPr>
            <p:ph type="ctrTitle"/>
          </p:nvPr>
        </p:nvSpPr>
        <p:spPr>
          <a:xfrm>
            <a:off x="2562605" y="1463474"/>
            <a:ext cx="7063739" cy="2387600"/>
          </a:xfrm>
        </p:spPr>
        <p:txBody>
          <a:bodyPr>
            <a:normAutofit/>
          </a:bodyPr>
          <a:lstStyle/>
          <a:p>
            <a:r>
              <a:rPr lang="el-GR" dirty="0">
                <a:solidFill>
                  <a:srgbClr val="FFFFFF"/>
                </a:solidFill>
              </a:rPr>
              <a:t>Ανάπτυξη του Περιβάλλοντος Προσομοίωσης</a:t>
            </a:r>
          </a:p>
        </p:txBody>
      </p:sp>
    </p:spTree>
    <p:extLst>
      <p:ext uri="{BB962C8B-B14F-4D97-AF65-F5344CB8AC3E}">
        <p14:creationId xmlns:p14="http://schemas.microsoft.com/office/powerpoint/2010/main" val="20769947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500FBE6-DECB-1225-83F7-A68F91F0FA48}"/>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1379C7A-B895-CF0B-1E3E-13E75B851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1" name="Rectangle 10">
            <a:extLst>
              <a:ext uri="{FF2B5EF4-FFF2-40B4-BE49-F238E27FC236}">
                <a16:creationId xmlns:a16="http://schemas.microsoft.com/office/drawing/2014/main" id="{32A541D9-B810-4988-76D0-72A0A3CAA8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FFFFFF"/>
              </a:solidFill>
              <a:effectLst/>
              <a:uLnTx/>
              <a:uFillTx/>
              <a:latin typeface="Gill Sans Nova"/>
              <a:ea typeface="+mn-ea"/>
              <a:cs typeface="+mn-cs"/>
            </a:endParaRPr>
          </a:p>
        </p:txBody>
      </p:sp>
      <p:sp>
        <p:nvSpPr>
          <p:cNvPr id="2" name="Title 1">
            <a:extLst>
              <a:ext uri="{FF2B5EF4-FFF2-40B4-BE49-F238E27FC236}">
                <a16:creationId xmlns:a16="http://schemas.microsoft.com/office/drawing/2014/main" id="{2DCEF2D2-F5DD-14C4-7481-520520722689}"/>
              </a:ext>
            </a:extLst>
          </p:cNvPr>
          <p:cNvSpPr>
            <a:spLocks noGrp="1"/>
          </p:cNvSpPr>
          <p:nvPr>
            <p:ph type="title"/>
          </p:nvPr>
        </p:nvSpPr>
        <p:spPr>
          <a:xfrm>
            <a:off x="837291" y="-1153160"/>
            <a:ext cx="6168331" cy="2493876"/>
          </a:xfrm>
        </p:spPr>
        <p:txBody>
          <a:bodyPr anchor="b">
            <a:normAutofit/>
          </a:bodyPr>
          <a:lstStyle/>
          <a:p>
            <a:r>
              <a:rPr lang="el-GR" sz="4400" dirty="0"/>
              <a:t>1. Κλάση </a:t>
            </a:r>
            <a:r>
              <a:rPr lang="en-GB" sz="4400" dirty="0" err="1"/>
              <a:t>BaseStation</a:t>
            </a:r>
            <a:r>
              <a:rPr lang="en-GB" sz="4400" dirty="0"/>
              <a:t> </a:t>
            </a:r>
            <a:endParaRPr lang="el-GR" sz="4400" dirty="0"/>
          </a:p>
        </p:txBody>
      </p:sp>
      <p:sp>
        <p:nvSpPr>
          <p:cNvPr id="13" name="Oval 1">
            <a:extLst>
              <a:ext uri="{FF2B5EF4-FFF2-40B4-BE49-F238E27FC236}">
                <a16:creationId xmlns:a16="http://schemas.microsoft.com/office/drawing/2014/main" id="{77EF2D16-C3E0-29FF-BD87-973C3AD36E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5594" y="262979"/>
            <a:ext cx="3522397" cy="352239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grpSp>
        <p:nvGrpSpPr>
          <p:cNvPr id="15" name="decorative circles">
            <a:extLst>
              <a:ext uri="{FF2B5EF4-FFF2-40B4-BE49-F238E27FC236}">
                <a16:creationId xmlns:a16="http://schemas.microsoft.com/office/drawing/2014/main" id="{704EBC84-400D-D150-5D4F-7DA0B2FE7E0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32461" y="220046"/>
            <a:ext cx="3455469" cy="4723381"/>
            <a:chOff x="8132461" y="220046"/>
            <a:chExt cx="3455469" cy="4723381"/>
          </a:xfrm>
        </p:grpSpPr>
        <p:sp>
          <p:nvSpPr>
            <p:cNvPr id="6" name="Oval 5">
              <a:extLst>
                <a:ext uri="{FF2B5EF4-FFF2-40B4-BE49-F238E27FC236}">
                  <a16:creationId xmlns:a16="http://schemas.microsoft.com/office/drawing/2014/main" id="{CAC7A065-6FCB-3157-4A8A-748838F949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261858" y="4716692"/>
              <a:ext cx="226735" cy="226735"/>
            </a:xfrm>
            <a:prstGeom prst="ellipse">
              <a:avLst/>
            </a:prstGeom>
            <a:solidFill>
              <a:srgbClr val="9744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7" name="Oval 6">
              <a:extLst>
                <a:ext uri="{FF2B5EF4-FFF2-40B4-BE49-F238E27FC236}">
                  <a16:creationId xmlns:a16="http://schemas.microsoft.com/office/drawing/2014/main" id="{555C45F4-A64E-031D-3698-D929575E81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23226" y="4129921"/>
              <a:ext cx="466441" cy="46644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8" name="Oval 7">
              <a:extLst>
                <a:ext uri="{FF2B5EF4-FFF2-40B4-BE49-F238E27FC236}">
                  <a16:creationId xmlns:a16="http://schemas.microsoft.com/office/drawing/2014/main" id="{94E840A0-9564-3BC9-7797-700B979D71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32461" y="4194350"/>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10" name="Oval 9">
              <a:extLst>
                <a:ext uri="{FF2B5EF4-FFF2-40B4-BE49-F238E27FC236}">
                  <a16:creationId xmlns:a16="http://schemas.microsoft.com/office/drawing/2014/main" id="{9A34832A-9426-DA08-F0EE-9E9935B93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04744" y="220046"/>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12" name="Oval 11">
              <a:extLst>
                <a:ext uri="{FF2B5EF4-FFF2-40B4-BE49-F238E27FC236}">
                  <a16:creationId xmlns:a16="http://schemas.microsoft.com/office/drawing/2014/main" id="{87356915-5B28-AB38-DD0C-461424CE63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41342" y="397053"/>
              <a:ext cx="346588" cy="34658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21" name="Oval 20">
              <a:extLst>
                <a:ext uri="{FF2B5EF4-FFF2-40B4-BE49-F238E27FC236}">
                  <a16:creationId xmlns:a16="http://schemas.microsoft.com/office/drawing/2014/main" id="{06FA8E33-614D-B6F1-1B27-79C4F68326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41342" y="108730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grpSp>
      <p:pic>
        <p:nvPicPr>
          <p:cNvPr id="23" name="Graphic 22">
            <a:extLst>
              <a:ext uri="{FF2B5EF4-FFF2-40B4-BE49-F238E27FC236}">
                <a16:creationId xmlns:a16="http://schemas.microsoft.com/office/drawing/2014/main" id="{0C578F6A-521C-166F-4583-684FF4521F1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duotone>
              <a:schemeClr val="accent5">
                <a:shade val="45000"/>
                <a:satMod val="135000"/>
              </a:schemeClr>
              <a:prstClr val="white"/>
            </a:duotone>
            <a:extLst>
              <a:ext uri="{28A0092B-C50C-407E-A947-70E740481C1C}">
                <a14:useLocalDpi xmlns:a14="http://schemas.microsoft.com/office/drawing/2010/main" val="0"/>
              </a:ext>
              <a:ext uri="{96DAC541-7B7A-43D3-8B79-37D633B846F1}">
                <asvg:svgBlip xmlns:asvg="http://schemas.microsoft.com/office/drawing/2016/SVG/main" r:embed="rId3"/>
              </a:ext>
            </a:extLst>
          </a:blip>
          <a:srcRect l="18631" t="16485" r="52721" b="17441"/>
          <a:stretch/>
        </p:blipFill>
        <p:spPr>
          <a:xfrm>
            <a:off x="10854666" y="743641"/>
            <a:ext cx="1334286" cy="3077509"/>
          </a:xfrm>
          <a:prstGeom prst="rect">
            <a:avLst/>
          </a:prstGeom>
        </p:spPr>
      </p:pic>
      <p:sp>
        <p:nvSpPr>
          <p:cNvPr id="25" name="Oval 2">
            <a:extLst>
              <a:ext uri="{FF2B5EF4-FFF2-40B4-BE49-F238E27FC236}">
                <a16:creationId xmlns:a16="http://schemas.microsoft.com/office/drawing/2014/main" id="{3B949C01-99EF-2862-770E-B16E04C90F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48847" y="3890057"/>
            <a:ext cx="3043153" cy="2967943"/>
          </a:xfrm>
          <a:custGeom>
            <a:avLst/>
            <a:gdLst>
              <a:gd name="connsiteX0" fmla="*/ 2361523 w 4051324"/>
              <a:gd name="connsiteY0" fmla="*/ 0 h 3951198"/>
              <a:gd name="connsiteX1" fmla="*/ 4031372 w 4051324"/>
              <a:gd name="connsiteY1" fmla="*/ 691674 h 3951198"/>
              <a:gd name="connsiteX2" fmla="*/ 4051324 w 4051324"/>
              <a:gd name="connsiteY2" fmla="*/ 713627 h 3951198"/>
              <a:gd name="connsiteX3" fmla="*/ 4051324 w 4051324"/>
              <a:gd name="connsiteY3" fmla="*/ 3951198 h 3951198"/>
              <a:gd name="connsiteX4" fmla="*/ 618807 w 4051324"/>
              <a:gd name="connsiteY4" fmla="*/ 3951198 h 3951198"/>
              <a:gd name="connsiteX5" fmla="*/ 539257 w 4051324"/>
              <a:gd name="connsiteY5" fmla="*/ 3863671 h 3951198"/>
              <a:gd name="connsiteX6" fmla="*/ 0 w 4051324"/>
              <a:gd name="connsiteY6" fmla="*/ 2361523 h 3951198"/>
              <a:gd name="connsiteX7" fmla="*/ 2361523 w 4051324"/>
              <a:gd name="connsiteY7" fmla="*/ 0 h 3951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51324" h="3951198">
                <a:moveTo>
                  <a:pt x="2361523" y="0"/>
                </a:moveTo>
                <a:cubicBezTo>
                  <a:pt x="3013639" y="0"/>
                  <a:pt x="3604020" y="264323"/>
                  <a:pt x="4031372" y="691674"/>
                </a:cubicBezTo>
                <a:lnTo>
                  <a:pt x="4051324" y="713627"/>
                </a:lnTo>
                <a:lnTo>
                  <a:pt x="4051324" y="3951198"/>
                </a:lnTo>
                <a:lnTo>
                  <a:pt x="618807" y="3951198"/>
                </a:lnTo>
                <a:lnTo>
                  <a:pt x="539257" y="3863671"/>
                </a:lnTo>
                <a:cubicBezTo>
                  <a:pt x="202372" y="3455461"/>
                  <a:pt x="0" y="2932125"/>
                  <a:pt x="0" y="2361523"/>
                </a:cubicBezTo>
                <a:cubicBezTo>
                  <a:pt x="0" y="1057290"/>
                  <a:pt x="1057290" y="0"/>
                  <a:pt x="2361523" y="0"/>
                </a:cubicBez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pic>
        <p:nvPicPr>
          <p:cNvPr id="27" name="Graphic 26">
            <a:extLst>
              <a:ext uri="{FF2B5EF4-FFF2-40B4-BE49-F238E27FC236}">
                <a16:creationId xmlns:a16="http://schemas.microsoft.com/office/drawing/2014/main" id="{6CD9347D-CED7-047B-55A2-A17229994EF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prstClr val="black"/>
              <a:schemeClr val="accent3">
                <a:tint val="45000"/>
                <a:satMod val="400000"/>
              </a:schemeClr>
            </a:duotone>
            <a:extLst>
              <a:ext uri="{28A0092B-C50C-407E-A947-70E740481C1C}">
                <a14:useLocalDpi xmlns:a14="http://schemas.microsoft.com/office/drawing/2010/main" val="0"/>
              </a:ext>
              <a:ext uri="{96DAC541-7B7A-43D3-8B79-37D633B846F1}">
                <asvg:svgBlip xmlns:asvg="http://schemas.microsoft.com/office/drawing/2016/SVG/main" r:embed="rId5"/>
              </a:ext>
            </a:extLst>
          </a:blip>
          <a:srcRect l="22954" t="12147" r="12287" b="24733"/>
          <a:stretch/>
        </p:blipFill>
        <p:spPr>
          <a:xfrm flipH="1">
            <a:off x="9147042" y="3890057"/>
            <a:ext cx="3044958" cy="2967943"/>
          </a:xfrm>
          <a:prstGeom prst="rect">
            <a:avLst/>
          </a:prstGeom>
        </p:spPr>
      </p:pic>
      <p:sp>
        <p:nvSpPr>
          <p:cNvPr id="28" name="Content Placeholder 2">
            <a:extLst>
              <a:ext uri="{FF2B5EF4-FFF2-40B4-BE49-F238E27FC236}">
                <a16:creationId xmlns:a16="http://schemas.microsoft.com/office/drawing/2014/main" id="{3684EC8F-FAE1-11CB-E0D5-06576F6E10B5}"/>
              </a:ext>
            </a:extLst>
          </p:cNvPr>
          <p:cNvSpPr>
            <a:spLocks noGrp="1"/>
          </p:cNvSpPr>
          <p:nvPr>
            <p:ph idx="1"/>
          </p:nvPr>
        </p:nvSpPr>
        <p:spPr>
          <a:xfrm>
            <a:off x="705304" y="1698264"/>
            <a:ext cx="6228382" cy="4802187"/>
          </a:xfrm>
        </p:spPr>
        <p:txBody>
          <a:bodyPr>
            <a:normAutofit fontScale="92500" lnSpcReduction="10000"/>
          </a:bodyPr>
          <a:lstStyle/>
          <a:p>
            <a:pPr>
              <a:buFont typeface="Wingdings" panose="05000000000000000000" pitchFamily="2" charset="2"/>
              <a:buChar char="v"/>
            </a:pPr>
            <a:r>
              <a:rPr lang="el-GR" sz="2000" dirty="0"/>
              <a:t>Για να προσομοιώσουμε την λειτουργία του σταθμού βάσης, ορίσαμε την κλάση </a:t>
            </a:r>
            <a:r>
              <a:rPr lang="el-GR" sz="2000" dirty="0" err="1"/>
              <a:t>BaseStation</a:t>
            </a:r>
            <a:r>
              <a:rPr lang="el-GR" sz="2000" dirty="0"/>
              <a:t>, η οποία αναπαριστά έναν σταθμό βάσης σε ένα δίκτυο κινητής τηλεφωνίας και </a:t>
            </a:r>
            <a:r>
              <a:rPr lang="el-GR" sz="2000" b="1" dirty="0"/>
              <a:t>περιλαμβάνει διάφορα χαρακτηριστικά και μεθόδου</a:t>
            </a:r>
            <a:r>
              <a:rPr lang="el-GR" sz="2000" dirty="0"/>
              <a:t>ς, όπως </a:t>
            </a:r>
            <a:r>
              <a:rPr lang="el-GR" sz="2000" b="1" dirty="0"/>
              <a:t>η τοποθεσία του</a:t>
            </a:r>
            <a:r>
              <a:rPr lang="el-GR" sz="2000" dirty="0"/>
              <a:t>, </a:t>
            </a:r>
            <a:r>
              <a:rPr lang="el-GR" sz="2000" b="1" dirty="0"/>
              <a:t>η ακτίνα κάλυψης</a:t>
            </a:r>
            <a:r>
              <a:rPr lang="el-GR" sz="2000" dirty="0"/>
              <a:t>, </a:t>
            </a:r>
            <a:r>
              <a:rPr lang="el-GR" sz="2000" b="1" dirty="0"/>
              <a:t>το φορτίο </a:t>
            </a:r>
            <a:r>
              <a:rPr lang="el-GR" sz="2000" dirty="0"/>
              <a:t>και </a:t>
            </a:r>
            <a:r>
              <a:rPr lang="el-GR" sz="2000" b="1" dirty="0"/>
              <a:t>η ισχύς σήματος</a:t>
            </a:r>
            <a:r>
              <a:rPr lang="el-GR" sz="2000" dirty="0"/>
              <a:t>.</a:t>
            </a:r>
          </a:p>
          <a:p>
            <a:pPr>
              <a:buFont typeface="Wingdings" panose="05000000000000000000" pitchFamily="2" charset="2"/>
              <a:buChar char="v"/>
            </a:pPr>
            <a:r>
              <a:rPr lang="el-GR" sz="2000" dirty="0"/>
              <a:t>Βάλαμε αρχικό τυχαίο φορτίο στο σταθμό βάσης, ώστε να προσομοιώσει τις πραγματικές διακυμάνσεις στην κυκλοφορία του δικτύου, δηλαδή την  άνιση κατανομή των πόρων του δικτύου, καθώς οι σταθμοί βάσης δεν διαχειρίζονται την ίδια ποσότητα δεδομένων. </a:t>
            </a:r>
          </a:p>
          <a:p>
            <a:pPr>
              <a:buFont typeface="Wingdings" panose="05000000000000000000" pitchFamily="2" charset="2"/>
              <a:buChar char="v"/>
            </a:pPr>
            <a:r>
              <a:rPr lang="el-GR" sz="2000" dirty="0"/>
              <a:t>Ορίσαμε την ακτίνα κάλυψης του σταθμού βάσης, ώστε να </a:t>
            </a:r>
            <a:r>
              <a:rPr lang="el-GR" sz="2000" b="1" dirty="0"/>
              <a:t>προσομοιώσει περιοχές επικάλυψης</a:t>
            </a:r>
            <a:r>
              <a:rPr lang="el-GR" sz="2000" dirty="0"/>
              <a:t>, δημιουργώντας ευκαιρίες για εναλλαγές κυττάρων. </a:t>
            </a:r>
          </a:p>
          <a:p>
            <a:pPr>
              <a:buFont typeface="Wingdings" panose="05000000000000000000" pitchFamily="2" charset="2"/>
              <a:buChar char="v"/>
            </a:pPr>
            <a:r>
              <a:rPr lang="el-GR" sz="2000" dirty="0"/>
              <a:t>Οι </a:t>
            </a:r>
            <a:r>
              <a:rPr lang="el-GR" sz="2000" b="1" dirty="0"/>
              <a:t>διακυμάνσεις του φορτίου </a:t>
            </a:r>
            <a:r>
              <a:rPr lang="el-GR" sz="2000" dirty="0"/>
              <a:t>προσομοιώνουν το πώς οι </a:t>
            </a:r>
            <a:r>
              <a:rPr lang="el-GR" sz="2000" b="1" dirty="0"/>
              <a:t>συνθήκες κυκλοφορίας αλλάζουν δυναμικά</a:t>
            </a:r>
            <a:r>
              <a:rPr lang="el-GR" sz="2000" dirty="0"/>
              <a:t>, </a:t>
            </a:r>
            <a:r>
              <a:rPr lang="el-GR" sz="2000" b="1" dirty="0"/>
              <a:t>επηρεάζοντας την ποιότητα του σήματος </a:t>
            </a:r>
            <a:r>
              <a:rPr lang="el-GR" sz="2000" dirty="0"/>
              <a:t>και τη </a:t>
            </a:r>
            <a:r>
              <a:rPr lang="el-GR" sz="2000" b="1" dirty="0"/>
              <a:t>διαθεσιμότητα πόρων</a:t>
            </a:r>
            <a:r>
              <a:rPr lang="el-GR" sz="2000" dirty="0"/>
              <a:t>.</a:t>
            </a:r>
            <a:endParaRPr lang="en-GB" sz="2000" dirty="0"/>
          </a:p>
        </p:txBody>
      </p:sp>
      <p:pic>
        <p:nvPicPr>
          <p:cNvPr id="3" name="Picture 2" descr="A diagram of a wifi signal&#10;&#10;Description automatically generated with medium confidence">
            <a:extLst>
              <a:ext uri="{FF2B5EF4-FFF2-40B4-BE49-F238E27FC236}">
                <a16:creationId xmlns:a16="http://schemas.microsoft.com/office/drawing/2014/main" id="{3643C121-8D65-C15F-DB1B-02E3C4A67737}"/>
              </a:ext>
            </a:extLst>
          </p:cNvPr>
          <p:cNvPicPr>
            <a:picLocks noChangeAspect="1"/>
          </p:cNvPicPr>
          <p:nvPr/>
        </p:nvPicPr>
        <p:blipFill>
          <a:blip r:embed="rId6">
            <a:extLst>
              <a:ext uri="{28A0092B-C50C-407E-A947-70E740481C1C}">
                <a14:useLocalDpi xmlns:a14="http://schemas.microsoft.com/office/drawing/2010/main" val="0"/>
              </a:ext>
            </a:extLst>
          </a:blip>
          <a:srcRect l="61629"/>
          <a:stretch/>
        </p:blipFill>
        <p:spPr>
          <a:xfrm>
            <a:off x="7954292" y="996985"/>
            <a:ext cx="1871358" cy="2054384"/>
          </a:xfrm>
          <a:prstGeom prst="rect">
            <a:avLst/>
          </a:prstGeom>
        </p:spPr>
      </p:pic>
    </p:spTree>
    <p:extLst>
      <p:ext uri="{BB962C8B-B14F-4D97-AF65-F5344CB8AC3E}">
        <p14:creationId xmlns:p14="http://schemas.microsoft.com/office/powerpoint/2010/main" val="37555222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30193-CDB0-976F-6B3E-5F79E4BECE98}"/>
              </a:ext>
            </a:extLst>
          </p:cNvPr>
          <p:cNvSpPr>
            <a:spLocks noGrp="1"/>
          </p:cNvSpPr>
          <p:nvPr>
            <p:ph type="title"/>
          </p:nvPr>
        </p:nvSpPr>
        <p:spPr>
          <a:xfrm>
            <a:off x="780415" y="76201"/>
            <a:ext cx="10659110" cy="1325563"/>
          </a:xfrm>
        </p:spPr>
        <p:txBody>
          <a:bodyPr/>
          <a:lstStyle/>
          <a:p>
            <a:pPr marL="0" indent="0">
              <a:buNone/>
            </a:pPr>
            <a:r>
              <a:rPr lang="el-GR" dirty="0"/>
              <a:t>Μέθοδος __</a:t>
            </a:r>
            <a:r>
              <a:rPr lang="el-GR" dirty="0" err="1"/>
              <a:t>init</a:t>
            </a:r>
            <a:r>
              <a:rPr lang="el-GR" dirty="0"/>
              <a:t>__ (Αρχικοποίηση)</a:t>
            </a:r>
            <a:endParaRPr lang="en-GB" dirty="0"/>
          </a:p>
        </p:txBody>
      </p:sp>
      <p:sp>
        <p:nvSpPr>
          <p:cNvPr id="3" name="Content Placeholder 2">
            <a:extLst>
              <a:ext uri="{FF2B5EF4-FFF2-40B4-BE49-F238E27FC236}">
                <a16:creationId xmlns:a16="http://schemas.microsoft.com/office/drawing/2014/main" id="{D84C83F4-E968-93C8-F044-D0FDA5F71080}"/>
              </a:ext>
            </a:extLst>
          </p:cNvPr>
          <p:cNvSpPr>
            <a:spLocks noGrp="1"/>
          </p:cNvSpPr>
          <p:nvPr>
            <p:ph idx="1"/>
          </p:nvPr>
        </p:nvSpPr>
        <p:spPr>
          <a:xfrm>
            <a:off x="780415" y="1339664"/>
            <a:ext cx="10982325" cy="4879975"/>
          </a:xfrm>
        </p:spPr>
        <p:txBody>
          <a:bodyPr>
            <a:normAutofit/>
          </a:bodyPr>
          <a:lstStyle/>
          <a:p>
            <a:r>
              <a:rPr lang="el-GR" dirty="0"/>
              <a:t>Μέθοδος κατασκευής (</a:t>
            </a:r>
            <a:r>
              <a:rPr lang="el-GR" dirty="0" err="1"/>
              <a:t>constructor</a:t>
            </a:r>
            <a:r>
              <a:rPr lang="el-GR" dirty="0"/>
              <a:t>) που καλείται όταν δημιουργείται ένα νέο αντικείμενο της κλάσης </a:t>
            </a:r>
            <a:r>
              <a:rPr lang="el-GR" dirty="0" err="1"/>
              <a:t>BaseStation</a:t>
            </a:r>
            <a:r>
              <a:rPr lang="el-GR" dirty="0"/>
              <a:t>.</a:t>
            </a:r>
            <a:r>
              <a:rPr lang="en-GB" dirty="0"/>
              <a:t> </a:t>
            </a:r>
            <a:r>
              <a:rPr lang="el-GR" dirty="0"/>
              <a:t>Δημιουργούμε έναν σταθμό βάσης με</a:t>
            </a:r>
            <a:r>
              <a:rPr lang="en-GB" dirty="0"/>
              <a:t>:</a:t>
            </a:r>
          </a:p>
          <a:p>
            <a:r>
              <a:rPr lang="el-GR" dirty="0" err="1"/>
              <a:t>id</a:t>
            </a:r>
            <a:r>
              <a:rPr lang="el-GR" dirty="0"/>
              <a:t>: Το μοναδικό αναγνωριστικό του σταθμού βάσης.</a:t>
            </a:r>
          </a:p>
          <a:p>
            <a:r>
              <a:rPr lang="el-GR" dirty="0"/>
              <a:t>x και y: Οι συντεταγμένες της θέσης του σταθμού στο δίκτυο.</a:t>
            </a:r>
          </a:p>
          <a:p>
            <a:r>
              <a:rPr lang="el-GR" dirty="0" err="1"/>
              <a:t>coverage_radius</a:t>
            </a:r>
            <a:r>
              <a:rPr lang="el-GR" dirty="0"/>
              <a:t>: Η ακτίνα κάλυψης του σταθμού βάσης, με προεπιλεγμένη τιμή το 65.</a:t>
            </a:r>
          </a:p>
          <a:p>
            <a:r>
              <a:rPr lang="el-GR" dirty="0" err="1"/>
              <a:t>self.load</a:t>
            </a:r>
            <a:r>
              <a:rPr lang="el-GR" dirty="0"/>
              <a:t>: Το φορτίο του σταθμού βάσης αρχικοποιείται με μια τυχαία τιμή μεταξύ 0.1 και 1.0, για να αναπαραστήσει πόσο "φορτωμένος" είναι ο σταθμός.</a:t>
            </a:r>
          </a:p>
          <a:p>
            <a:r>
              <a:rPr lang="el-GR" dirty="0" err="1"/>
              <a:t>self.connected_ues</a:t>
            </a:r>
            <a:r>
              <a:rPr lang="el-GR" dirty="0"/>
              <a:t>: Αρχικός αριθμός συνδεδεμένων συσκευών (ξεκινά από 0).</a:t>
            </a:r>
          </a:p>
          <a:p>
            <a:endParaRPr lang="el-GR" dirty="0"/>
          </a:p>
        </p:txBody>
      </p:sp>
      <p:pic>
        <p:nvPicPr>
          <p:cNvPr id="5" name="Picture 4" descr="A colorful chain with text&#10;&#10;Description automatically generated">
            <a:extLst>
              <a:ext uri="{FF2B5EF4-FFF2-40B4-BE49-F238E27FC236}">
                <a16:creationId xmlns:a16="http://schemas.microsoft.com/office/drawing/2014/main" id="{D50C5D32-BDCC-EBBD-2F8E-BC119232506D}"/>
              </a:ext>
            </a:extLst>
          </p:cNvPr>
          <p:cNvPicPr>
            <a:picLocks noChangeAspect="1"/>
          </p:cNvPicPr>
          <p:nvPr/>
        </p:nvPicPr>
        <p:blipFill>
          <a:blip r:embed="rId2">
            <a:extLst>
              <a:ext uri="{28A0092B-C50C-407E-A947-70E740481C1C}">
                <a14:useLocalDpi xmlns:a14="http://schemas.microsoft.com/office/drawing/2010/main" val="0"/>
              </a:ext>
            </a:extLst>
          </a:blip>
          <a:srcRect t="25812"/>
          <a:stretch/>
        </p:blipFill>
        <p:spPr>
          <a:xfrm>
            <a:off x="5942965" y="4441638"/>
            <a:ext cx="5819775" cy="2416362"/>
          </a:xfrm>
          <a:prstGeom prst="rect">
            <a:avLst/>
          </a:prstGeom>
        </p:spPr>
      </p:pic>
    </p:spTree>
    <p:extLst>
      <p:ext uri="{BB962C8B-B14F-4D97-AF65-F5344CB8AC3E}">
        <p14:creationId xmlns:p14="http://schemas.microsoft.com/office/powerpoint/2010/main" val="4439946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99B5B3C5-A599-465B-B2B9-866E8B2087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1"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25C84982-7DD0-43B1-8A2D-BFA4DF1B4E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1" cy="68580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grpSp>
        <p:nvGrpSpPr>
          <p:cNvPr id="32" name="Decorative Circles">
            <a:extLst>
              <a:ext uri="{FF2B5EF4-FFF2-40B4-BE49-F238E27FC236}">
                <a16:creationId xmlns:a16="http://schemas.microsoft.com/office/drawing/2014/main" id="{1D912E1C-3BBA-42F0-A3EE-FEC382E7230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
            <a:ext cx="12192001" cy="6858001"/>
            <a:chOff x="-1" y="-1"/>
            <a:chExt cx="12192001" cy="6858001"/>
          </a:xfrm>
        </p:grpSpPr>
        <p:sp>
          <p:nvSpPr>
            <p:cNvPr id="33" name="Oval 32">
              <a:extLst>
                <a:ext uri="{FF2B5EF4-FFF2-40B4-BE49-F238E27FC236}">
                  <a16:creationId xmlns:a16="http://schemas.microsoft.com/office/drawing/2014/main" id="{2FEEAC76-E273-46A8-8F8E-CE59860FE7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09098" y="727602"/>
              <a:ext cx="172408" cy="172408"/>
            </a:xfrm>
            <a:prstGeom prst="ellipse">
              <a:avLst/>
            </a:prstGeom>
            <a:solidFill>
              <a:schemeClr val="accent2">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76594A0E-9400-45AD-A431-1DA1C0B289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49947" y="136523"/>
              <a:ext cx="113367" cy="113367"/>
            </a:xfrm>
            <a:prstGeom prst="ellipse">
              <a:avLst/>
            </a:prstGeom>
            <a:solidFill>
              <a:srgbClr val="F39E29">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20916D6C-D32F-42B6-8512-CD5EDB8F2B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75290" y="5859047"/>
              <a:ext cx="305780" cy="305780"/>
            </a:xfrm>
            <a:prstGeom prst="ellipse">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3834846D-59C6-40F4-907C-F1A4689B58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5730" y="1133938"/>
              <a:ext cx="226735" cy="226735"/>
            </a:xfrm>
            <a:prstGeom prst="ellipse">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5A257CDF-2E36-4DC7-8EE4-5CD8F8ECAC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36830" y="554419"/>
              <a:ext cx="382700" cy="382700"/>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Oval 37">
              <a:extLst>
                <a:ext uri="{FF2B5EF4-FFF2-40B4-BE49-F238E27FC236}">
                  <a16:creationId xmlns:a16="http://schemas.microsoft.com/office/drawing/2014/main" id="{D5B26E0E-A115-4AE2-82D8-76BB93CC4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24303" y="299808"/>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755058DB-7E01-4E95-BF59-983AA1BBB3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29630" y="5482355"/>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A810F7E2-23F3-44D6-B09E-71E5565360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15328" y="612495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59D5C391-E1DB-410A-A78C-ED3BBDFF07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20382" y="6255986"/>
              <a:ext cx="305780" cy="30578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Oval 41">
              <a:extLst>
                <a:ext uri="{FF2B5EF4-FFF2-40B4-BE49-F238E27FC236}">
                  <a16:creationId xmlns:a16="http://schemas.microsoft.com/office/drawing/2014/main" id="{77C4944D-9373-4283-BCAA-927A031665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34343" y="6204350"/>
              <a:ext cx="113367" cy="11336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Shape 42">
              <a:extLst>
                <a:ext uri="{FF2B5EF4-FFF2-40B4-BE49-F238E27FC236}">
                  <a16:creationId xmlns:a16="http://schemas.microsoft.com/office/drawing/2014/main" id="{6804C521-2D9F-4CE4-AFD3-D4F1551FEC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42244" y="6317718"/>
              <a:ext cx="549756" cy="540282"/>
            </a:xfrm>
            <a:custGeom>
              <a:avLst/>
              <a:gdLst>
                <a:gd name="connsiteX0" fmla="*/ 1224540 w 2115556"/>
                <a:gd name="connsiteY0" fmla="*/ 0 h 2079100"/>
                <a:gd name="connsiteX1" fmla="*/ 2090421 w 2115556"/>
                <a:gd name="connsiteY1" fmla="*/ 358660 h 2079100"/>
                <a:gd name="connsiteX2" fmla="*/ 2115556 w 2115556"/>
                <a:gd name="connsiteY2" fmla="*/ 386315 h 2079100"/>
                <a:gd name="connsiteX3" fmla="*/ 2115556 w 2115556"/>
                <a:gd name="connsiteY3" fmla="*/ 2062765 h 2079100"/>
                <a:gd name="connsiteX4" fmla="*/ 2100710 w 2115556"/>
                <a:gd name="connsiteY4" fmla="*/ 2079100 h 2079100"/>
                <a:gd name="connsiteX5" fmla="*/ 348370 w 2115556"/>
                <a:gd name="connsiteY5" fmla="*/ 2079100 h 2079100"/>
                <a:gd name="connsiteX6" fmla="*/ 279625 w 2115556"/>
                <a:gd name="connsiteY6" fmla="*/ 2003461 h 2079100"/>
                <a:gd name="connsiteX7" fmla="*/ 0 w 2115556"/>
                <a:gd name="connsiteY7" fmla="*/ 1224540 h 2079100"/>
                <a:gd name="connsiteX8" fmla="*/ 1224540 w 2115556"/>
                <a:gd name="connsiteY8" fmla="*/ 0 h 207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5556" h="2079100">
                  <a:moveTo>
                    <a:pt x="1224540" y="0"/>
                  </a:moveTo>
                  <a:cubicBezTo>
                    <a:pt x="1562687" y="0"/>
                    <a:pt x="1868823" y="137062"/>
                    <a:pt x="2090421" y="358660"/>
                  </a:cubicBezTo>
                  <a:lnTo>
                    <a:pt x="2115556" y="386315"/>
                  </a:lnTo>
                  <a:lnTo>
                    <a:pt x="2115556" y="2062765"/>
                  </a:lnTo>
                  <a:lnTo>
                    <a:pt x="2100710" y="2079100"/>
                  </a:lnTo>
                  <a:lnTo>
                    <a:pt x="348370" y="2079100"/>
                  </a:lnTo>
                  <a:lnTo>
                    <a:pt x="279625" y="2003461"/>
                  </a:lnTo>
                  <a:cubicBezTo>
                    <a:pt x="104938" y="1791789"/>
                    <a:pt x="0" y="1520419"/>
                    <a:pt x="0" y="1224540"/>
                  </a:cubicBezTo>
                  <a:cubicBezTo>
                    <a:pt x="0" y="548245"/>
                    <a:pt x="548245" y="0"/>
                    <a:pt x="1224540" y="0"/>
                  </a:cubicBez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44" name="Freeform: Shape 43">
              <a:extLst>
                <a:ext uri="{FF2B5EF4-FFF2-40B4-BE49-F238E27FC236}">
                  <a16:creationId xmlns:a16="http://schemas.microsoft.com/office/drawing/2014/main" id="{755AC65C-13EF-4182-AA3C-62BE165C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510196" cy="538336"/>
            </a:xfrm>
            <a:custGeom>
              <a:avLst/>
              <a:gdLst>
                <a:gd name="connsiteX0" fmla="*/ 0 w 510196"/>
                <a:gd name="connsiteY0" fmla="*/ 0 h 538336"/>
                <a:gd name="connsiteX1" fmla="*/ 459276 w 510196"/>
                <a:gd name="connsiteY1" fmla="*/ 0 h 538336"/>
                <a:gd name="connsiteX2" fmla="*/ 482126 w 510196"/>
                <a:gd name="connsiteY2" fmla="*/ 42098 h 538336"/>
                <a:gd name="connsiteX3" fmla="*/ 510196 w 510196"/>
                <a:gd name="connsiteY3" fmla="*/ 181136 h 538336"/>
                <a:gd name="connsiteX4" fmla="*/ 152996 w 510196"/>
                <a:gd name="connsiteY4" fmla="*/ 538336 h 538336"/>
                <a:gd name="connsiteX5" fmla="*/ 13958 w 510196"/>
                <a:gd name="connsiteY5" fmla="*/ 510266 h 538336"/>
                <a:gd name="connsiteX6" fmla="*/ 0 w 510196"/>
                <a:gd name="connsiteY6" fmla="*/ 502690 h 538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0196" h="538336">
                  <a:moveTo>
                    <a:pt x="0" y="0"/>
                  </a:moveTo>
                  <a:lnTo>
                    <a:pt x="459276" y="0"/>
                  </a:lnTo>
                  <a:lnTo>
                    <a:pt x="482126" y="42098"/>
                  </a:lnTo>
                  <a:cubicBezTo>
                    <a:pt x="500201" y="84833"/>
                    <a:pt x="510196" y="131817"/>
                    <a:pt x="510196" y="181136"/>
                  </a:cubicBezTo>
                  <a:cubicBezTo>
                    <a:pt x="510196" y="378412"/>
                    <a:pt x="350272" y="538336"/>
                    <a:pt x="152996" y="538336"/>
                  </a:cubicBezTo>
                  <a:cubicBezTo>
                    <a:pt x="103677" y="538336"/>
                    <a:pt x="56693" y="528341"/>
                    <a:pt x="13958" y="510266"/>
                  </a:cubicBezTo>
                  <a:lnTo>
                    <a:pt x="0" y="50269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45" name="Freeform: Shape 44">
              <a:extLst>
                <a:ext uri="{FF2B5EF4-FFF2-40B4-BE49-F238E27FC236}">
                  <a16:creationId xmlns:a16="http://schemas.microsoft.com/office/drawing/2014/main" id="{E40DA8D2-FA4B-4282-9D44-48C27B63A1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528695" y="1"/>
              <a:ext cx="554074" cy="282754"/>
            </a:xfrm>
            <a:custGeom>
              <a:avLst/>
              <a:gdLst>
                <a:gd name="connsiteX0" fmla="*/ 644 w 309162"/>
                <a:gd name="connsiteY0" fmla="*/ 0 h 157771"/>
                <a:gd name="connsiteX1" fmla="*/ 308518 w 309162"/>
                <a:gd name="connsiteY1" fmla="*/ 0 h 157771"/>
                <a:gd name="connsiteX2" fmla="*/ 309162 w 309162"/>
                <a:gd name="connsiteY2" fmla="*/ 3190 h 157771"/>
                <a:gd name="connsiteX3" fmla="*/ 154581 w 309162"/>
                <a:gd name="connsiteY3" fmla="*/ 157771 h 157771"/>
                <a:gd name="connsiteX4" fmla="*/ 0 w 309162"/>
                <a:gd name="connsiteY4" fmla="*/ 3190 h 157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162" h="157771">
                  <a:moveTo>
                    <a:pt x="644" y="0"/>
                  </a:moveTo>
                  <a:lnTo>
                    <a:pt x="308518" y="0"/>
                  </a:lnTo>
                  <a:lnTo>
                    <a:pt x="309162" y="3190"/>
                  </a:lnTo>
                  <a:cubicBezTo>
                    <a:pt x="309162" y="88563"/>
                    <a:pt x="239954" y="157771"/>
                    <a:pt x="154581" y="157771"/>
                  </a:cubicBezTo>
                  <a:cubicBezTo>
                    <a:pt x="69208" y="157771"/>
                    <a:pt x="0" y="88563"/>
                    <a:pt x="0" y="3190"/>
                  </a:cubicBez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46" name="Oval 45">
              <a:extLst>
                <a:ext uri="{FF2B5EF4-FFF2-40B4-BE49-F238E27FC236}">
                  <a16:creationId xmlns:a16="http://schemas.microsoft.com/office/drawing/2014/main" id="{99065014-CB18-414D-A527-31ECC45700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04140" y="1132500"/>
              <a:ext cx="84680" cy="8468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7" name="Freeform: Shape 46">
              <a:extLst>
                <a:ext uri="{FF2B5EF4-FFF2-40B4-BE49-F238E27FC236}">
                  <a16:creationId xmlns:a16="http://schemas.microsoft.com/office/drawing/2014/main" id="{8F39E27A-56C1-4328-8DF1-2DA147C784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51348" y="5576515"/>
              <a:ext cx="137603" cy="210490"/>
            </a:xfrm>
            <a:custGeom>
              <a:avLst/>
              <a:gdLst>
                <a:gd name="connsiteX0" fmla="*/ 105245 w 137603"/>
                <a:gd name="connsiteY0" fmla="*/ 0 h 210490"/>
                <a:gd name="connsiteX1" fmla="*/ 137603 w 137603"/>
                <a:gd name="connsiteY1" fmla="*/ 6533 h 210490"/>
                <a:gd name="connsiteX2" fmla="*/ 137603 w 137603"/>
                <a:gd name="connsiteY2" fmla="*/ 203957 h 210490"/>
                <a:gd name="connsiteX3" fmla="*/ 105245 w 137603"/>
                <a:gd name="connsiteY3" fmla="*/ 210490 h 210490"/>
                <a:gd name="connsiteX4" fmla="*/ 0 w 137603"/>
                <a:gd name="connsiteY4" fmla="*/ 105245 h 210490"/>
                <a:gd name="connsiteX5" fmla="*/ 105245 w 137603"/>
                <a:gd name="connsiteY5" fmla="*/ 0 h 210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603" h="210490">
                  <a:moveTo>
                    <a:pt x="105245" y="0"/>
                  </a:moveTo>
                  <a:lnTo>
                    <a:pt x="137603" y="6533"/>
                  </a:lnTo>
                  <a:lnTo>
                    <a:pt x="137603" y="203957"/>
                  </a:lnTo>
                  <a:lnTo>
                    <a:pt x="105245" y="210490"/>
                  </a:lnTo>
                  <a:cubicBezTo>
                    <a:pt x="47120" y="210490"/>
                    <a:pt x="0" y="163370"/>
                    <a:pt x="0" y="105245"/>
                  </a:cubicBezTo>
                  <a:cubicBezTo>
                    <a:pt x="0" y="47120"/>
                    <a:pt x="47120" y="0"/>
                    <a:pt x="105245"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grpSp>
      <p:sp useBgFill="1">
        <p:nvSpPr>
          <p:cNvPr id="49" name="Rectangle 48">
            <a:extLst>
              <a:ext uri="{FF2B5EF4-FFF2-40B4-BE49-F238E27FC236}">
                <a16:creationId xmlns:a16="http://schemas.microsoft.com/office/drawing/2014/main" id="{9D767E3F-5FD8-43EF-92CC-71463D47E1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Rectangle 50">
            <a:extLst>
              <a:ext uri="{FF2B5EF4-FFF2-40B4-BE49-F238E27FC236}">
                <a16:creationId xmlns:a16="http://schemas.microsoft.com/office/drawing/2014/main" id="{53326BAA-9686-4D37-B702-A459A43F9B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sp>
        <p:nvSpPr>
          <p:cNvPr id="2" name="Title 1">
            <a:extLst>
              <a:ext uri="{FF2B5EF4-FFF2-40B4-BE49-F238E27FC236}">
                <a16:creationId xmlns:a16="http://schemas.microsoft.com/office/drawing/2014/main" id="{094DE415-D25F-C5F5-DDDF-579415219508}"/>
              </a:ext>
            </a:extLst>
          </p:cNvPr>
          <p:cNvSpPr>
            <a:spLocks noGrp="1"/>
          </p:cNvSpPr>
          <p:nvPr>
            <p:ph type="title"/>
          </p:nvPr>
        </p:nvSpPr>
        <p:spPr>
          <a:xfrm>
            <a:off x="650016" y="193206"/>
            <a:ext cx="6436584" cy="1921344"/>
          </a:xfrm>
        </p:spPr>
        <p:txBody>
          <a:bodyPr vert="horz" lIns="91440" tIns="45720" rIns="91440" bIns="45720" rtlCol="0" anchor="b">
            <a:normAutofit/>
          </a:bodyPr>
          <a:lstStyle/>
          <a:p>
            <a:r>
              <a:rPr lang="en-US" dirty="0" err="1"/>
              <a:t>Γι</a:t>
            </a:r>
            <a:r>
              <a:rPr lang="en-US" dirty="0"/>
              <a:t>ατί χρησιμοποιούμε αρχικό φορτίο;</a:t>
            </a:r>
          </a:p>
        </p:txBody>
      </p:sp>
      <p:sp>
        <p:nvSpPr>
          <p:cNvPr id="53" name="Oval 1">
            <a:extLst>
              <a:ext uri="{FF2B5EF4-FFF2-40B4-BE49-F238E27FC236}">
                <a16:creationId xmlns:a16="http://schemas.microsoft.com/office/drawing/2014/main" id="{AB330529-CB1E-4112-8F01-435C2E299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91411" y="557332"/>
            <a:ext cx="5743337" cy="57433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5" name="decorative circles">
            <a:extLst>
              <a:ext uri="{FF2B5EF4-FFF2-40B4-BE49-F238E27FC236}">
                <a16:creationId xmlns:a16="http://schemas.microsoft.com/office/drawing/2014/main" id="{A6BAEEFE-5A15-4E44-B100-CFD7F5D6D0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870062" y="289695"/>
            <a:ext cx="4971115" cy="6138399"/>
            <a:chOff x="6870062" y="289695"/>
            <a:chExt cx="4971115" cy="6138399"/>
          </a:xfrm>
        </p:grpSpPr>
        <p:sp>
          <p:nvSpPr>
            <p:cNvPr id="56" name="Oval 55">
              <a:extLst>
                <a:ext uri="{FF2B5EF4-FFF2-40B4-BE49-F238E27FC236}">
                  <a16:creationId xmlns:a16="http://schemas.microsoft.com/office/drawing/2014/main" id="{9F653A2A-2CD3-4B8D-B1DB-0B410110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543605" y="289695"/>
              <a:ext cx="226735" cy="226735"/>
            </a:xfrm>
            <a:prstGeom prst="ellipse">
              <a:avLst/>
            </a:prstGeom>
            <a:solidFill>
              <a:srgbClr val="9744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7B14CA02-0561-4C97-8FF3-95C5A56793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74736" y="5667686"/>
              <a:ext cx="466441" cy="46644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5D1DCF05-9A46-4ED2-9213-6762C6975A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27805" y="5275653"/>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7C2DFB0F-9C5B-42B4-A4C5-1C4308E5E4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69847" y="5942894"/>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09002102-7C3F-4562-B6C9-B6662E8A2A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81540" y="655922"/>
              <a:ext cx="466441" cy="466441"/>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38ABC509-D5C1-4B54-88A3-76D47A1AEC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03560" y="387281"/>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69564177-4282-4F98-81F4-F758FF774D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63367" y="6122314"/>
              <a:ext cx="305780" cy="30578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2B760430-7B8B-4E35-A89B-197E329999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0062" y="5959435"/>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Content Placeholder 4" descr="A screen shot of a computer&#10;&#10;Description automatically generated">
            <a:extLst>
              <a:ext uri="{FF2B5EF4-FFF2-40B4-BE49-F238E27FC236}">
                <a16:creationId xmlns:a16="http://schemas.microsoft.com/office/drawing/2014/main" id="{D5D883C7-C887-608A-F452-776A5C64038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331" t="6154" r="1625" b="-3"/>
          <a:stretch/>
        </p:blipFill>
        <p:spPr>
          <a:xfrm>
            <a:off x="6574060" y="1151602"/>
            <a:ext cx="5100837" cy="4540806"/>
          </a:xfrm>
          <a:prstGeom prst="rect">
            <a:avLst/>
          </a:prstGeom>
        </p:spPr>
      </p:pic>
      <p:sp>
        <p:nvSpPr>
          <p:cNvPr id="24" name="Content Placeholder 2">
            <a:extLst>
              <a:ext uri="{FF2B5EF4-FFF2-40B4-BE49-F238E27FC236}">
                <a16:creationId xmlns:a16="http://schemas.microsoft.com/office/drawing/2014/main" id="{2523A633-C7BA-296F-6FB9-106C7F8F017C}"/>
              </a:ext>
            </a:extLst>
          </p:cNvPr>
          <p:cNvSpPr txBox="1">
            <a:spLocks/>
          </p:cNvSpPr>
          <p:nvPr/>
        </p:nvSpPr>
        <p:spPr>
          <a:xfrm>
            <a:off x="481533" y="2398499"/>
            <a:ext cx="5835793" cy="4351338"/>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Clr>
                <a:schemeClr val="tx2">
                  <a:lumMod val="75000"/>
                  <a:lumOff val="25000"/>
                </a:schemeClr>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412F24">
                  <a:lumMod val="75000"/>
                  <a:lumOff val="25000"/>
                </a:srgbClr>
              </a:buClr>
              <a:defRPr/>
            </a:pPr>
            <a:r>
              <a:rPr lang="el-GR">
                <a:solidFill>
                  <a:srgbClr val="412F24"/>
                </a:solidFill>
                <a:latin typeface="Calibri"/>
              </a:rPr>
              <a:t>Το αρχικό φορτίο του σταθμού βάσης (πόσα δεδομένα διαχειρίζεται), ορίζεται τυχαία με μια τιμή μεταξύ 0.1 και 1.0. Αυτό σημαίνει ότι, όταν ξεκινά η προσομοίωση, κάθε σταθμός βάσης ξεκινά με διαφορετικό επίπεδο χρήσης των πόρων του. </a:t>
            </a:r>
          </a:p>
          <a:p>
            <a:pPr>
              <a:buClr>
                <a:srgbClr val="412F24">
                  <a:lumMod val="75000"/>
                  <a:lumOff val="25000"/>
                </a:srgbClr>
              </a:buClr>
              <a:defRPr/>
            </a:pPr>
            <a:r>
              <a:rPr lang="el-GR">
                <a:solidFill>
                  <a:srgbClr val="412F24"/>
                </a:solidFill>
                <a:latin typeface="Calibri"/>
              </a:rPr>
              <a:t>Αυτή η τυχαία τιμή χρησιμοποιείται για να προσομοιώσει τις πραγματικές διακυμάνσεις στην κυκλοφορία του δικτύου, δηλαδή ότι στην πραγματικότητα οι σταθμοί βάσης δεν διαχειρίζονται την ίδια ποσότητα δεδομένων σε κάθε στιγμή. </a:t>
            </a:r>
          </a:p>
          <a:p>
            <a:pPr>
              <a:buClr>
                <a:srgbClr val="412F24">
                  <a:lumMod val="75000"/>
                  <a:lumOff val="25000"/>
                </a:srgbClr>
              </a:buClr>
              <a:defRPr/>
            </a:pPr>
            <a:r>
              <a:rPr lang="el-GR">
                <a:solidFill>
                  <a:srgbClr val="412F24"/>
                </a:solidFill>
                <a:latin typeface="Calibri"/>
              </a:rPr>
              <a:t>Η τυχαία κατανομή του αρχικού φορτίου βοηθάει να δημιουργηθούν πιο ρεαλιστικές συνθήκες για το δίκτυο, καθώς κάποιοι σταθμοί μπορεί να είναι πιο "φορτωμένοι" από άλλους, κάτι που </a:t>
            </a:r>
            <a:r>
              <a:rPr lang="el-GR" b="1">
                <a:solidFill>
                  <a:srgbClr val="412F24"/>
                </a:solidFill>
                <a:latin typeface="Calibri"/>
              </a:rPr>
              <a:t>επηρεάζει την ποιότητα του σήματος</a:t>
            </a:r>
            <a:r>
              <a:rPr lang="el-GR">
                <a:solidFill>
                  <a:srgbClr val="412F24"/>
                </a:solidFill>
                <a:latin typeface="Calibri"/>
              </a:rPr>
              <a:t> και </a:t>
            </a:r>
            <a:r>
              <a:rPr lang="el-GR" b="1">
                <a:solidFill>
                  <a:srgbClr val="412F24"/>
                </a:solidFill>
                <a:latin typeface="Calibri"/>
              </a:rPr>
              <a:t>την απόδοση του δικτύου</a:t>
            </a:r>
            <a:r>
              <a:rPr lang="en-GB">
                <a:solidFill>
                  <a:srgbClr val="412F24"/>
                </a:solidFill>
                <a:latin typeface="Calibri"/>
              </a:rPr>
              <a:t>. </a:t>
            </a:r>
            <a:endParaRPr lang="el-GR">
              <a:solidFill>
                <a:srgbClr val="412F24"/>
              </a:solidFill>
              <a:latin typeface="Calibri"/>
            </a:endParaRPr>
          </a:p>
          <a:p>
            <a:pPr>
              <a:buClr>
                <a:srgbClr val="412F24">
                  <a:lumMod val="75000"/>
                  <a:lumOff val="25000"/>
                </a:srgbClr>
              </a:buClr>
              <a:defRPr/>
            </a:pPr>
            <a:r>
              <a:rPr lang="el-GR">
                <a:solidFill>
                  <a:srgbClr val="412F24"/>
                </a:solidFill>
                <a:latin typeface="Calibri"/>
              </a:rPr>
              <a:t>Αυτό αντιπροσωπεύει τη μεταβαλλόμενη διαθεσιμότητα των πόρων του δικτύου σε κάθε σταθμό, η οποία διαδραματίζει σημαντικό ρόλο στη διαδικασία λήψης αποφάσεων για την εναλλαγή κυττάρων (handover</a:t>
            </a:r>
            <a:r>
              <a:rPr lang="en-GB">
                <a:solidFill>
                  <a:srgbClr val="412F24"/>
                </a:solidFill>
                <a:latin typeface="Calibri"/>
              </a:rPr>
              <a:t>s).</a:t>
            </a:r>
            <a:endParaRPr lang="el-GR">
              <a:solidFill>
                <a:srgbClr val="412F24"/>
              </a:solidFill>
              <a:latin typeface="Calibri"/>
            </a:endParaRPr>
          </a:p>
          <a:p>
            <a:endParaRPr lang="el-GR" dirty="0"/>
          </a:p>
        </p:txBody>
      </p:sp>
    </p:spTree>
    <p:extLst>
      <p:ext uri="{BB962C8B-B14F-4D97-AF65-F5344CB8AC3E}">
        <p14:creationId xmlns:p14="http://schemas.microsoft.com/office/powerpoint/2010/main" val="19679316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14A33-5093-B6F9-41AC-3D002A17E084}"/>
              </a:ext>
            </a:extLst>
          </p:cNvPr>
          <p:cNvSpPr>
            <a:spLocks noGrp="1"/>
          </p:cNvSpPr>
          <p:nvPr>
            <p:ph type="title"/>
          </p:nvPr>
        </p:nvSpPr>
        <p:spPr>
          <a:xfrm>
            <a:off x="777240" y="365125"/>
            <a:ext cx="11483586" cy="1325563"/>
          </a:xfrm>
        </p:spPr>
        <p:txBody>
          <a:bodyPr>
            <a:normAutofit/>
          </a:bodyPr>
          <a:lstStyle/>
          <a:p>
            <a:r>
              <a:rPr lang="el-GR" dirty="0"/>
              <a:t>Μέθοδος </a:t>
            </a:r>
            <a:r>
              <a:rPr lang="el-GR" dirty="0" err="1"/>
              <a:t>update_load</a:t>
            </a:r>
            <a:endParaRPr lang="el-GR" dirty="0"/>
          </a:p>
        </p:txBody>
      </p:sp>
      <p:sp>
        <p:nvSpPr>
          <p:cNvPr id="3" name="Content Placeholder 2">
            <a:extLst>
              <a:ext uri="{FF2B5EF4-FFF2-40B4-BE49-F238E27FC236}">
                <a16:creationId xmlns:a16="http://schemas.microsoft.com/office/drawing/2014/main" id="{AC988151-91E2-ED5D-12F8-37108C5460D2}"/>
              </a:ext>
            </a:extLst>
          </p:cNvPr>
          <p:cNvSpPr>
            <a:spLocks noGrp="1"/>
          </p:cNvSpPr>
          <p:nvPr>
            <p:ph idx="1"/>
          </p:nvPr>
        </p:nvSpPr>
        <p:spPr>
          <a:xfrm>
            <a:off x="777240" y="1574902"/>
            <a:ext cx="11050966" cy="5283098"/>
          </a:xfrm>
        </p:spPr>
        <p:txBody>
          <a:bodyPr>
            <a:normAutofit fontScale="92500"/>
          </a:bodyPr>
          <a:lstStyle/>
          <a:p>
            <a:r>
              <a:rPr lang="en-GB" sz="2200" dirty="0"/>
              <a:t>E</a:t>
            </a:r>
            <a:r>
              <a:rPr lang="el-GR" sz="2200" dirty="0" err="1"/>
              <a:t>νημερώνουμε</a:t>
            </a:r>
            <a:r>
              <a:rPr lang="el-GR" sz="2200" dirty="0"/>
              <a:t> το φορτίο του σταθμού βάσης, σύμφωνα με το πλήθος των συνδεδεμένων συσκευών UE. Το φορτίο υπολογίζεται διαιρώντας τον αριθμό των συνδεδεμένων </a:t>
            </a:r>
            <a:r>
              <a:rPr lang="el-GR" sz="2200" dirty="0" err="1"/>
              <a:t>UEs</a:t>
            </a:r>
            <a:r>
              <a:rPr lang="el-GR" sz="2200" dirty="0"/>
              <a:t> με το 10, κάνοντας την υπόθεση ότι κάθε 10 συνδεδεμένες συσκευές συνεισφέρουν 1 μονάδα φορτίου</a:t>
            </a:r>
            <a:r>
              <a:rPr lang="en-GB" sz="2200" dirty="0"/>
              <a:t>. </a:t>
            </a:r>
            <a:r>
              <a:rPr lang="el-GR" sz="2200" dirty="0"/>
              <a:t>Αυτό είναι ένας τρόπος να κλιμακώσουμε τον αριθμό των συσκευών σε μια πιο </a:t>
            </a:r>
            <a:r>
              <a:rPr lang="el-GR" sz="2200" dirty="0" err="1"/>
              <a:t>διαχειρίσιμη</a:t>
            </a:r>
            <a:r>
              <a:rPr lang="el-GR" sz="2200" dirty="0"/>
              <a:t> τιμή για το φορτίο.</a:t>
            </a:r>
            <a:endParaRPr lang="en-GB" sz="2200" dirty="0"/>
          </a:p>
          <a:p>
            <a:r>
              <a:rPr lang="el-GR" sz="2200" dirty="0"/>
              <a:t>Και προσθέτοντας μια τυχαία τιμή μεταξύ 0.5 και 1.5, για να προσομοιώσουμε τις διακυμάνσεις στην κίνηση του δικτύου, που δεν εξαρτώνται άμεσα από τον αριθμό των συνδεδεμένων συσκευών, όπως οι περιβαλλοντικές συνθήκες. </a:t>
            </a:r>
            <a:endParaRPr lang="en-GB" sz="2200" dirty="0"/>
          </a:p>
          <a:p>
            <a:r>
              <a:rPr lang="el-GR" sz="2200" dirty="0"/>
              <a:t>Η τελική τιμή του φορτίου περιορίζεται μεταξύ 0.1 και 1.0, ώστε να διασφαλιστεί ότι βρίσκεται εντός λογικών ορίων</a:t>
            </a:r>
            <a:r>
              <a:rPr lang="en-GB" sz="2200" dirty="0"/>
              <a:t>:</a:t>
            </a:r>
            <a:endParaRPr lang="el-GR" sz="2200" dirty="0"/>
          </a:p>
          <a:p>
            <a:pPr lvl="1">
              <a:buFont typeface="Wingdings" panose="05000000000000000000" pitchFamily="2" charset="2"/>
              <a:buChar char="§"/>
            </a:pPr>
            <a:r>
              <a:rPr lang="el-GR" sz="2200" dirty="0"/>
              <a:t>Η συνάρτηση </a:t>
            </a:r>
            <a:r>
              <a:rPr lang="el-GR" sz="2200" dirty="0" err="1"/>
              <a:t>min</a:t>
            </a:r>
            <a:r>
              <a:rPr lang="el-GR" sz="2200" dirty="0"/>
              <a:t>(1.0, </a:t>
            </a:r>
            <a:r>
              <a:rPr lang="el-GR" sz="2200" dirty="0" err="1"/>
              <a:t>self.load</a:t>
            </a:r>
            <a:r>
              <a:rPr lang="el-GR" sz="2200" dirty="0"/>
              <a:t>) διασφαλίζει ότι το φορτίο δεν υπερβαίνει το 1.0 (100% χρήση  του σταθμού βάσης. Αυτό αποτρέπει την υπερφόρτωση του συστήματος.)</a:t>
            </a:r>
            <a:r>
              <a:rPr lang="en-GB" sz="2200" dirty="0"/>
              <a:t>.</a:t>
            </a:r>
            <a:endParaRPr lang="el-GR" sz="2200" dirty="0"/>
          </a:p>
          <a:p>
            <a:pPr lvl="1">
              <a:buFont typeface="Wingdings" panose="05000000000000000000" pitchFamily="2" charset="2"/>
              <a:buChar char="§"/>
            </a:pPr>
            <a:r>
              <a:rPr lang="el-GR" sz="2200" dirty="0"/>
              <a:t>Ενώ η συνάρτηση </a:t>
            </a:r>
            <a:r>
              <a:rPr lang="el-GR" sz="2200" dirty="0" err="1"/>
              <a:t>max</a:t>
            </a:r>
            <a:r>
              <a:rPr lang="el-GR" sz="2200" dirty="0"/>
              <a:t>(0.1, ...) διασφαλίζει ότι το φορτίο δεν πέφτει κάτω από 0.1 (10% χρήση). Αυτό αντιπροσωπεύει ένα ελάχιστο επίπεδο φορτίου ακόμα και όταν δεν υπάρχουν συνδεδεμένες συσκευές, για να αποφευχθεί η κατάσταση όπου το φορτίο είναι μηδενικό. Έτσι, ο σταθμός βάσης συνεχίζει να λειτουργεί σε ένα ελάχιστο επίπεδο απόδοσης, </a:t>
            </a:r>
            <a:r>
              <a:rPr lang="el-GR" sz="2200" dirty="0" err="1"/>
              <a:t>αποτρέπωντας</a:t>
            </a:r>
            <a:r>
              <a:rPr lang="el-GR" sz="2200" dirty="0"/>
              <a:t> την απενεργοποίηση του σταθμού, καθιστώντας τον πάντα έτοιμο να εξυπηρετήσει νέες συνδέσεις και να ανταποκριθεί σε αιφνίδιες αυξήσεις στη ζήτηση.</a:t>
            </a:r>
          </a:p>
        </p:txBody>
      </p:sp>
    </p:spTree>
    <p:extLst>
      <p:ext uri="{BB962C8B-B14F-4D97-AF65-F5344CB8AC3E}">
        <p14:creationId xmlns:p14="http://schemas.microsoft.com/office/powerpoint/2010/main" val="1681255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966F8-584B-8B9C-D4B1-C5A67DC8D970}"/>
              </a:ext>
            </a:extLst>
          </p:cNvPr>
          <p:cNvSpPr>
            <a:spLocks noGrp="1"/>
          </p:cNvSpPr>
          <p:nvPr>
            <p:ph type="title"/>
          </p:nvPr>
        </p:nvSpPr>
        <p:spPr>
          <a:xfrm>
            <a:off x="777240" y="19205"/>
            <a:ext cx="10659110" cy="1325563"/>
          </a:xfrm>
        </p:spPr>
        <p:txBody>
          <a:bodyPr>
            <a:normAutofit/>
          </a:bodyPr>
          <a:lstStyle/>
          <a:p>
            <a:r>
              <a:rPr lang="el-GR" dirty="0"/>
              <a:t>Μέθοδος </a:t>
            </a:r>
            <a:r>
              <a:rPr lang="el-GR" dirty="0" err="1"/>
              <a:t>get_signal_strength</a:t>
            </a:r>
            <a:r>
              <a:rPr lang="el-GR" dirty="0"/>
              <a:t> </a:t>
            </a:r>
          </a:p>
        </p:txBody>
      </p:sp>
      <p:sp>
        <p:nvSpPr>
          <p:cNvPr id="3" name="Content Placeholder 2">
            <a:extLst>
              <a:ext uri="{FF2B5EF4-FFF2-40B4-BE49-F238E27FC236}">
                <a16:creationId xmlns:a16="http://schemas.microsoft.com/office/drawing/2014/main" id="{5051944F-86F5-E659-556A-4F565A49E59A}"/>
              </a:ext>
            </a:extLst>
          </p:cNvPr>
          <p:cNvSpPr>
            <a:spLocks noGrp="1"/>
          </p:cNvSpPr>
          <p:nvPr>
            <p:ph idx="1"/>
          </p:nvPr>
        </p:nvSpPr>
        <p:spPr>
          <a:xfrm>
            <a:off x="777240" y="1325562"/>
            <a:ext cx="10659110" cy="5513233"/>
          </a:xfrm>
        </p:spPr>
        <p:txBody>
          <a:bodyPr>
            <a:normAutofit fontScale="92500" lnSpcReduction="10000"/>
          </a:bodyPr>
          <a:lstStyle/>
          <a:p>
            <a:r>
              <a:rPr lang="el-GR" sz="2200" dirty="0"/>
              <a:t>Υπολογίζουμε την ισχύ σήματος (SNR - </a:t>
            </a:r>
            <a:r>
              <a:rPr lang="el-GR" sz="2200" dirty="0" err="1"/>
              <a:t>Signal-to-Noise</a:t>
            </a:r>
            <a:r>
              <a:rPr lang="el-GR" sz="2200" dirty="0"/>
              <a:t> </a:t>
            </a:r>
            <a:r>
              <a:rPr lang="el-GR" sz="2200" dirty="0" err="1"/>
              <a:t>Ratio</a:t>
            </a:r>
            <a:r>
              <a:rPr lang="el-GR" sz="2200" dirty="0"/>
              <a:t>) για </a:t>
            </a:r>
            <a:r>
              <a:rPr lang="el-GR" sz="2200" dirty="0" err="1"/>
              <a:t>συγκεκριμέν</a:t>
            </a:r>
            <a:r>
              <a:rPr lang="en-GB" sz="2200" dirty="0"/>
              <a:t>o </a:t>
            </a:r>
            <a:r>
              <a:rPr lang="el-GR" sz="2200" dirty="0"/>
              <a:t>UE.  Η ισχύς του σήματος υπολογίζεται για κάθε UE ανάλογα με την απόστασή του από τον σταθμό βάσης</a:t>
            </a:r>
            <a:r>
              <a:rPr lang="en-GB" sz="2200" dirty="0"/>
              <a:t>.</a:t>
            </a:r>
            <a:endParaRPr lang="el-GR" sz="2200" dirty="0"/>
          </a:p>
          <a:p>
            <a:r>
              <a:rPr lang="el-GR" sz="2200" dirty="0"/>
              <a:t>Για να το προσομοιώσουμε αυτό υπολογίζουμε την </a:t>
            </a:r>
            <a:r>
              <a:rPr lang="el-GR" sz="2200" dirty="0" err="1"/>
              <a:t>ευκλείδια</a:t>
            </a:r>
            <a:r>
              <a:rPr lang="el-GR" sz="2200" dirty="0"/>
              <a:t> απόσταση μεταξύ του σταθμού βάσης και της συσκευής UE, οι συντεταγμένες του σταθμού βάσης είναι (</a:t>
            </a:r>
            <a:r>
              <a:rPr lang="el-GR" sz="2200" dirty="0" err="1"/>
              <a:t>self.x</a:t>
            </a:r>
            <a:r>
              <a:rPr lang="el-GR" sz="2200" dirty="0"/>
              <a:t>, </a:t>
            </a:r>
            <a:r>
              <a:rPr lang="el-GR" sz="2200" dirty="0" err="1"/>
              <a:t>self.y</a:t>
            </a:r>
            <a:r>
              <a:rPr lang="el-GR" sz="2200" dirty="0"/>
              <a:t>) και της συσκευής UE είναι (</a:t>
            </a:r>
            <a:r>
              <a:rPr lang="el-GR" sz="2200" dirty="0" err="1"/>
              <a:t>ue.x</a:t>
            </a:r>
            <a:r>
              <a:rPr lang="el-GR" sz="2200" dirty="0"/>
              <a:t>, </a:t>
            </a:r>
            <a:r>
              <a:rPr lang="el-GR" sz="2200" dirty="0" err="1"/>
              <a:t>ue.y</a:t>
            </a:r>
            <a:r>
              <a:rPr lang="el-GR" sz="2200" dirty="0"/>
              <a:t>)</a:t>
            </a:r>
            <a:r>
              <a:rPr lang="en-GB" sz="2200" dirty="0"/>
              <a:t>:</a:t>
            </a:r>
          </a:p>
          <a:p>
            <a:pPr lvl="1">
              <a:buFont typeface="Wingdings" panose="05000000000000000000" pitchFamily="2" charset="2"/>
              <a:buChar char="§"/>
            </a:pPr>
            <a:r>
              <a:rPr lang="el-GR" sz="2200" dirty="0"/>
              <a:t>Αν η απόσταση είναι 0 (δηλαδή η συσκευή UE βρίσκεται ακριβώς στην τοποθεσία του σταθμού βάσης), τότε η ισχύς του σήματος θεωρείται άπειρη.</a:t>
            </a:r>
            <a:endParaRPr lang="en-GB" sz="2200" dirty="0"/>
          </a:p>
          <a:p>
            <a:pPr lvl="1">
              <a:buFont typeface="Wingdings" panose="05000000000000000000" pitchFamily="2" charset="2"/>
              <a:buChar char="§"/>
            </a:pPr>
            <a:r>
              <a:rPr lang="el-GR" sz="2200" dirty="0"/>
              <a:t>Αν η απόσταση είναι μεγαλύτερη από την ακτίνα κάλυψης του σταθμού βάσης, τότε η ισχύς του σήματος είναι 0, αφού η συσκευή UE είναι εκτός περιοχής κάλυψης.</a:t>
            </a:r>
            <a:endParaRPr lang="en-GB" sz="2200" dirty="0"/>
          </a:p>
          <a:p>
            <a:r>
              <a:rPr lang="el-GR" sz="2200" b="1" dirty="0"/>
              <a:t>Υπολογισμός SNR</a:t>
            </a:r>
            <a:r>
              <a:rPr lang="en-GB" sz="2200" b="1" dirty="0"/>
              <a:t> - </a:t>
            </a:r>
            <a:r>
              <a:rPr lang="el-GR" sz="2200" dirty="0"/>
              <a:t>Υπολογίζουμε την ισχύς του σήματος, λαμβάνοντας υπόψη την αντίστροφη σχέση μεταξύ απόστασης και ισχύος σήματος (SNR) (δηλαδή, όσο πιο μακριά βρίσκεται το UE, τόσο μικρότερη είναι η ισχύς)</a:t>
            </a:r>
            <a:r>
              <a:rPr lang="en-GB" sz="2200" dirty="0"/>
              <a:t>:</a:t>
            </a:r>
          </a:p>
          <a:p>
            <a:pPr lvl="1">
              <a:buFont typeface="Wingdings" panose="05000000000000000000" pitchFamily="2" charset="2"/>
              <a:buChar char="§"/>
            </a:pPr>
            <a:r>
              <a:rPr lang="el-GR" sz="2200" b="1" dirty="0"/>
              <a:t>Προσθέτουμε επίσης μια τυχαία διακύμανση </a:t>
            </a:r>
            <a:r>
              <a:rPr lang="el-GR" sz="2200" dirty="0"/>
              <a:t>(</a:t>
            </a:r>
            <a:r>
              <a:rPr lang="el-GR" sz="2200" dirty="0" err="1"/>
              <a:t>fluctuation</a:t>
            </a:r>
            <a:r>
              <a:rPr lang="el-GR" sz="2200" dirty="0"/>
              <a:t>), για να προσομοιώσουμε τον περιβαλλοντικό θόρυβο (εμπόδια και παρεμβολές). </a:t>
            </a:r>
            <a:r>
              <a:rPr lang="el-GR" sz="2200" b="0" i="0" dirty="0">
                <a:solidFill>
                  <a:srgbClr val="2E2F30"/>
                </a:solidFill>
                <a:effectLst/>
                <a:latin typeface="Inter"/>
              </a:rPr>
              <a:t>Η διακύμανση δημιουργείται από μια κανονική κατανομή με μέση τιμή 0 και τυπική απόκλιση 0.002.  </a:t>
            </a:r>
            <a:endParaRPr lang="en-GB" sz="2200" dirty="0"/>
          </a:p>
          <a:p>
            <a:pPr lvl="1">
              <a:buFont typeface="Wingdings" panose="05000000000000000000" pitchFamily="2" charset="2"/>
              <a:buChar char="§"/>
            </a:pPr>
            <a:r>
              <a:rPr lang="el-GR" sz="2200" b="1" dirty="0" err="1"/>
              <a:t>max</a:t>
            </a:r>
            <a:r>
              <a:rPr lang="el-GR" sz="2200" b="1" dirty="0"/>
              <a:t>(0, ...)</a:t>
            </a:r>
            <a:r>
              <a:rPr lang="en-GB" sz="2200" b="1" dirty="0"/>
              <a:t> - </a:t>
            </a:r>
            <a:r>
              <a:rPr lang="el-GR" sz="2200" dirty="0"/>
              <a:t>Διασφαλίζουμε ότι το SNR δεν θα είναι αρνητικό. Αν η συνολική τιμή του SNR πέσει κάτω από το 0 λόγω της διακύμανσης, το SNR θα οριστεί στο 0, καθώς δεν έχει νόημα να έχουμε αρνητική ισχύ σήματος.</a:t>
            </a:r>
          </a:p>
        </p:txBody>
      </p:sp>
    </p:spTree>
    <p:extLst>
      <p:ext uri="{BB962C8B-B14F-4D97-AF65-F5344CB8AC3E}">
        <p14:creationId xmlns:p14="http://schemas.microsoft.com/office/powerpoint/2010/main" val="22084704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5C935CC-0164-6730-2A0D-D9CE55E47B6B}"/>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209D7C9-6D5E-4AB9-B50F-C0160FF18E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C81A27CC-E945-4905-9D46-3D497F9C4E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sp>
        <p:nvSpPr>
          <p:cNvPr id="2" name="Title 1">
            <a:extLst>
              <a:ext uri="{FF2B5EF4-FFF2-40B4-BE49-F238E27FC236}">
                <a16:creationId xmlns:a16="http://schemas.microsoft.com/office/drawing/2014/main" id="{94D81B87-1E9E-7B2F-D1BD-51593B8240A6}"/>
              </a:ext>
            </a:extLst>
          </p:cNvPr>
          <p:cNvSpPr>
            <a:spLocks noGrp="1"/>
          </p:cNvSpPr>
          <p:nvPr>
            <p:ph type="title"/>
          </p:nvPr>
        </p:nvSpPr>
        <p:spPr>
          <a:xfrm>
            <a:off x="837291" y="-1153160"/>
            <a:ext cx="6168331" cy="2493876"/>
          </a:xfrm>
        </p:spPr>
        <p:txBody>
          <a:bodyPr anchor="b">
            <a:normAutofit/>
          </a:bodyPr>
          <a:lstStyle/>
          <a:p>
            <a:r>
              <a:rPr lang="en-GB" sz="4400" dirty="0"/>
              <a:t>2. </a:t>
            </a:r>
            <a:r>
              <a:rPr lang="el-GR" sz="4400" dirty="0"/>
              <a:t>Κλάση </a:t>
            </a:r>
            <a:r>
              <a:rPr lang="en-GB" sz="4400" dirty="0"/>
              <a:t>UE</a:t>
            </a:r>
            <a:endParaRPr lang="el-GR" sz="4400" dirty="0"/>
          </a:p>
        </p:txBody>
      </p:sp>
      <p:sp>
        <p:nvSpPr>
          <p:cNvPr id="13" name="Oval 1">
            <a:extLst>
              <a:ext uri="{FF2B5EF4-FFF2-40B4-BE49-F238E27FC236}">
                <a16:creationId xmlns:a16="http://schemas.microsoft.com/office/drawing/2014/main" id="{FB1720E7-4310-42AF-AC72-8FE5912E9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5594" y="262979"/>
            <a:ext cx="3522397" cy="352239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decorative circles">
            <a:extLst>
              <a:ext uri="{FF2B5EF4-FFF2-40B4-BE49-F238E27FC236}">
                <a16:creationId xmlns:a16="http://schemas.microsoft.com/office/drawing/2014/main" id="{5EFFD2A5-0E57-466C-821B-D8B2C841E4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32461" y="220046"/>
            <a:ext cx="3455469" cy="4723381"/>
            <a:chOff x="8132461" y="220046"/>
            <a:chExt cx="3455469" cy="4723381"/>
          </a:xfrm>
        </p:grpSpPr>
        <p:sp>
          <p:nvSpPr>
            <p:cNvPr id="6" name="Oval 5">
              <a:extLst>
                <a:ext uri="{FF2B5EF4-FFF2-40B4-BE49-F238E27FC236}">
                  <a16:creationId xmlns:a16="http://schemas.microsoft.com/office/drawing/2014/main" id="{3F6B3B75-D5DD-4E63-9E76-3E0275968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261858" y="4716692"/>
              <a:ext cx="226735" cy="226735"/>
            </a:xfrm>
            <a:prstGeom prst="ellipse">
              <a:avLst/>
            </a:prstGeom>
            <a:solidFill>
              <a:srgbClr val="9744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FFA71F21-806A-4A3C-A164-10738ECCB8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23226" y="4129921"/>
              <a:ext cx="466441" cy="46644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DAF991A3-5BC0-4FE9-B133-55585607F9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32461" y="4194350"/>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F5805FB8-01A7-4C6F-9EFA-3009E10ECC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04744" y="220046"/>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34608EE2-33A0-4693-B82F-30957F645F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41342" y="397053"/>
              <a:ext cx="346588" cy="34658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A10A6785-43F1-4CE2-B832-EC99F4E354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41342" y="108730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Picture 3" descr="A diagram of a wifi signal&#10;&#10;Description automatically generated with medium confidence">
            <a:extLst>
              <a:ext uri="{FF2B5EF4-FFF2-40B4-BE49-F238E27FC236}">
                <a16:creationId xmlns:a16="http://schemas.microsoft.com/office/drawing/2014/main" id="{CE14C907-D215-F67E-C2E4-6BAA2A8D98EB}"/>
              </a:ext>
            </a:extLst>
          </p:cNvPr>
          <p:cNvPicPr>
            <a:picLocks noChangeAspect="1"/>
          </p:cNvPicPr>
          <p:nvPr/>
        </p:nvPicPr>
        <p:blipFill>
          <a:blip r:embed="rId2">
            <a:extLst>
              <a:ext uri="{28A0092B-C50C-407E-A947-70E740481C1C}">
                <a14:useLocalDpi xmlns:a14="http://schemas.microsoft.com/office/drawing/2010/main" val="0"/>
              </a:ext>
            </a:extLst>
          </a:blip>
          <a:srcRect t="13518" r="57347"/>
          <a:stretch/>
        </p:blipFill>
        <p:spPr>
          <a:xfrm>
            <a:off x="7793595" y="1130937"/>
            <a:ext cx="2142886" cy="1824839"/>
          </a:xfrm>
          <a:prstGeom prst="rect">
            <a:avLst/>
          </a:prstGeom>
        </p:spPr>
      </p:pic>
      <p:pic>
        <p:nvPicPr>
          <p:cNvPr id="23" name="Graphic 22">
            <a:extLst>
              <a:ext uri="{FF2B5EF4-FFF2-40B4-BE49-F238E27FC236}">
                <a16:creationId xmlns:a16="http://schemas.microsoft.com/office/drawing/2014/main" id="{42E135F0-3E22-4668-8905-DF9073C9360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5">
                <a:shade val="45000"/>
                <a:satMod val="135000"/>
              </a:schemeClr>
              <a:prstClr val="white"/>
            </a:duotone>
            <a:extLst>
              <a:ext uri="{28A0092B-C50C-407E-A947-70E740481C1C}">
                <a14:useLocalDpi xmlns:a14="http://schemas.microsoft.com/office/drawing/2010/main" val="0"/>
              </a:ext>
              <a:ext uri="{96DAC541-7B7A-43D3-8B79-37D633B846F1}">
                <asvg:svgBlip xmlns:asvg="http://schemas.microsoft.com/office/drawing/2016/SVG/main" r:embed="rId4"/>
              </a:ext>
            </a:extLst>
          </a:blip>
          <a:srcRect l="18631" t="16485" r="52721" b="17441"/>
          <a:stretch/>
        </p:blipFill>
        <p:spPr>
          <a:xfrm>
            <a:off x="10854666" y="743641"/>
            <a:ext cx="1334286" cy="3077509"/>
          </a:xfrm>
          <a:prstGeom prst="rect">
            <a:avLst/>
          </a:prstGeom>
        </p:spPr>
      </p:pic>
      <p:sp>
        <p:nvSpPr>
          <p:cNvPr id="25" name="Oval 2">
            <a:extLst>
              <a:ext uri="{FF2B5EF4-FFF2-40B4-BE49-F238E27FC236}">
                <a16:creationId xmlns:a16="http://schemas.microsoft.com/office/drawing/2014/main" id="{0D12ED7B-BE6F-4DBA-B397-D3A54C97D4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48847" y="3890057"/>
            <a:ext cx="3043153" cy="2967943"/>
          </a:xfrm>
          <a:custGeom>
            <a:avLst/>
            <a:gdLst>
              <a:gd name="connsiteX0" fmla="*/ 2361523 w 4051324"/>
              <a:gd name="connsiteY0" fmla="*/ 0 h 3951198"/>
              <a:gd name="connsiteX1" fmla="*/ 4031372 w 4051324"/>
              <a:gd name="connsiteY1" fmla="*/ 691674 h 3951198"/>
              <a:gd name="connsiteX2" fmla="*/ 4051324 w 4051324"/>
              <a:gd name="connsiteY2" fmla="*/ 713627 h 3951198"/>
              <a:gd name="connsiteX3" fmla="*/ 4051324 w 4051324"/>
              <a:gd name="connsiteY3" fmla="*/ 3951198 h 3951198"/>
              <a:gd name="connsiteX4" fmla="*/ 618807 w 4051324"/>
              <a:gd name="connsiteY4" fmla="*/ 3951198 h 3951198"/>
              <a:gd name="connsiteX5" fmla="*/ 539257 w 4051324"/>
              <a:gd name="connsiteY5" fmla="*/ 3863671 h 3951198"/>
              <a:gd name="connsiteX6" fmla="*/ 0 w 4051324"/>
              <a:gd name="connsiteY6" fmla="*/ 2361523 h 3951198"/>
              <a:gd name="connsiteX7" fmla="*/ 2361523 w 4051324"/>
              <a:gd name="connsiteY7" fmla="*/ 0 h 3951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51324" h="3951198">
                <a:moveTo>
                  <a:pt x="2361523" y="0"/>
                </a:moveTo>
                <a:cubicBezTo>
                  <a:pt x="3013639" y="0"/>
                  <a:pt x="3604020" y="264323"/>
                  <a:pt x="4031372" y="691674"/>
                </a:cubicBezTo>
                <a:lnTo>
                  <a:pt x="4051324" y="713627"/>
                </a:lnTo>
                <a:lnTo>
                  <a:pt x="4051324" y="3951198"/>
                </a:lnTo>
                <a:lnTo>
                  <a:pt x="618807" y="3951198"/>
                </a:lnTo>
                <a:lnTo>
                  <a:pt x="539257" y="3863671"/>
                </a:lnTo>
                <a:cubicBezTo>
                  <a:pt x="202372" y="3455461"/>
                  <a:pt x="0" y="2932125"/>
                  <a:pt x="0" y="2361523"/>
                </a:cubicBezTo>
                <a:cubicBezTo>
                  <a:pt x="0" y="1057290"/>
                  <a:pt x="1057290" y="0"/>
                  <a:pt x="2361523" y="0"/>
                </a:cubicBez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7" name="Graphic 26">
            <a:extLst>
              <a:ext uri="{FF2B5EF4-FFF2-40B4-BE49-F238E27FC236}">
                <a16:creationId xmlns:a16="http://schemas.microsoft.com/office/drawing/2014/main" id="{9261E5D4-2BDB-4D13-9B4F-822CB40907D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duotone>
              <a:prstClr val="black"/>
              <a:schemeClr val="accent3">
                <a:tint val="45000"/>
                <a:satMod val="400000"/>
              </a:schemeClr>
            </a:duotone>
            <a:extLst>
              <a:ext uri="{28A0092B-C50C-407E-A947-70E740481C1C}">
                <a14:useLocalDpi xmlns:a14="http://schemas.microsoft.com/office/drawing/2010/main" val="0"/>
              </a:ext>
              <a:ext uri="{96DAC541-7B7A-43D3-8B79-37D633B846F1}">
                <asvg:svgBlip xmlns:asvg="http://schemas.microsoft.com/office/drawing/2016/SVG/main" r:embed="rId6"/>
              </a:ext>
            </a:extLst>
          </a:blip>
          <a:srcRect l="22954" t="12147" r="12287" b="24733"/>
          <a:stretch/>
        </p:blipFill>
        <p:spPr>
          <a:xfrm flipH="1">
            <a:off x="9147042" y="3890057"/>
            <a:ext cx="3044958" cy="2967943"/>
          </a:xfrm>
          <a:prstGeom prst="rect">
            <a:avLst/>
          </a:prstGeom>
        </p:spPr>
      </p:pic>
      <p:sp>
        <p:nvSpPr>
          <p:cNvPr id="28" name="Content Placeholder 2">
            <a:extLst>
              <a:ext uri="{FF2B5EF4-FFF2-40B4-BE49-F238E27FC236}">
                <a16:creationId xmlns:a16="http://schemas.microsoft.com/office/drawing/2014/main" id="{EB52E8AD-001B-4CEF-81EE-C82C7F24C3D2}"/>
              </a:ext>
            </a:extLst>
          </p:cNvPr>
          <p:cNvSpPr>
            <a:spLocks noGrp="1"/>
          </p:cNvSpPr>
          <p:nvPr>
            <p:ph idx="1"/>
          </p:nvPr>
        </p:nvSpPr>
        <p:spPr>
          <a:xfrm>
            <a:off x="705304" y="1698264"/>
            <a:ext cx="6228382" cy="4802187"/>
          </a:xfrm>
        </p:spPr>
        <p:txBody>
          <a:bodyPr>
            <a:normAutofit fontScale="92500" lnSpcReduction="10000"/>
          </a:bodyPr>
          <a:lstStyle/>
          <a:p>
            <a:pPr>
              <a:buFont typeface="Wingdings" panose="05000000000000000000" pitchFamily="2" charset="2"/>
              <a:buChar char="v"/>
            </a:pPr>
            <a:r>
              <a:rPr lang="el-GR" dirty="0"/>
              <a:t>Παρομοίως, δημιουργήσαμε την κλάση UE για να προσομοιώσουμε την λειτουργικότητα για κάθε UE </a:t>
            </a:r>
            <a:r>
              <a:rPr lang="el-GR" b="1" dirty="0"/>
              <a:t>να κινείται</a:t>
            </a:r>
            <a:r>
              <a:rPr lang="el-GR" dirty="0"/>
              <a:t>, </a:t>
            </a:r>
            <a:r>
              <a:rPr lang="el-GR" b="1" dirty="0"/>
              <a:t>να παρακολουθεί το ιστορικό κίνησής του</a:t>
            </a:r>
            <a:r>
              <a:rPr lang="el-GR" dirty="0"/>
              <a:t> και </a:t>
            </a:r>
            <a:r>
              <a:rPr lang="el-GR" b="1" dirty="0"/>
              <a:t>να συνδέεται με διαφορετικούς σταθμούς βάσης.</a:t>
            </a:r>
          </a:p>
          <a:p>
            <a:pPr>
              <a:buFont typeface="Wingdings" panose="05000000000000000000" pitchFamily="2" charset="2"/>
              <a:buChar char="v"/>
            </a:pPr>
            <a:r>
              <a:rPr lang="el-GR" dirty="0"/>
              <a:t>Αρχικοποιούμε κάθε UE με ένα μοναδικό αναγνωριστικό (ID) και μια τυχαία θέση εντός της περιοχής κάλυψης. Οι μέθοδοι κίνησης επιτρέπουν σε κάθε UE να κινείται τυχαία ή προκαθορισμένα, προσομοιώνοντας πραγματικές συμπεριφορές καθώς οι χρήστες κινούνται μέσα σε μια πόλη ή άλλο περιβάλλον. </a:t>
            </a:r>
            <a:endParaRPr lang="en-GB" dirty="0"/>
          </a:p>
          <a:p>
            <a:pPr>
              <a:buFont typeface="Wingdings" panose="05000000000000000000" pitchFamily="2" charset="2"/>
              <a:buChar char="v"/>
            </a:pPr>
            <a:r>
              <a:rPr lang="el-GR" dirty="0"/>
              <a:t>Κάθε UE έχει τώρα ένα χαρακτηριστικό φορτίου επικοινωνίας που επηρεάζει το φορτίο του σταθμού βάσης. Διάφορα UE μπορεί να παράγουν διαφορετικές ποσότητες δεδομένων (π.χ., κλήσεις φωνής, </a:t>
            </a:r>
            <a:r>
              <a:rPr lang="el-GR" dirty="0" err="1"/>
              <a:t>streaming</a:t>
            </a:r>
            <a:r>
              <a:rPr lang="el-GR" dirty="0"/>
              <a:t> βίντεο, περιήγηση), προσθέτοντας περισσότερο ρεαλισμό στην προσομοίωση. Το φορτίο επικοινωνίας επηρεάζει τη διαδικασία </a:t>
            </a:r>
            <a:r>
              <a:rPr lang="el-GR" dirty="0" err="1"/>
              <a:t>handover</a:t>
            </a:r>
            <a:r>
              <a:rPr lang="el-GR" dirty="0"/>
              <a:t> καθορίζοντας πόση χωρητικότητα απαιτεί κάθε UE από τον συνδεδεμένο σταθμό.</a:t>
            </a:r>
            <a:endParaRPr lang="en-GB" dirty="0"/>
          </a:p>
        </p:txBody>
      </p:sp>
    </p:spTree>
    <p:extLst>
      <p:ext uri="{BB962C8B-B14F-4D97-AF65-F5344CB8AC3E}">
        <p14:creationId xmlns:p14="http://schemas.microsoft.com/office/powerpoint/2010/main" val="35310364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41189D9-F9FB-14DB-024B-6A1919F6C3E5}"/>
            </a:ext>
          </a:extLst>
        </p:cNvPr>
        <p:cNvGrpSpPr/>
        <p:nvPr/>
      </p:nvGrpSpPr>
      <p:grpSpPr>
        <a:xfrm>
          <a:off x="0" y="0"/>
          <a:ext cx="0" cy="0"/>
          <a:chOff x="0" y="0"/>
          <a:chExt cx="0" cy="0"/>
        </a:xfrm>
      </p:grpSpPr>
      <p:sp useBgFill="1">
        <p:nvSpPr>
          <p:cNvPr id="80" name="Rectangle 79">
            <a:extLst>
              <a:ext uri="{FF2B5EF4-FFF2-40B4-BE49-F238E27FC236}">
                <a16:creationId xmlns:a16="http://schemas.microsoft.com/office/drawing/2014/main" id="{4F8E18AC-903E-4B46-8CC0-FE20E612CE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 name="Rectangle 80">
            <a:extLst>
              <a:ext uri="{FF2B5EF4-FFF2-40B4-BE49-F238E27FC236}">
                <a16:creationId xmlns:a16="http://schemas.microsoft.com/office/drawing/2014/main" id="{3DEE38FB-0763-470C-8A5E-44456B5130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sp>
        <p:nvSpPr>
          <p:cNvPr id="2" name="Title 1">
            <a:extLst>
              <a:ext uri="{FF2B5EF4-FFF2-40B4-BE49-F238E27FC236}">
                <a16:creationId xmlns:a16="http://schemas.microsoft.com/office/drawing/2014/main" id="{7EEF3BAD-19D1-94D8-19B2-75AD0443A2B5}"/>
              </a:ext>
            </a:extLst>
          </p:cNvPr>
          <p:cNvSpPr>
            <a:spLocks noGrp="1"/>
          </p:cNvSpPr>
          <p:nvPr>
            <p:ph type="title"/>
          </p:nvPr>
        </p:nvSpPr>
        <p:spPr>
          <a:xfrm>
            <a:off x="884694" y="-957243"/>
            <a:ext cx="5115868" cy="2493876"/>
          </a:xfrm>
        </p:spPr>
        <p:txBody>
          <a:bodyPr anchor="b">
            <a:normAutofit/>
          </a:bodyPr>
          <a:lstStyle/>
          <a:p>
            <a:pPr marL="0" indent="0">
              <a:buNone/>
            </a:pPr>
            <a:r>
              <a:rPr lang="el-GR" sz="4400" dirty="0"/>
              <a:t>Μέθοδος __</a:t>
            </a:r>
            <a:r>
              <a:rPr lang="el-GR" sz="4400" dirty="0" err="1"/>
              <a:t>init</a:t>
            </a:r>
            <a:r>
              <a:rPr lang="el-GR" sz="4400" dirty="0"/>
              <a:t>__ (Αρχικοποίηση)</a:t>
            </a:r>
            <a:endParaRPr lang="en-GB" sz="4400" dirty="0"/>
          </a:p>
        </p:txBody>
      </p:sp>
      <p:sp>
        <p:nvSpPr>
          <p:cNvPr id="82" name="Oval 1">
            <a:extLst>
              <a:ext uri="{FF2B5EF4-FFF2-40B4-BE49-F238E27FC236}">
                <a16:creationId xmlns:a16="http://schemas.microsoft.com/office/drawing/2014/main" id="{F1D6E6C0-11C7-4A38-BD12-80741960B5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91411" y="557332"/>
            <a:ext cx="5743337" cy="57433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3" name="decorative circles">
            <a:extLst>
              <a:ext uri="{FF2B5EF4-FFF2-40B4-BE49-F238E27FC236}">
                <a16:creationId xmlns:a16="http://schemas.microsoft.com/office/drawing/2014/main" id="{2B16E781-E64A-4007-B0F1-5A50135A427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870062" y="289695"/>
            <a:ext cx="4971115" cy="6138399"/>
            <a:chOff x="6870062" y="289695"/>
            <a:chExt cx="4971115" cy="6138399"/>
          </a:xfrm>
        </p:grpSpPr>
        <p:sp>
          <p:nvSpPr>
            <p:cNvPr id="84" name="Oval 83">
              <a:extLst>
                <a:ext uri="{FF2B5EF4-FFF2-40B4-BE49-F238E27FC236}">
                  <a16:creationId xmlns:a16="http://schemas.microsoft.com/office/drawing/2014/main" id="{6F5849D6-7C1F-435A-8BEB-2A37173B65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543605" y="289695"/>
              <a:ext cx="226735" cy="226735"/>
            </a:xfrm>
            <a:prstGeom prst="ellipse">
              <a:avLst/>
            </a:prstGeom>
            <a:solidFill>
              <a:srgbClr val="9744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9C6C5D90-0568-4F1C-9392-536D4E32E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74736" y="5667686"/>
              <a:ext cx="466441" cy="46644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E069E425-421F-469A-9C32-9FB5C16E59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27805" y="5275653"/>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4C31A526-345A-4A63-BA59-FF91204E97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69847" y="5942894"/>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Oval 87">
              <a:extLst>
                <a:ext uri="{FF2B5EF4-FFF2-40B4-BE49-F238E27FC236}">
                  <a16:creationId xmlns:a16="http://schemas.microsoft.com/office/drawing/2014/main" id="{F27432B5-3C17-4415-B09A-67FCBD6360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81540" y="655922"/>
              <a:ext cx="466441" cy="466441"/>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90E4DDCC-A5A9-4365-876A-7992F2CF4D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03560" y="387281"/>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BA5DB42D-36BB-41F6-A512-3AFDD33ADA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63367" y="6122314"/>
              <a:ext cx="305780" cy="30578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a:extLst>
                <a:ext uri="{FF2B5EF4-FFF2-40B4-BE49-F238E27FC236}">
                  <a16:creationId xmlns:a16="http://schemas.microsoft.com/office/drawing/2014/main" id="{E03F45BD-67A0-4732-B626-9ECB4B18E2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0062" y="5959435"/>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descr="A circular puzzle with different colored pieces&#10;&#10;Description automatically generated">
            <a:extLst>
              <a:ext uri="{FF2B5EF4-FFF2-40B4-BE49-F238E27FC236}">
                <a16:creationId xmlns:a16="http://schemas.microsoft.com/office/drawing/2014/main" id="{8CA92833-40AC-87AD-A518-307DC048C511}"/>
              </a:ext>
            </a:extLst>
          </p:cNvPr>
          <p:cNvPicPr>
            <a:picLocks noChangeAspect="1"/>
          </p:cNvPicPr>
          <p:nvPr/>
        </p:nvPicPr>
        <p:blipFill>
          <a:blip r:embed="rId2">
            <a:extLst>
              <a:ext uri="{28A0092B-C50C-407E-A947-70E740481C1C}">
                <a14:useLocalDpi xmlns:a14="http://schemas.microsoft.com/office/drawing/2010/main" val="0"/>
              </a:ext>
            </a:extLst>
          </a:blip>
          <a:srcRect t="15556"/>
          <a:stretch/>
        </p:blipFill>
        <p:spPr>
          <a:xfrm>
            <a:off x="6619280" y="1802182"/>
            <a:ext cx="5087597" cy="3458417"/>
          </a:xfrm>
          <a:prstGeom prst="rect">
            <a:avLst/>
          </a:prstGeom>
        </p:spPr>
      </p:pic>
      <p:sp>
        <p:nvSpPr>
          <p:cNvPr id="22" name="Content Placeholder 2">
            <a:extLst>
              <a:ext uri="{FF2B5EF4-FFF2-40B4-BE49-F238E27FC236}">
                <a16:creationId xmlns:a16="http://schemas.microsoft.com/office/drawing/2014/main" id="{BD13F833-7DCB-9750-1A4C-CE79A6A26B1B}"/>
              </a:ext>
            </a:extLst>
          </p:cNvPr>
          <p:cNvSpPr>
            <a:spLocks noGrp="1"/>
          </p:cNvSpPr>
          <p:nvPr>
            <p:ph idx="1"/>
          </p:nvPr>
        </p:nvSpPr>
        <p:spPr>
          <a:xfrm>
            <a:off x="699220" y="1927146"/>
            <a:ext cx="5514169" cy="4879975"/>
          </a:xfrm>
        </p:spPr>
        <p:txBody>
          <a:bodyPr>
            <a:normAutofit fontScale="92500" lnSpcReduction="20000"/>
          </a:bodyPr>
          <a:lstStyle/>
          <a:p>
            <a:r>
              <a:rPr lang="el-GR" dirty="0"/>
              <a:t>Μέθοδος κατασκευής (</a:t>
            </a:r>
            <a:r>
              <a:rPr lang="el-GR" dirty="0" err="1"/>
              <a:t>constructor</a:t>
            </a:r>
            <a:r>
              <a:rPr lang="el-GR" dirty="0"/>
              <a:t>) που καλείται όταν δημιουργείται ένα νέο αντικείμενο της κλάσης </a:t>
            </a:r>
            <a:r>
              <a:rPr lang="en-GB" dirty="0"/>
              <a:t>UE</a:t>
            </a:r>
            <a:r>
              <a:rPr lang="el-GR" dirty="0"/>
              <a:t>.</a:t>
            </a:r>
            <a:r>
              <a:rPr lang="en-GB" dirty="0"/>
              <a:t> </a:t>
            </a:r>
            <a:r>
              <a:rPr lang="el-GR" dirty="0"/>
              <a:t>Δημιουργούμε μια </a:t>
            </a:r>
            <a:r>
              <a:rPr lang="el-GR" b="0" i="0" dirty="0">
                <a:solidFill>
                  <a:srgbClr val="2E2F30"/>
                </a:solidFill>
                <a:effectLst/>
                <a:latin typeface="Inter"/>
              </a:rPr>
              <a:t>συσκευή </a:t>
            </a:r>
            <a:r>
              <a:rPr lang="en-US" b="0" i="0" dirty="0">
                <a:solidFill>
                  <a:srgbClr val="2E2F30"/>
                </a:solidFill>
                <a:effectLst/>
                <a:latin typeface="Inter"/>
              </a:rPr>
              <a:t>UE </a:t>
            </a:r>
            <a:r>
              <a:rPr lang="el-GR" dirty="0"/>
              <a:t>με</a:t>
            </a:r>
            <a:r>
              <a:rPr lang="en-GB" dirty="0"/>
              <a:t>:</a:t>
            </a:r>
          </a:p>
          <a:p>
            <a:r>
              <a:rPr lang="el-GR" dirty="0" err="1"/>
              <a:t>id</a:t>
            </a:r>
            <a:r>
              <a:rPr lang="el-GR" dirty="0"/>
              <a:t>: Το μοναδικό αναγνωριστικό της συσκευής.</a:t>
            </a:r>
          </a:p>
          <a:p>
            <a:r>
              <a:rPr lang="el-GR" dirty="0"/>
              <a:t>x και y: Οι συντεταγμένες της θέσης της συσκευής.</a:t>
            </a:r>
          </a:p>
          <a:p>
            <a:r>
              <a:rPr lang="el-GR" dirty="0" err="1"/>
              <a:t>connected_station</a:t>
            </a:r>
            <a:r>
              <a:rPr lang="el-GR" dirty="0"/>
              <a:t>: Ο σταθμός βάσης στον οποίο είναι συνδεδεμένη η συσκευή (αρχικά </a:t>
            </a:r>
            <a:r>
              <a:rPr lang="el-GR" dirty="0" err="1"/>
              <a:t>None</a:t>
            </a:r>
            <a:r>
              <a:rPr lang="el-GR" dirty="0"/>
              <a:t>).</a:t>
            </a:r>
          </a:p>
          <a:p>
            <a:r>
              <a:rPr lang="el-GR" dirty="0" err="1"/>
              <a:t>handover_delay</a:t>
            </a:r>
            <a:r>
              <a:rPr lang="el-GR" dirty="0"/>
              <a:t> και </a:t>
            </a:r>
            <a:r>
              <a:rPr lang="el-GR" dirty="0" err="1"/>
              <a:t>handover_count</a:t>
            </a:r>
            <a:r>
              <a:rPr lang="el-GR" dirty="0"/>
              <a:t>: Μεταβλητές για την παρακολούθηση της καθυστέρησης και του πλήθους των </a:t>
            </a:r>
            <a:r>
              <a:rPr lang="el-GR" dirty="0" err="1"/>
              <a:t>handovers</a:t>
            </a:r>
            <a:r>
              <a:rPr lang="el-GR" dirty="0"/>
              <a:t>.</a:t>
            </a:r>
          </a:p>
          <a:p>
            <a:r>
              <a:rPr lang="el-GR" dirty="0" err="1"/>
              <a:t>history</a:t>
            </a:r>
            <a:r>
              <a:rPr lang="el-GR" dirty="0"/>
              <a:t>: Μια λίστα για την παρακολούθηση του ιστορικού κίνησης της συσκευής.</a:t>
            </a:r>
            <a:r>
              <a:rPr lang="en-GB" dirty="0"/>
              <a:t> </a:t>
            </a:r>
            <a:r>
              <a:rPr lang="el-GR" dirty="0"/>
              <a:t>Το ιστορικό κίνησης καταγράφεται για να </a:t>
            </a:r>
            <a:r>
              <a:rPr lang="el-GR" dirty="0" err="1"/>
              <a:t>οπτικοποιήσουμε</a:t>
            </a:r>
            <a:r>
              <a:rPr lang="el-GR" dirty="0"/>
              <a:t> τις διαδρομές των UE καθ' όλη τη διάρκεια της προσομοίωσης.</a:t>
            </a:r>
          </a:p>
          <a:p>
            <a:r>
              <a:rPr lang="el-GR" dirty="0" err="1"/>
              <a:t>communication_load</a:t>
            </a:r>
            <a:r>
              <a:rPr lang="el-GR" dirty="0"/>
              <a:t>: Το φορτίο επικοινωνίας της συσκευής, αρχικοποιείται τυχαία μεταξύ 0.1 και 1.0</a:t>
            </a:r>
            <a:r>
              <a:rPr lang="en-GB" dirty="0"/>
              <a:t>, </a:t>
            </a:r>
            <a:r>
              <a:rPr lang="el-GR" dirty="0"/>
              <a:t>αναφέρεται στους πόρους επικοινωνίας του δικτύου, που καταναλώνει.</a:t>
            </a:r>
          </a:p>
        </p:txBody>
      </p:sp>
    </p:spTree>
    <p:extLst>
      <p:ext uri="{BB962C8B-B14F-4D97-AF65-F5344CB8AC3E}">
        <p14:creationId xmlns:p14="http://schemas.microsoft.com/office/powerpoint/2010/main" val="17057298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25E1414-AF1F-93A6-0ABA-4D43CA7BC18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D37A900-C8FA-DF97-84B3-210DC7281E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10" name="Rectangle 9">
            <a:extLst>
              <a:ext uri="{FF2B5EF4-FFF2-40B4-BE49-F238E27FC236}">
                <a16:creationId xmlns:a16="http://schemas.microsoft.com/office/drawing/2014/main" id="{4F1E8FE1-27BC-174F-33BE-06607D44B8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Gill Sans Nova"/>
              <a:ea typeface="+mn-ea"/>
              <a:cs typeface="+mn-cs"/>
            </a:endParaRPr>
          </a:p>
        </p:txBody>
      </p:sp>
      <p:pic>
        <p:nvPicPr>
          <p:cNvPr id="30" name="Picture 29" descr="A close-up of a wave&#10;&#10;Description automatically generated">
            <a:extLst>
              <a:ext uri="{FF2B5EF4-FFF2-40B4-BE49-F238E27FC236}">
                <a16:creationId xmlns:a16="http://schemas.microsoft.com/office/drawing/2014/main" id="{A6042C5A-3F03-6F12-0270-89E264753F44}"/>
              </a:ext>
            </a:extLst>
          </p:cNvPr>
          <p:cNvPicPr>
            <a:picLocks noChangeAspect="1"/>
          </p:cNvPicPr>
          <p:nvPr/>
        </p:nvPicPr>
        <p:blipFill>
          <a:blip r:embed="rId2">
            <a:alphaModFix amt="40000"/>
          </a:blip>
          <a:srcRect t="12769" r="-1" b="-1"/>
          <a:stretch/>
        </p:blipFill>
        <p:spPr>
          <a:xfrm>
            <a:off x="1525" y="10"/>
            <a:ext cx="12188951" cy="6857990"/>
          </a:xfrm>
          <a:prstGeom prst="rect">
            <a:avLst/>
          </a:prstGeom>
        </p:spPr>
      </p:pic>
      <p:grpSp>
        <p:nvGrpSpPr>
          <p:cNvPr id="31" name="decorative circle">
            <a:extLst>
              <a:ext uri="{FF2B5EF4-FFF2-40B4-BE49-F238E27FC236}">
                <a16:creationId xmlns:a16="http://schemas.microsoft.com/office/drawing/2014/main" id="{D3314E58-2C55-849A-FC78-E2C1F5956EA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4102" y="236341"/>
            <a:ext cx="11340713" cy="5464029"/>
            <a:chOff x="314102" y="236341"/>
            <a:chExt cx="11340713" cy="5464029"/>
          </a:xfrm>
        </p:grpSpPr>
        <p:sp>
          <p:nvSpPr>
            <p:cNvPr id="32" name="Oval 31">
              <a:extLst>
                <a:ext uri="{FF2B5EF4-FFF2-40B4-BE49-F238E27FC236}">
                  <a16:creationId xmlns:a16="http://schemas.microsoft.com/office/drawing/2014/main" id="{BA1C4552-739F-32D1-3511-8C6CF0F953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0448" y="3803994"/>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14" name="Oval 13">
              <a:extLst>
                <a:ext uri="{FF2B5EF4-FFF2-40B4-BE49-F238E27FC236}">
                  <a16:creationId xmlns:a16="http://schemas.microsoft.com/office/drawing/2014/main" id="{08A56E69-60D2-80DD-4B0D-87134CF2D2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4102" y="3044381"/>
              <a:ext cx="226735" cy="226735"/>
            </a:xfrm>
            <a:prstGeom prst="ellipse">
              <a:avLst/>
            </a:prstGeom>
            <a:solidFill>
              <a:schemeClr val="tx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15" name="Oval 14">
              <a:extLst>
                <a:ext uri="{FF2B5EF4-FFF2-40B4-BE49-F238E27FC236}">
                  <a16:creationId xmlns:a16="http://schemas.microsoft.com/office/drawing/2014/main" id="{8C7EACDC-9F21-D5C1-9FA1-A3059AD6DF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88374" y="386135"/>
              <a:ext cx="466441" cy="466441"/>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3" name="Oval 32">
              <a:extLst>
                <a:ext uri="{FF2B5EF4-FFF2-40B4-BE49-F238E27FC236}">
                  <a16:creationId xmlns:a16="http://schemas.microsoft.com/office/drawing/2014/main" id="{CEE98EAF-EEC9-B196-578D-6404402F14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65714" y="236341"/>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4" name="Oval 33">
              <a:extLst>
                <a:ext uri="{FF2B5EF4-FFF2-40B4-BE49-F238E27FC236}">
                  <a16:creationId xmlns:a16="http://schemas.microsoft.com/office/drawing/2014/main" id="{8A1CED59-817B-04D8-65EF-71B0ADC6C0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1535" y="2516671"/>
              <a:ext cx="466441" cy="46644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5" name="Oval 34">
              <a:extLst>
                <a:ext uri="{FF2B5EF4-FFF2-40B4-BE49-F238E27FC236}">
                  <a16:creationId xmlns:a16="http://schemas.microsoft.com/office/drawing/2014/main" id="{D01C0D22-E329-4A02-C278-0BEE767520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30142" y="458803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6" name="Oval 35">
              <a:extLst>
                <a:ext uri="{FF2B5EF4-FFF2-40B4-BE49-F238E27FC236}">
                  <a16:creationId xmlns:a16="http://schemas.microsoft.com/office/drawing/2014/main" id="{53766389-EA24-67CF-706A-10A354E92B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02046" y="5394590"/>
              <a:ext cx="305780" cy="30578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7" name="Oval 36">
              <a:extLst>
                <a:ext uri="{FF2B5EF4-FFF2-40B4-BE49-F238E27FC236}">
                  <a16:creationId xmlns:a16="http://schemas.microsoft.com/office/drawing/2014/main" id="{21C14F05-8320-86CC-31FB-5E07C6150A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08287" y="5160714"/>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C4861A4E-387A-CD4F-CE59-C0994266FED4}"/>
              </a:ext>
            </a:extLst>
          </p:cNvPr>
          <p:cNvSpPr>
            <a:spLocks noGrp="1"/>
          </p:cNvSpPr>
          <p:nvPr>
            <p:ph type="ctrTitle"/>
          </p:nvPr>
        </p:nvSpPr>
        <p:spPr>
          <a:xfrm>
            <a:off x="2562605" y="1041400"/>
            <a:ext cx="7063739" cy="2387600"/>
          </a:xfrm>
        </p:spPr>
        <p:txBody>
          <a:bodyPr>
            <a:normAutofit/>
          </a:bodyPr>
          <a:lstStyle/>
          <a:p>
            <a:r>
              <a:rPr lang="el-GR" dirty="0">
                <a:solidFill>
                  <a:srgbClr val="FFFFFF"/>
                </a:solidFill>
              </a:rPr>
              <a:t>Μοντέλα Κινητικότητας</a:t>
            </a:r>
          </a:p>
        </p:txBody>
      </p:sp>
    </p:spTree>
    <p:extLst>
      <p:ext uri="{BB962C8B-B14F-4D97-AF65-F5344CB8AC3E}">
        <p14:creationId xmlns:p14="http://schemas.microsoft.com/office/powerpoint/2010/main" val="20535261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FD0A8-4365-A469-FCF3-830EE154F428}"/>
              </a:ext>
            </a:extLst>
          </p:cNvPr>
          <p:cNvSpPr>
            <a:spLocks noGrp="1"/>
          </p:cNvSpPr>
          <p:nvPr>
            <p:ph type="title"/>
          </p:nvPr>
        </p:nvSpPr>
        <p:spPr/>
        <p:txBody>
          <a:bodyPr/>
          <a:lstStyle/>
          <a:p>
            <a:r>
              <a:rPr lang="el-GR" dirty="0"/>
              <a:t>Α. Μέθοδος</a:t>
            </a:r>
            <a:r>
              <a:rPr lang="en-GB" dirty="0"/>
              <a:t> </a:t>
            </a:r>
            <a:r>
              <a:rPr lang="en-GB" dirty="0" err="1"/>
              <a:t>move_randomly</a:t>
            </a:r>
            <a:r>
              <a:rPr lang="en-GB" dirty="0"/>
              <a:t> </a:t>
            </a:r>
            <a:endParaRPr lang="el-GR" dirty="0"/>
          </a:p>
        </p:txBody>
      </p:sp>
      <p:sp>
        <p:nvSpPr>
          <p:cNvPr id="3" name="Content Placeholder 2">
            <a:extLst>
              <a:ext uri="{FF2B5EF4-FFF2-40B4-BE49-F238E27FC236}">
                <a16:creationId xmlns:a16="http://schemas.microsoft.com/office/drawing/2014/main" id="{82398895-F850-7315-46ED-CD9B9BAC2D09}"/>
              </a:ext>
            </a:extLst>
          </p:cNvPr>
          <p:cNvSpPr>
            <a:spLocks noGrp="1"/>
          </p:cNvSpPr>
          <p:nvPr>
            <p:ph idx="1"/>
          </p:nvPr>
        </p:nvSpPr>
        <p:spPr/>
        <p:txBody>
          <a:bodyPr/>
          <a:lstStyle/>
          <a:p>
            <a:r>
              <a:rPr lang="el-GR" dirty="0"/>
              <a:t>Σκοπός</a:t>
            </a:r>
            <a:r>
              <a:rPr lang="en-GB" dirty="0"/>
              <a:t>: </a:t>
            </a:r>
            <a:r>
              <a:rPr lang="el-GR" dirty="0"/>
              <a:t>Να </a:t>
            </a:r>
            <a:r>
              <a:rPr lang="el-GR" dirty="0">
                <a:solidFill>
                  <a:srgbClr val="2E2F30"/>
                </a:solidFill>
                <a:latin typeface="Inter"/>
              </a:rPr>
              <a:t>π</a:t>
            </a:r>
            <a:r>
              <a:rPr lang="el-GR" b="0" i="0" dirty="0">
                <a:solidFill>
                  <a:srgbClr val="2E2F30"/>
                </a:solidFill>
                <a:effectLst/>
                <a:latin typeface="Inter"/>
              </a:rPr>
              <a:t>ροσομοιώσει την τυχαία κίνηση ενός UE σε κάθε βήμα της προσομοίωσης</a:t>
            </a:r>
            <a:r>
              <a:rPr lang="en-GB" b="0" i="0" dirty="0">
                <a:solidFill>
                  <a:srgbClr val="2E2F30"/>
                </a:solidFill>
                <a:effectLst/>
                <a:latin typeface="Inter"/>
              </a:rPr>
              <a:t>.</a:t>
            </a:r>
          </a:p>
          <a:p>
            <a:r>
              <a:rPr lang="el-GR" dirty="0"/>
              <a:t>Επιτρέπει στο UE να κινείται τυχαία εντός ενός δεδομένου μέγιστου βήματος σε κάθε κατεύθυνση, μέσω της παραμέτρου </a:t>
            </a:r>
            <a:r>
              <a:rPr lang="el-GR" dirty="0" err="1"/>
              <a:t>step_size</a:t>
            </a:r>
            <a:r>
              <a:rPr lang="el-GR" dirty="0"/>
              <a:t>. </a:t>
            </a:r>
          </a:p>
          <a:p>
            <a:r>
              <a:rPr lang="el-GR" dirty="0"/>
              <a:t>Με άλλα λόγια καθορίζουμε τη μέγιστη απόσταση που μπορεί να μετακινηθεί το UE σε οποιαδήποτε κατεύθυνση.</a:t>
            </a:r>
          </a:p>
          <a:p>
            <a:r>
              <a:rPr lang="el-GR" dirty="0"/>
              <a:t>Χρησιμοποιούμε τη συνάρτηση </a:t>
            </a:r>
            <a:r>
              <a:rPr lang="el-GR" dirty="0" err="1"/>
              <a:t>random.uniform</a:t>
            </a:r>
            <a:r>
              <a:rPr lang="el-GR" dirty="0"/>
              <a:t> για να παράγουμε μια τυχαία τιμή μεταξύ -</a:t>
            </a:r>
            <a:r>
              <a:rPr lang="el-GR" dirty="0" err="1"/>
              <a:t>step_size</a:t>
            </a:r>
            <a:r>
              <a:rPr lang="el-GR" dirty="0"/>
              <a:t> και </a:t>
            </a:r>
            <a:r>
              <a:rPr lang="el-GR" dirty="0" err="1"/>
              <a:t>step_size</a:t>
            </a:r>
            <a:r>
              <a:rPr lang="el-GR" dirty="0"/>
              <a:t> για κάθε συντεταγμένη (x και y). Αυτή η τυχαία τιμή προστίθεται στις τρέχουσες συντεταγμένες </a:t>
            </a:r>
            <a:r>
              <a:rPr lang="el-GR" dirty="0" err="1"/>
              <a:t>self.x</a:t>
            </a:r>
            <a:r>
              <a:rPr lang="el-GR" dirty="0"/>
              <a:t> και </a:t>
            </a:r>
            <a:r>
              <a:rPr lang="el-GR" dirty="0" err="1"/>
              <a:t>self.y</a:t>
            </a:r>
            <a:r>
              <a:rPr lang="el-GR" dirty="0"/>
              <a:t> του UE, μετακινώντας το σε μια τυχαία κατεύθυνση και απόσταση εντός του καθορισμένου ορίου. </a:t>
            </a:r>
          </a:p>
          <a:p>
            <a:r>
              <a:rPr lang="el-GR" dirty="0"/>
              <a:t>Η νέα θέση του UE μετά την τυχαία κίνηση προστίθεται στη λίστα </a:t>
            </a:r>
            <a:r>
              <a:rPr lang="el-GR" dirty="0" err="1"/>
              <a:t>self.history</a:t>
            </a:r>
            <a:r>
              <a:rPr lang="el-GR" dirty="0"/>
              <a:t> ως ένα ζεύγος (x, y), για να παρακολουθούμε το ιστορικό κίνησης του UE καθ' όλη τη διάρκεια της προσομοίωσης.</a:t>
            </a:r>
          </a:p>
        </p:txBody>
      </p:sp>
    </p:spTree>
    <p:extLst>
      <p:ext uri="{BB962C8B-B14F-4D97-AF65-F5344CB8AC3E}">
        <p14:creationId xmlns:p14="http://schemas.microsoft.com/office/powerpoint/2010/main" val="40160357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3518D-6720-09BB-CBF9-C21FB64F0EBC}"/>
              </a:ext>
            </a:extLst>
          </p:cNvPr>
          <p:cNvSpPr>
            <a:spLocks noGrp="1"/>
          </p:cNvSpPr>
          <p:nvPr>
            <p:ph type="title"/>
          </p:nvPr>
        </p:nvSpPr>
        <p:spPr/>
        <p:txBody>
          <a:bodyPr/>
          <a:lstStyle/>
          <a:p>
            <a:r>
              <a:rPr lang="el-GR" dirty="0"/>
              <a:t>Β. Μέθοδος</a:t>
            </a:r>
            <a:r>
              <a:rPr lang="en-GB" dirty="0"/>
              <a:t> </a:t>
            </a:r>
            <a:r>
              <a:rPr lang="en-GB" dirty="0" err="1"/>
              <a:t>move_linearly</a:t>
            </a:r>
            <a:endParaRPr lang="el-GR" dirty="0"/>
          </a:p>
        </p:txBody>
      </p:sp>
      <p:sp>
        <p:nvSpPr>
          <p:cNvPr id="3" name="Content Placeholder 2">
            <a:extLst>
              <a:ext uri="{FF2B5EF4-FFF2-40B4-BE49-F238E27FC236}">
                <a16:creationId xmlns:a16="http://schemas.microsoft.com/office/drawing/2014/main" id="{125F6277-4DA2-B168-B875-9539CA9D196F}"/>
              </a:ext>
            </a:extLst>
          </p:cNvPr>
          <p:cNvSpPr>
            <a:spLocks noGrp="1"/>
          </p:cNvSpPr>
          <p:nvPr>
            <p:ph idx="1"/>
          </p:nvPr>
        </p:nvSpPr>
        <p:spPr/>
        <p:txBody>
          <a:bodyPr/>
          <a:lstStyle/>
          <a:p>
            <a:r>
              <a:rPr lang="el-GR" dirty="0"/>
              <a:t>Σκοπός</a:t>
            </a:r>
            <a:r>
              <a:rPr lang="en-GB" dirty="0"/>
              <a:t>: </a:t>
            </a:r>
            <a:r>
              <a:rPr lang="el-GR" dirty="0"/>
              <a:t>Να </a:t>
            </a:r>
            <a:r>
              <a:rPr lang="el-GR" b="0" i="0" dirty="0">
                <a:solidFill>
                  <a:srgbClr val="2E2F30"/>
                </a:solidFill>
                <a:effectLst/>
                <a:latin typeface="Inter"/>
              </a:rPr>
              <a:t>προσομοιώσει την κίνηση ενός UE σε μια γραμμική κατεύθυνση/ευθεία διαδρομ</a:t>
            </a:r>
            <a:r>
              <a:rPr lang="el-GR" dirty="0">
                <a:solidFill>
                  <a:srgbClr val="2E2F30"/>
                </a:solidFill>
                <a:latin typeface="Inter"/>
              </a:rPr>
              <a:t>ή.</a:t>
            </a:r>
            <a:r>
              <a:rPr lang="el-GR" b="0" i="0" dirty="0">
                <a:solidFill>
                  <a:srgbClr val="2E2F30"/>
                </a:solidFill>
                <a:effectLst/>
                <a:latin typeface="Inter"/>
              </a:rPr>
              <a:t> </a:t>
            </a:r>
          </a:p>
          <a:p>
            <a:r>
              <a:rPr lang="el-GR" dirty="0"/>
              <a:t>Επιτρέπει στο UE να κινείται γραμμικά με δεδομένες ταχύτητες στις κατευθύνσεις x και y.</a:t>
            </a:r>
            <a:endParaRPr lang="en-GB" dirty="0"/>
          </a:p>
          <a:p>
            <a:r>
              <a:rPr lang="el-GR" b="1" dirty="0"/>
              <a:t>Ταχύτητα: </a:t>
            </a:r>
            <a:r>
              <a:rPr lang="el-GR" dirty="0"/>
              <a:t>Στο πλαίσιο της φυσικής, η ταχύτητα είναι το φυσικό μέγεθος που περιγράφει πόσο γρήγορα αλλάζει η θέση ενός αντικειμένου με την πάροδο του χρόνου. Στην ευθύγραμμη κίνηση, η ταχύτητα είναι σταθερή και καθορίζει την απόσταση που διανύει το αντικείμενο σε μια συγκεκριμένη χρονική περίοδο.</a:t>
            </a:r>
          </a:p>
          <a:p>
            <a:r>
              <a:rPr lang="el-GR" dirty="0"/>
              <a:t>Η μέθοδος δέχεται δύο παραμέτρους: </a:t>
            </a:r>
            <a:r>
              <a:rPr lang="el-GR" dirty="0" err="1"/>
              <a:t>x_speed</a:t>
            </a:r>
            <a:r>
              <a:rPr lang="el-GR" dirty="0"/>
              <a:t> και </a:t>
            </a:r>
            <a:r>
              <a:rPr lang="el-GR" dirty="0" err="1"/>
              <a:t>y_speed</a:t>
            </a:r>
            <a:r>
              <a:rPr lang="el-GR" dirty="0"/>
              <a:t>, που αντιπροσωπεύουν την ταχύτητα κίνησης του UE στους άξονες x και y αντίστοιχα.</a:t>
            </a:r>
          </a:p>
          <a:p>
            <a:r>
              <a:rPr lang="el-GR" dirty="0"/>
              <a:t>Οι τρέχουσες συντεταγμένες του UE (</a:t>
            </a:r>
            <a:r>
              <a:rPr lang="el-GR" dirty="0" err="1"/>
              <a:t>self.x</a:t>
            </a:r>
            <a:r>
              <a:rPr lang="el-GR" dirty="0"/>
              <a:t> και </a:t>
            </a:r>
            <a:r>
              <a:rPr lang="el-GR" dirty="0" err="1"/>
              <a:t>self.y</a:t>
            </a:r>
            <a:r>
              <a:rPr lang="el-GR" dirty="0"/>
              <a:t>) ενημερώνονται προσθέτοντας τις αντίστοιχες </a:t>
            </a:r>
            <a:r>
              <a:rPr lang="el-GR" dirty="0" err="1"/>
              <a:t>x_speed</a:t>
            </a:r>
            <a:r>
              <a:rPr lang="el-GR" dirty="0"/>
              <a:t> και </a:t>
            </a:r>
            <a:r>
              <a:rPr lang="el-GR" dirty="0" err="1"/>
              <a:t>y_speed</a:t>
            </a:r>
            <a:r>
              <a:rPr lang="el-GR" dirty="0"/>
              <a:t>, ώστε να μετακινηθεί το UE σε μια γραμμική κατεύθυνση με βάση τις δοθείσες ταχύτητες.</a:t>
            </a:r>
          </a:p>
          <a:p>
            <a:r>
              <a:rPr lang="el-GR" dirty="0"/>
              <a:t>Η νέα θέση του UE μετά τη γραμμική κίνηση προστίθεται στη λίστα </a:t>
            </a:r>
            <a:r>
              <a:rPr lang="el-GR" dirty="0" err="1"/>
              <a:t>self.history</a:t>
            </a:r>
            <a:r>
              <a:rPr lang="el-GR" dirty="0"/>
              <a:t> ως ένα ζεύγος (x, y</a:t>
            </a:r>
            <a:r>
              <a:rPr lang="en-GB" dirty="0"/>
              <a:t>), </a:t>
            </a:r>
            <a:r>
              <a:rPr lang="el-GR" dirty="0"/>
              <a:t>ώστε να παρακολουθούμε το ιστορικό κίνησης του UE καθ' όλη τη διάρκεια της προσομοίωσης.</a:t>
            </a:r>
          </a:p>
        </p:txBody>
      </p:sp>
    </p:spTree>
    <p:extLst>
      <p:ext uri="{BB962C8B-B14F-4D97-AF65-F5344CB8AC3E}">
        <p14:creationId xmlns:p14="http://schemas.microsoft.com/office/powerpoint/2010/main" val="33494281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AACE7-FC8D-7BBF-59C1-35920D76F99B}"/>
              </a:ext>
            </a:extLst>
          </p:cNvPr>
          <p:cNvSpPr>
            <a:spLocks noGrp="1"/>
          </p:cNvSpPr>
          <p:nvPr>
            <p:ph type="title"/>
          </p:nvPr>
        </p:nvSpPr>
        <p:spPr>
          <a:xfrm>
            <a:off x="777240" y="227474"/>
            <a:ext cx="10659110" cy="1325563"/>
          </a:xfrm>
        </p:spPr>
        <p:txBody>
          <a:bodyPr/>
          <a:lstStyle/>
          <a:p>
            <a:r>
              <a:rPr lang="el-GR" dirty="0"/>
              <a:t>Γ. Μέθοδος</a:t>
            </a:r>
            <a:r>
              <a:rPr lang="en-GB" dirty="0"/>
              <a:t> </a:t>
            </a:r>
            <a:r>
              <a:rPr lang="en-GB" dirty="0" err="1"/>
              <a:t>move_custom</a:t>
            </a:r>
            <a:endParaRPr lang="el-GR" dirty="0"/>
          </a:p>
        </p:txBody>
      </p:sp>
      <p:sp>
        <p:nvSpPr>
          <p:cNvPr id="3" name="Content Placeholder 2">
            <a:extLst>
              <a:ext uri="{FF2B5EF4-FFF2-40B4-BE49-F238E27FC236}">
                <a16:creationId xmlns:a16="http://schemas.microsoft.com/office/drawing/2014/main" id="{A36A4AC0-8127-4E82-060E-F15751C1A3C0}"/>
              </a:ext>
            </a:extLst>
          </p:cNvPr>
          <p:cNvSpPr>
            <a:spLocks noGrp="1"/>
          </p:cNvSpPr>
          <p:nvPr>
            <p:ph idx="1"/>
          </p:nvPr>
        </p:nvSpPr>
        <p:spPr>
          <a:xfrm>
            <a:off x="777240" y="1396182"/>
            <a:ext cx="10659110" cy="5368412"/>
          </a:xfrm>
        </p:spPr>
        <p:txBody>
          <a:bodyPr>
            <a:normAutofit lnSpcReduction="10000"/>
          </a:bodyPr>
          <a:lstStyle/>
          <a:p>
            <a:r>
              <a:rPr lang="el-GR" dirty="0"/>
              <a:t>Σκοπός</a:t>
            </a:r>
            <a:r>
              <a:rPr lang="en-GB" dirty="0"/>
              <a:t>: </a:t>
            </a:r>
            <a:r>
              <a:rPr lang="el-GR" dirty="0"/>
              <a:t>Το UE να ακολουθεί μια προκαθορισμένη διαδρομή που ορίζεται από μια λίστα συντεταγμένων. Σε κάθε κλήση της μεθόδου, το UE μετακινείται στην επόμενη θέση της διαδρομής μέχρι να εξαντληθούν όλα τα σημεία.</a:t>
            </a:r>
            <a:r>
              <a:rPr lang="en-GB" dirty="0"/>
              <a:t> </a:t>
            </a:r>
            <a:r>
              <a:rPr lang="el-GR" b="0" i="0" dirty="0">
                <a:solidFill>
                  <a:srgbClr val="2E2F30"/>
                </a:solidFill>
                <a:effectLst/>
                <a:latin typeface="Inter"/>
              </a:rPr>
              <a:t>Αυτό μπορεί να χρησιμοποιηθεί για να αναπαραστήσει πιο προβλέψιμα ή ελεγχόμενα μοτίβα κίνησης, όπως ένα UE που κινείται κατά μήκος ενός δρόμου.</a:t>
            </a:r>
            <a:endParaRPr lang="el-GR" dirty="0"/>
          </a:p>
          <a:p>
            <a:r>
              <a:rPr lang="el-GR" dirty="0"/>
              <a:t>Η μέθοδος δέχεται μια παράμετρο </a:t>
            </a:r>
            <a:r>
              <a:rPr lang="el-GR" dirty="0" err="1"/>
              <a:t>path</a:t>
            </a:r>
            <a:r>
              <a:rPr lang="el-GR" dirty="0"/>
              <a:t>, που είναι μια λίστα από ζεύγη συντεταγμένων (</a:t>
            </a:r>
            <a:r>
              <a:rPr lang="el-GR" dirty="0" err="1"/>
              <a:t>tuples</a:t>
            </a:r>
            <a:r>
              <a:rPr lang="el-GR" dirty="0"/>
              <a:t>) που αντιπροσωπεύουν την προκαθορισμένη διαδρομή που θα ακολουθήσει το UE.</a:t>
            </a:r>
          </a:p>
          <a:p>
            <a:r>
              <a:rPr lang="el-GR" dirty="0"/>
              <a:t>Ελέγχουμε αν η λίστα </a:t>
            </a:r>
            <a:r>
              <a:rPr lang="el-GR" dirty="0" err="1"/>
              <a:t>path</a:t>
            </a:r>
            <a:r>
              <a:rPr lang="el-GR" dirty="0"/>
              <a:t> δεν είναι κενή. Αν περιέχει στοιχεία, προχωράμε στην εκτέλεση του κώδικα</a:t>
            </a:r>
            <a:r>
              <a:rPr lang="en-GB" dirty="0"/>
              <a:t>:</a:t>
            </a:r>
          </a:p>
          <a:p>
            <a:pPr lvl="1">
              <a:buFont typeface="Wingdings" panose="05000000000000000000" pitchFamily="2" charset="2"/>
              <a:buChar char="§"/>
            </a:pPr>
            <a:r>
              <a:rPr lang="el-GR" sz="2000" dirty="0"/>
              <a:t>Χρησιμοποιούμε τη μέθοδο </a:t>
            </a:r>
            <a:r>
              <a:rPr lang="el-GR" sz="2000" dirty="0" err="1"/>
              <a:t>pop</a:t>
            </a:r>
            <a:r>
              <a:rPr lang="el-GR" sz="2000" dirty="0"/>
              <a:t>(0) για να αφαιρέσουμε και να επιστρέψουμε το πρώτο στοιχείο της λίστας </a:t>
            </a:r>
            <a:r>
              <a:rPr lang="el-GR" sz="2000" dirty="0" err="1"/>
              <a:t>path</a:t>
            </a:r>
            <a:r>
              <a:rPr lang="el-GR" sz="2000" dirty="0"/>
              <a:t>. Αυτό το ζεύγος συντεταγμένων (x, y) αντιπροσωπεύει την επόμενη θέση στην προκαθορισμένη διαδρομή.</a:t>
            </a:r>
            <a:endParaRPr lang="en-GB" sz="2000" dirty="0"/>
          </a:p>
          <a:p>
            <a:pPr lvl="1">
              <a:buFont typeface="Wingdings" panose="05000000000000000000" pitchFamily="2" charset="2"/>
              <a:buChar char="§"/>
            </a:pPr>
            <a:endParaRPr lang="el-GR" sz="2000" dirty="0"/>
          </a:p>
          <a:p>
            <a:pPr lvl="1">
              <a:buFont typeface="Wingdings" panose="05000000000000000000" pitchFamily="2" charset="2"/>
              <a:buChar char="§"/>
            </a:pPr>
            <a:r>
              <a:rPr lang="el-GR" sz="2000" dirty="0"/>
              <a:t>Ενημερώνουμε τις συντεταγμένες του UE (</a:t>
            </a:r>
            <a:r>
              <a:rPr lang="el-GR" sz="2000" dirty="0" err="1"/>
              <a:t>self.x</a:t>
            </a:r>
            <a:r>
              <a:rPr lang="el-GR" sz="2000" dirty="0"/>
              <a:t> και </a:t>
            </a:r>
            <a:r>
              <a:rPr lang="el-GR" sz="2000" dirty="0" err="1"/>
              <a:t>self.y</a:t>
            </a:r>
            <a:r>
              <a:rPr lang="el-GR" sz="2000" dirty="0"/>
              <a:t>) με τις τιμές από το ζεύγος συντεταγμένων που αφαιρέθηκε από τη λίστα </a:t>
            </a:r>
            <a:r>
              <a:rPr lang="el-GR" sz="2000" dirty="0" err="1"/>
              <a:t>path</a:t>
            </a:r>
            <a:r>
              <a:rPr lang="el-GR" sz="2000" dirty="0"/>
              <a:t>.</a:t>
            </a:r>
            <a:endParaRPr lang="en-GB" sz="2000" dirty="0"/>
          </a:p>
          <a:p>
            <a:pPr lvl="1">
              <a:buFont typeface="Wingdings" panose="05000000000000000000" pitchFamily="2" charset="2"/>
              <a:buChar char="§"/>
            </a:pPr>
            <a:endParaRPr lang="el-GR" sz="2000" dirty="0"/>
          </a:p>
          <a:p>
            <a:pPr lvl="1">
              <a:buFont typeface="Wingdings" panose="05000000000000000000" pitchFamily="2" charset="2"/>
              <a:buChar char="§"/>
            </a:pPr>
            <a:r>
              <a:rPr lang="el-GR" sz="2000" dirty="0"/>
              <a:t>Προσθέτουμε τη νέα θέση του UE στη λίστα </a:t>
            </a:r>
            <a:r>
              <a:rPr lang="el-GR" sz="2000" dirty="0" err="1"/>
              <a:t>self.history</a:t>
            </a:r>
            <a:r>
              <a:rPr lang="el-GR" sz="2000" dirty="0"/>
              <a:t> ως ένα ζεύγος (x, y) για να παρακολουθούμε το ιστορικό κίνησης.</a:t>
            </a:r>
          </a:p>
        </p:txBody>
      </p:sp>
    </p:spTree>
    <p:extLst>
      <p:ext uri="{BB962C8B-B14F-4D97-AF65-F5344CB8AC3E}">
        <p14:creationId xmlns:p14="http://schemas.microsoft.com/office/powerpoint/2010/main" val="16139233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8427DF8B-AF40-4916-BF81-7B4B1D6A06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6AE0E191-47BD-46BD-846E-E994713F2C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sp>
        <p:nvSpPr>
          <p:cNvPr id="2" name="Title 1">
            <a:extLst>
              <a:ext uri="{FF2B5EF4-FFF2-40B4-BE49-F238E27FC236}">
                <a16:creationId xmlns:a16="http://schemas.microsoft.com/office/drawing/2014/main" id="{21325870-0310-E588-5879-3D89C6C71C5E}"/>
              </a:ext>
            </a:extLst>
          </p:cNvPr>
          <p:cNvSpPr>
            <a:spLocks noGrp="1"/>
          </p:cNvSpPr>
          <p:nvPr>
            <p:ph type="title"/>
          </p:nvPr>
        </p:nvSpPr>
        <p:spPr>
          <a:xfrm>
            <a:off x="511277" y="-957243"/>
            <a:ext cx="4606280" cy="2493876"/>
          </a:xfrm>
        </p:spPr>
        <p:txBody>
          <a:bodyPr anchor="b">
            <a:normAutofit/>
          </a:bodyPr>
          <a:lstStyle/>
          <a:p>
            <a:r>
              <a:rPr lang="el-GR" sz="4400" dirty="0"/>
              <a:t>3. Κλάση </a:t>
            </a:r>
            <a:r>
              <a:rPr lang="en-US" sz="4400" dirty="0"/>
              <a:t>Network</a:t>
            </a:r>
            <a:endParaRPr lang="el-GR" sz="4400" dirty="0"/>
          </a:p>
        </p:txBody>
      </p:sp>
      <p:sp>
        <p:nvSpPr>
          <p:cNvPr id="41" name="Oval 1">
            <a:extLst>
              <a:ext uri="{FF2B5EF4-FFF2-40B4-BE49-F238E27FC236}">
                <a16:creationId xmlns:a16="http://schemas.microsoft.com/office/drawing/2014/main" id="{D60DC0FE-B192-4898-9A42-DD3CA10611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75068" y="1214970"/>
            <a:ext cx="5716933" cy="5643030"/>
          </a:xfrm>
          <a:custGeom>
            <a:avLst/>
            <a:gdLst>
              <a:gd name="connsiteX0" fmla="*/ 3371933 w 5716933"/>
              <a:gd name="connsiteY0" fmla="*/ 0 h 5643030"/>
              <a:gd name="connsiteX1" fmla="*/ 5516795 w 5716933"/>
              <a:gd name="connsiteY1" fmla="*/ 769986 h 5643030"/>
              <a:gd name="connsiteX2" fmla="*/ 5716933 w 5716933"/>
              <a:gd name="connsiteY2" fmla="*/ 951883 h 5643030"/>
              <a:gd name="connsiteX3" fmla="*/ 5716933 w 5716933"/>
              <a:gd name="connsiteY3" fmla="*/ 5643030 h 5643030"/>
              <a:gd name="connsiteX4" fmla="*/ 884716 w 5716933"/>
              <a:gd name="connsiteY4" fmla="*/ 5643030 h 5643030"/>
              <a:gd name="connsiteX5" fmla="*/ 769986 w 5716933"/>
              <a:gd name="connsiteY5" fmla="*/ 5516796 h 5643030"/>
              <a:gd name="connsiteX6" fmla="*/ 0 w 5716933"/>
              <a:gd name="connsiteY6" fmla="*/ 3371933 h 5643030"/>
              <a:gd name="connsiteX7" fmla="*/ 3371933 w 5716933"/>
              <a:gd name="connsiteY7" fmla="*/ 0 h 5643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6933" h="5643030">
                <a:moveTo>
                  <a:pt x="3371933" y="0"/>
                </a:moveTo>
                <a:cubicBezTo>
                  <a:pt x="4186675" y="0"/>
                  <a:pt x="4933927" y="288960"/>
                  <a:pt x="5516795" y="769986"/>
                </a:cubicBezTo>
                <a:lnTo>
                  <a:pt x="5716933" y="951883"/>
                </a:lnTo>
                <a:lnTo>
                  <a:pt x="5716933" y="5643030"/>
                </a:lnTo>
                <a:lnTo>
                  <a:pt x="884716" y="5643030"/>
                </a:lnTo>
                <a:lnTo>
                  <a:pt x="769986" y="5516796"/>
                </a:lnTo>
                <a:cubicBezTo>
                  <a:pt x="288960" y="4933927"/>
                  <a:pt x="0" y="4186675"/>
                  <a:pt x="0" y="3371933"/>
                </a:cubicBezTo>
                <a:cubicBezTo>
                  <a:pt x="0" y="1509666"/>
                  <a:pt x="1509666" y="0"/>
                  <a:pt x="337193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grpSp>
        <p:nvGrpSpPr>
          <p:cNvPr id="43" name="decorative circles">
            <a:extLst>
              <a:ext uri="{FF2B5EF4-FFF2-40B4-BE49-F238E27FC236}">
                <a16:creationId xmlns:a16="http://schemas.microsoft.com/office/drawing/2014/main" id="{47154ABD-A760-4C29-A394-422706C2C03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08627" y="289695"/>
            <a:ext cx="5228154" cy="5966848"/>
            <a:chOff x="6008627" y="289695"/>
            <a:chExt cx="5228154" cy="5966848"/>
          </a:xfrm>
        </p:grpSpPr>
        <p:sp>
          <p:nvSpPr>
            <p:cNvPr id="44" name="Oval 43">
              <a:extLst>
                <a:ext uri="{FF2B5EF4-FFF2-40B4-BE49-F238E27FC236}">
                  <a16:creationId xmlns:a16="http://schemas.microsoft.com/office/drawing/2014/main" id="{87E907A3-04C3-40DF-AF5B-74DFD98587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543605" y="289695"/>
              <a:ext cx="226735" cy="226735"/>
            </a:xfrm>
            <a:prstGeom prst="ellipse">
              <a:avLst/>
            </a:prstGeom>
            <a:solidFill>
              <a:srgbClr val="9744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6C341F19-78FA-4078-B1AD-5E1646DD0D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03560" y="387281"/>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D6E0C6E1-CEDB-4511-B675-C5C48112E4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08627" y="5790102"/>
              <a:ext cx="466441" cy="466441"/>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C863F213-E875-41B8-A148-A90BCD837B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70340" y="674287"/>
              <a:ext cx="466441" cy="46644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26FF8E98-A1E7-49FB-95C2-4518E16B54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08627" y="5407667"/>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descr="A diagram of a handover process&#10;&#10;Description automatically generated">
            <a:extLst>
              <a:ext uri="{FF2B5EF4-FFF2-40B4-BE49-F238E27FC236}">
                <a16:creationId xmlns:a16="http://schemas.microsoft.com/office/drawing/2014/main" id="{A5BC2394-828F-CB1C-996F-6929580506C9}"/>
              </a:ext>
            </a:extLst>
          </p:cNvPr>
          <p:cNvPicPr>
            <a:picLocks noChangeAspect="1"/>
          </p:cNvPicPr>
          <p:nvPr/>
        </p:nvPicPr>
        <p:blipFill>
          <a:blip r:embed="rId2">
            <a:extLst>
              <a:ext uri="{28A0092B-C50C-407E-A947-70E740481C1C}">
                <a14:useLocalDpi xmlns:a14="http://schemas.microsoft.com/office/drawing/2010/main" val="0"/>
              </a:ext>
            </a:extLst>
          </a:blip>
          <a:srcRect l="6471" t="4349" r="3139" b="11520"/>
          <a:stretch/>
        </p:blipFill>
        <p:spPr>
          <a:xfrm>
            <a:off x="7452826" y="2245360"/>
            <a:ext cx="4632959" cy="4322945"/>
          </a:xfrm>
          <a:prstGeom prst="rect">
            <a:avLst/>
          </a:prstGeom>
        </p:spPr>
      </p:pic>
      <p:sp>
        <p:nvSpPr>
          <p:cNvPr id="13" name="TextBox 12">
            <a:extLst>
              <a:ext uri="{FF2B5EF4-FFF2-40B4-BE49-F238E27FC236}">
                <a16:creationId xmlns:a16="http://schemas.microsoft.com/office/drawing/2014/main" id="{0F13E1E4-C297-18D2-7397-571B38DB4BDE}"/>
              </a:ext>
            </a:extLst>
          </p:cNvPr>
          <p:cNvSpPr txBox="1"/>
          <p:nvPr/>
        </p:nvSpPr>
        <p:spPr>
          <a:xfrm>
            <a:off x="511277" y="2147774"/>
            <a:ext cx="6096000" cy="4001095"/>
          </a:xfrm>
          <a:prstGeom prst="rect">
            <a:avLst/>
          </a:prstGeom>
          <a:noFill/>
        </p:spPr>
        <p:txBody>
          <a:bodyPr wrap="square">
            <a:spAutoFit/>
          </a:bodyPr>
          <a:lstStyle/>
          <a:p>
            <a:r>
              <a:rPr lang="el-GR" dirty="0"/>
              <a:t>Αντιπροσωπεύει ένα δίκτυο κινητής τηλεφωνίας και περιέχει λειτουργίες για:</a:t>
            </a:r>
          </a:p>
          <a:p>
            <a:pPr marL="285750" indent="-285750">
              <a:buFont typeface="Wingdings" panose="05000000000000000000" pitchFamily="2" charset="2"/>
              <a:buChar char="v"/>
            </a:pPr>
            <a:r>
              <a:rPr lang="el-GR" dirty="0"/>
              <a:t>Τη δημιουργία σταθμών βάσης και εξοπλισμών χρήστη (UE), </a:t>
            </a:r>
          </a:p>
          <a:p>
            <a:pPr marL="285750" indent="-285750">
              <a:buFont typeface="Wingdings" panose="05000000000000000000" pitchFamily="2" charset="2"/>
              <a:buChar char="v"/>
            </a:pPr>
            <a:r>
              <a:rPr lang="el-GR" dirty="0"/>
              <a:t>Την εκτέλεση προσομοιώσεων με αλγόριθμο </a:t>
            </a:r>
            <a:r>
              <a:rPr lang="el-GR" dirty="0" err="1"/>
              <a:t>handover</a:t>
            </a:r>
            <a:r>
              <a:rPr lang="en-GB" dirty="0"/>
              <a:t> RSSI</a:t>
            </a:r>
            <a:r>
              <a:rPr lang="el-GR" dirty="0"/>
              <a:t> και μοτίβα κινητικότητας</a:t>
            </a:r>
          </a:p>
          <a:p>
            <a:pPr marL="285750" indent="-285750">
              <a:buFont typeface="Wingdings" panose="05000000000000000000" pitchFamily="2" charset="2"/>
              <a:buChar char="v"/>
            </a:pPr>
            <a:r>
              <a:rPr lang="el-GR" dirty="0"/>
              <a:t>Τον υπολογισμό κόστους σύνδεσης σε έναν σταθμό βάσης, λαμβάνοντας υπόψη την ισχύ του σήματος, το φορτίο και την απόσταση.</a:t>
            </a:r>
          </a:p>
          <a:p>
            <a:pPr marL="285750" indent="-285750">
              <a:buFont typeface="Wingdings" panose="05000000000000000000" pitchFamily="2" charset="2"/>
              <a:buChar char="v"/>
            </a:pPr>
            <a:r>
              <a:rPr lang="el-GR" dirty="0"/>
              <a:t>Την εκτέλεση της προσομοίωσης  για έναν καθορισμένο αριθμό βημάτων, εφαρμόζοντας τον </a:t>
            </a:r>
            <a:r>
              <a:rPr lang="en-GB" dirty="0"/>
              <a:t>RSSI </a:t>
            </a:r>
            <a:r>
              <a:rPr lang="el-GR" dirty="0"/>
              <a:t>και το μοτίβο κίνησης.</a:t>
            </a:r>
          </a:p>
          <a:p>
            <a:pPr marL="285750" indent="-285750">
              <a:buFont typeface="Wingdings" panose="05000000000000000000" pitchFamily="2" charset="2"/>
              <a:buChar char="v"/>
            </a:pPr>
            <a:r>
              <a:rPr lang="el-GR" dirty="0"/>
              <a:t>Την ανάλυση και </a:t>
            </a:r>
            <a:r>
              <a:rPr lang="el-GR" dirty="0" err="1"/>
              <a:t>οπτικοποίηση</a:t>
            </a:r>
            <a:r>
              <a:rPr lang="el-GR" dirty="0"/>
              <a:t> της απόδοσης του δικτύου.</a:t>
            </a:r>
          </a:p>
          <a:p>
            <a:endParaRPr lang="el-GR" sz="2000" dirty="0"/>
          </a:p>
        </p:txBody>
      </p:sp>
    </p:spTree>
    <p:extLst>
      <p:ext uri="{BB962C8B-B14F-4D97-AF65-F5344CB8AC3E}">
        <p14:creationId xmlns:p14="http://schemas.microsoft.com/office/powerpoint/2010/main" val="4400605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1" name="Rectangle 80">
            <a:extLst>
              <a:ext uri="{FF2B5EF4-FFF2-40B4-BE49-F238E27FC236}">
                <a16:creationId xmlns:a16="http://schemas.microsoft.com/office/drawing/2014/main" id="{4F8E18AC-903E-4B46-8CC0-FE20E612CE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3" name="Rectangle 82">
            <a:extLst>
              <a:ext uri="{FF2B5EF4-FFF2-40B4-BE49-F238E27FC236}">
                <a16:creationId xmlns:a16="http://schemas.microsoft.com/office/drawing/2014/main" id="{3DEE38FB-0763-470C-8A5E-44456B5130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sp>
        <p:nvSpPr>
          <p:cNvPr id="2" name="Title 1">
            <a:extLst>
              <a:ext uri="{FF2B5EF4-FFF2-40B4-BE49-F238E27FC236}">
                <a16:creationId xmlns:a16="http://schemas.microsoft.com/office/drawing/2014/main" id="{A6E2C250-13E9-35AB-D20E-503BD4CF9302}"/>
              </a:ext>
            </a:extLst>
          </p:cNvPr>
          <p:cNvSpPr>
            <a:spLocks noGrp="1"/>
          </p:cNvSpPr>
          <p:nvPr>
            <p:ph type="title"/>
          </p:nvPr>
        </p:nvSpPr>
        <p:spPr>
          <a:xfrm>
            <a:off x="544018" y="-957243"/>
            <a:ext cx="5743337" cy="2493876"/>
          </a:xfrm>
        </p:spPr>
        <p:txBody>
          <a:bodyPr anchor="b">
            <a:normAutofit/>
          </a:bodyPr>
          <a:lstStyle/>
          <a:p>
            <a:r>
              <a:rPr lang="el-GR" sz="4400" dirty="0"/>
              <a:t>Μέθοδος </a:t>
            </a:r>
            <a:r>
              <a:rPr lang="en-US" sz="4400" dirty="0"/>
              <a:t>__</a:t>
            </a:r>
            <a:r>
              <a:rPr lang="en-US" sz="4400" dirty="0" err="1"/>
              <a:t>init</a:t>
            </a:r>
            <a:r>
              <a:rPr lang="en-US" sz="4400" dirty="0"/>
              <a:t>__</a:t>
            </a:r>
            <a:r>
              <a:rPr lang="el-GR" sz="4400" dirty="0"/>
              <a:t> (Αρχικοποίηση)</a:t>
            </a:r>
          </a:p>
        </p:txBody>
      </p:sp>
      <p:sp>
        <p:nvSpPr>
          <p:cNvPr id="85" name="Oval 1">
            <a:extLst>
              <a:ext uri="{FF2B5EF4-FFF2-40B4-BE49-F238E27FC236}">
                <a16:creationId xmlns:a16="http://schemas.microsoft.com/office/drawing/2014/main" id="{F1D6E6C0-11C7-4A38-BD12-80741960B5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91411" y="557332"/>
            <a:ext cx="5743337" cy="57433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7" name="decorative circles">
            <a:extLst>
              <a:ext uri="{FF2B5EF4-FFF2-40B4-BE49-F238E27FC236}">
                <a16:creationId xmlns:a16="http://schemas.microsoft.com/office/drawing/2014/main" id="{2B16E781-E64A-4007-B0F1-5A50135A427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870062" y="289695"/>
            <a:ext cx="4971115" cy="6138399"/>
            <a:chOff x="6870062" y="289695"/>
            <a:chExt cx="4971115" cy="6138399"/>
          </a:xfrm>
        </p:grpSpPr>
        <p:sp>
          <p:nvSpPr>
            <p:cNvPr id="88" name="Oval 87">
              <a:extLst>
                <a:ext uri="{FF2B5EF4-FFF2-40B4-BE49-F238E27FC236}">
                  <a16:creationId xmlns:a16="http://schemas.microsoft.com/office/drawing/2014/main" id="{6F5849D6-7C1F-435A-8BEB-2A37173B65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543605" y="289695"/>
              <a:ext cx="226735" cy="226735"/>
            </a:xfrm>
            <a:prstGeom prst="ellipse">
              <a:avLst/>
            </a:prstGeom>
            <a:solidFill>
              <a:srgbClr val="9744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9C6C5D90-0568-4F1C-9392-536D4E32E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74736" y="5667686"/>
              <a:ext cx="466441" cy="46644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E069E425-421F-469A-9C32-9FB5C16E59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27805" y="5275653"/>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4C31A526-345A-4A63-BA59-FF91204E97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69847" y="5942894"/>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Oval 91">
              <a:extLst>
                <a:ext uri="{FF2B5EF4-FFF2-40B4-BE49-F238E27FC236}">
                  <a16:creationId xmlns:a16="http://schemas.microsoft.com/office/drawing/2014/main" id="{F27432B5-3C17-4415-B09A-67FCBD6360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81540" y="655922"/>
              <a:ext cx="466441" cy="466441"/>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a:extLst>
                <a:ext uri="{FF2B5EF4-FFF2-40B4-BE49-F238E27FC236}">
                  <a16:creationId xmlns:a16="http://schemas.microsoft.com/office/drawing/2014/main" id="{90E4DDCC-A5A9-4365-876A-7992F2CF4D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03560" y="387281"/>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BA5DB42D-36BB-41F6-A512-3AFDD33ADA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63367" y="6122314"/>
              <a:ext cx="305780" cy="30578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E03F45BD-67A0-4732-B626-9ECB4B18E2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0062" y="5959435"/>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descr="A screen shot of a device&#10;&#10;Description automatically generated">
            <a:extLst>
              <a:ext uri="{FF2B5EF4-FFF2-40B4-BE49-F238E27FC236}">
                <a16:creationId xmlns:a16="http://schemas.microsoft.com/office/drawing/2014/main" id="{3CFACE51-C253-07FF-9985-A3DF8D39F09F}"/>
              </a:ext>
            </a:extLst>
          </p:cNvPr>
          <p:cNvPicPr>
            <a:picLocks noChangeAspect="1"/>
          </p:cNvPicPr>
          <p:nvPr/>
        </p:nvPicPr>
        <p:blipFill>
          <a:blip r:embed="rId2">
            <a:extLst>
              <a:ext uri="{28A0092B-C50C-407E-A947-70E740481C1C}">
                <a14:useLocalDpi xmlns:a14="http://schemas.microsoft.com/office/drawing/2010/main" val="0"/>
              </a:ext>
            </a:extLst>
          </a:blip>
          <a:srcRect l="1886" t="18084" r="3435"/>
          <a:stretch/>
        </p:blipFill>
        <p:spPr>
          <a:xfrm>
            <a:off x="6364990" y="1756282"/>
            <a:ext cx="5596178" cy="2808242"/>
          </a:xfrm>
          <a:prstGeom prst="rect">
            <a:avLst/>
          </a:prstGeom>
        </p:spPr>
      </p:pic>
      <p:sp>
        <p:nvSpPr>
          <p:cNvPr id="8" name="Content Placeholder 2">
            <a:extLst>
              <a:ext uri="{FF2B5EF4-FFF2-40B4-BE49-F238E27FC236}">
                <a16:creationId xmlns:a16="http://schemas.microsoft.com/office/drawing/2014/main" id="{B474AC48-837A-919A-42CC-1F53DBCE97A3}"/>
              </a:ext>
            </a:extLst>
          </p:cNvPr>
          <p:cNvSpPr>
            <a:spLocks noGrp="1"/>
          </p:cNvSpPr>
          <p:nvPr>
            <p:ph idx="1"/>
          </p:nvPr>
        </p:nvSpPr>
        <p:spPr>
          <a:xfrm>
            <a:off x="229025" y="1747831"/>
            <a:ext cx="6062386" cy="4955458"/>
          </a:xfrm>
        </p:spPr>
        <p:txBody>
          <a:bodyPr>
            <a:normAutofit fontScale="92500" lnSpcReduction="20000"/>
          </a:bodyPr>
          <a:lstStyle/>
          <a:p>
            <a:r>
              <a:rPr lang="el-GR" dirty="0"/>
              <a:t>Αρχικοποιούμε το δίκτυο με σταθμούς βάσης και εξοπλισμούς χρήστη (UE), ώστε να </a:t>
            </a:r>
            <a:r>
              <a:rPr lang="el-GR" dirty="0">
                <a:solidFill>
                  <a:srgbClr val="412F24"/>
                </a:solidFill>
                <a:latin typeface="Calibri"/>
              </a:rPr>
              <a:t>δημιουργήσουμε ένα δίκτυο με συγκεκριμένο αριθμό σταθμών βάσης και UE, καθώς και με την επιλογή διάταξης πλέγματος για τους σταθμούς βάσης, παρέχοντας ευελιξία στην προσομοίωση διαφορετικών σεναρίων.</a:t>
            </a:r>
            <a:endParaRPr lang="el-GR" dirty="0"/>
          </a:p>
          <a:p>
            <a:r>
              <a:rPr lang="el-GR" dirty="0"/>
              <a:t>Η μέθοδος δέχεται τρεις παραμέτρους:</a:t>
            </a:r>
          </a:p>
          <a:p>
            <a:pPr lvl="1">
              <a:buFont typeface="Wingdings" panose="05000000000000000000" pitchFamily="2" charset="2"/>
              <a:buChar char="§"/>
            </a:pPr>
            <a:r>
              <a:rPr lang="el-GR" sz="2000" dirty="0" err="1"/>
              <a:t>num_stations</a:t>
            </a:r>
            <a:r>
              <a:rPr lang="el-GR" sz="2000" dirty="0"/>
              <a:t>: Τον αριθμό των σταθμών βάσης που θα δημιουργηθούν στο δίκτυο.</a:t>
            </a:r>
          </a:p>
          <a:p>
            <a:pPr lvl="1">
              <a:buFont typeface="Wingdings" panose="05000000000000000000" pitchFamily="2" charset="2"/>
              <a:buChar char="§"/>
            </a:pPr>
            <a:r>
              <a:rPr lang="el-GR" sz="2000" dirty="0" err="1"/>
              <a:t>num_ues</a:t>
            </a:r>
            <a:r>
              <a:rPr lang="el-GR" sz="2000" dirty="0"/>
              <a:t>: Τον αριθμό των UE που θα δημιουργηθούν στο δίκτυο.</a:t>
            </a:r>
          </a:p>
          <a:p>
            <a:pPr lvl="1">
              <a:buFont typeface="Wingdings" panose="05000000000000000000" pitchFamily="2" charset="2"/>
              <a:buChar char="§"/>
            </a:pPr>
            <a:r>
              <a:rPr lang="el-GR" sz="2000" dirty="0" err="1"/>
              <a:t>grid</a:t>
            </a:r>
            <a:r>
              <a:rPr lang="el-GR" sz="2000" dirty="0"/>
              <a:t> (προαιρετικό): Μια </a:t>
            </a:r>
            <a:r>
              <a:rPr lang="el-GR" sz="2000" dirty="0" err="1"/>
              <a:t>boolean</a:t>
            </a:r>
            <a:r>
              <a:rPr lang="el-GR" sz="2000" dirty="0"/>
              <a:t> τιμή που καθορίζει αν οι σταθμοί βάσης θα τοποθετηθούν σε διάταξη πλέγματος. Η προεπιλεγμένη τιμή είναι </a:t>
            </a:r>
            <a:r>
              <a:rPr lang="el-GR" sz="2000" dirty="0" err="1"/>
              <a:t>False</a:t>
            </a:r>
            <a:r>
              <a:rPr lang="el-GR" sz="2000" dirty="0"/>
              <a:t>.</a:t>
            </a:r>
          </a:p>
          <a:p>
            <a:pPr marL="228600" marR="0" lvl="0" indent="-228600" algn="l" defTabSz="914400" rtl="0" eaLnBrk="1" fontAlgn="auto" latinLnBrk="0" hangingPunct="1">
              <a:lnSpc>
                <a:spcPct val="90000"/>
              </a:lnSpc>
              <a:spcBef>
                <a:spcPts val="1000"/>
              </a:spcBef>
              <a:spcAft>
                <a:spcPts val="0"/>
              </a:spcAft>
              <a:buClr>
                <a:srgbClr val="412F24">
                  <a:lumMod val="75000"/>
                  <a:lumOff val="25000"/>
                </a:srgbClr>
              </a:buClr>
              <a:buSzTx/>
              <a:buFont typeface="Arial" panose="020B0604020202020204" pitchFamily="34" charset="0"/>
              <a:buChar char="•"/>
              <a:tabLst/>
              <a:defRPr/>
            </a:pPr>
            <a:r>
              <a:rPr kumimoji="0" lang="el-GR" b="0" i="0" u="none" strike="noStrike" kern="1200" cap="none" spc="0" normalizeH="0" baseline="0" noProof="0" dirty="0">
                <a:ln>
                  <a:noFill/>
                </a:ln>
                <a:solidFill>
                  <a:srgbClr val="412F24"/>
                </a:solidFill>
                <a:effectLst/>
                <a:uLnTx/>
                <a:uFillTx/>
                <a:latin typeface="Calibri"/>
                <a:ea typeface="+mn-ea"/>
                <a:cs typeface="+mn-cs"/>
              </a:rPr>
              <a:t>Καλούμε την μέθοδο </a:t>
            </a:r>
            <a:r>
              <a:rPr kumimoji="0" lang="el-GR" b="0" i="0" u="none" strike="noStrike" kern="1200" cap="none" spc="0" normalizeH="0" baseline="0" noProof="0" dirty="0" err="1">
                <a:ln>
                  <a:noFill/>
                </a:ln>
                <a:solidFill>
                  <a:srgbClr val="412F24"/>
                </a:solidFill>
                <a:effectLst/>
                <a:uLnTx/>
                <a:uFillTx/>
                <a:latin typeface="Calibri"/>
                <a:ea typeface="+mn-ea"/>
                <a:cs typeface="+mn-cs"/>
              </a:rPr>
              <a:t>create_base_stations</a:t>
            </a:r>
            <a:r>
              <a:rPr kumimoji="0" lang="el-GR" b="0" i="0" u="none" strike="noStrike" kern="1200" cap="none" spc="0" normalizeH="0" baseline="0" noProof="0" dirty="0">
                <a:ln>
                  <a:noFill/>
                </a:ln>
                <a:solidFill>
                  <a:srgbClr val="412F24"/>
                </a:solidFill>
                <a:effectLst/>
                <a:uLnTx/>
                <a:uFillTx/>
                <a:latin typeface="Calibri"/>
                <a:ea typeface="+mn-ea"/>
                <a:cs typeface="+mn-cs"/>
              </a:rPr>
              <a:t> για να δημιουργήσουμε τους σταθμούς βάσης, σύμφωνα με τον αριθμό </a:t>
            </a:r>
            <a:r>
              <a:rPr kumimoji="0" lang="el-GR" b="0" i="0" u="none" strike="noStrike" kern="1200" cap="none" spc="0" normalizeH="0" baseline="0" noProof="0" dirty="0" err="1">
                <a:ln>
                  <a:noFill/>
                </a:ln>
                <a:solidFill>
                  <a:srgbClr val="412F24"/>
                </a:solidFill>
                <a:effectLst/>
                <a:uLnTx/>
                <a:uFillTx/>
                <a:latin typeface="Calibri"/>
                <a:ea typeface="+mn-ea"/>
                <a:cs typeface="+mn-cs"/>
              </a:rPr>
              <a:t>num_stations</a:t>
            </a:r>
            <a:r>
              <a:rPr kumimoji="0" lang="el-GR" b="0" i="0" u="none" strike="noStrike" kern="1200" cap="none" spc="0" normalizeH="0" baseline="0" noProof="0" dirty="0">
                <a:ln>
                  <a:noFill/>
                </a:ln>
                <a:solidFill>
                  <a:srgbClr val="412F24"/>
                </a:solidFill>
                <a:effectLst/>
                <a:uLnTx/>
                <a:uFillTx/>
                <a:latin typeface="Calibri"/>
                <a:ea typeface="+mn-ea"/>
                <a:cs typeface="+mn-cs"/>
              </a:rPr>
              <a:t> και την επιλογή διάταξης </a:t>
            </a:r>
            <a:r>
              <a:rPr kumimoji="0" lang="el-GR" b="0" i="0" u="none" strike="noStrike" kern="1200" cap="none" spc="0" normalizeH="0" baseline="0" noProof="0" dirty="0" err="1">
                <a:ln>
                  <a:noFill/>
                </a:ln>
                <a:solidFill>
                  <a:srgbClr val="412F24"/>
                </a:solidFill>
                <a:effectLst/>
                <a:uLnTx/>
                <a:uFillTx/>
                <a:latin typeface="Calibri"/>
                <a:ea typeface="+mn-ea"/>
                <a:cs typeface="+mn-cs"/>
              </a:rPr>
              <a:t>grid</a:t>
            </a:r>
            <a:r>
              <a:rPr kumimoji="0" lang="el-GR" b="0" i="0" u="none" strike="noStrike" kern="1200" cap="none" spc="0" normalizeH="0" baseline="0" noProof="0" dirty="0">
                <a:ln>
                  <a:noFill/>
                </a:ln>
                <a:solidFill>
                  <a:srgbClr val="412F24"/>
                </a:solidFill>
                <a:effectLst/>
                <a:uLnTx/>
                <a:uFillTx/>
                <a:latin typeface="Calibri"/>
                <a:ea typeface="+mn-ea"/>
                <a:cs typeface="+mn-cs"/>
              </a:rPr>
              <a:t>. Το αποτέλεσμα είναι μια λίστα αντικειμένων </a:t>
            </a:r>
            <a:r>
              <a:rPr kumimoji="0" lang="el-GR" b="0" i="0" u="none" strike="noStrike" kern="1200" cap="none" spc="0" normalizeH="0" baseline="0" noProof="0" dirty="0" err="1">
                <a:ln>
                  <a:noFill/>
                </a:ln>
                <a:solidFill>
                  <a:srgbClr val="412F24"/>
                </a:solidFill>
                <a:effectLst/>
                <a:uLnTx/>
                <a:uFillTx/>
                <a:latin typeface="Calibri"/>
                <a:ea typeface="+mn-ea"/>
                <a:cs typeface="+mn-cs"/>
              </a:rPr>
              <a:t>BaseStation</a:t>
            </a:r>
            <a:r>
              <a:rPr kumimoji="0" lang="el-GR" b="0" i="0" u="none" strike="noStrike" kern="1200" cap="none" spc="0" normalizeH="0" baseline="0" noProof="0" dirty="0">
                <a:ln>
                  <a:noFill/>
                </a:ln>
                <a:solidFill>
                  <a:srgbClr val="412F24"/>
                </a:solidFill>
                <a:effectLst/>
                <a:uLnTx/>
                <a:uFillTx/>
                <a:latin typeface="Calibri"/>
                <a:ea typeface="+mn-ea"/>
                <a:cs typeface="+mn-cs"/>
              </a:rPr>
              <a:t>, που αποθηκεύεται στο χαρακτηριστικό </a:t>
            </a:r>
            <a:r>
              <a:rPr kumimoji="0" lang="el-GR" b="0" i="0" u="none" strike="noStrike" kern="1200" cap="none" spc="0" normalizeH="0" baseline="0" noProof="0" dirty="0" err="1">
                <a:ln>
                  <a:noFill/>
                </a:ln>
                <a:solidFill>
                  <a:srgbClr val="412F24"/>
                </a:solidFill>
                <a:effectLst/>
                <a:uLnTx/>
                <a:uFillTx/>
                <a:latin typeface="Calibri"/>
                <a:ea typeface="+mn-ea"/>
                <a:cs typeface="+mn-cs"/>
              </a:rPr>
              <a:t>self.base_stations</a:t>
            </a:r>
            <a:r>
              <a:rPr kumimoji="0" lang="el-GR" b="0" i="0" u="none" strike="noStrike" kern="1200" cap="none" spc="0" normalizeH="0" baseline="0" noProof="0" dirty="0">
                <a:ln>
                  <a:noFill/>
                </a:ln>
                <a:solidFill>
                  <a:srgbClr val="412F24"/>
                </a:solidFill>
                <a:effectLst/>
                <a:uLnTx/>
                <a:uFillTx/>
                <a:latin typeface="Calibri"/>
                <a:ea typeface="+mn-ea"/>
                <a:cs typeface="+mn-cs"/>
              </a:rPr>
              <a:t> του αντικειμένου </a:t>
            </a:r>
            <a:r>
              <a:rPr kumimoji="0" lang="el-GR" b="0" i="0" u="none" strike="noStrike" kern="1200" cap="none" spc="0" normalizeH="0" baseline="0" noProof="0" dirty="0" err="1">
                <a:ln>
                  <a:noFill/>
                </a:ln>
                <a:solidFill>
                  <a:srgbClr val="412F24"/>
                </a:solidFill>
                <a:effectLst/>
                <a:uLnTx/>
                <a:uFillTx/>
                <a:latin typeface="Calibri"/>
                <a:ea typeface="+mn-ea"/>
                <a:cs typeface="+mn-cs"/>
              </a:rPr>
              <a:t>Network</a:t>
            </a:r>
            <a:r>
              <a:rPr lang="en-GB" dirty="0">
                <a:solidFill>
                  <a:srgbClr val="412F24"/>
                </a:solidFill>
                <a:latin typeface="Calibri"/>
              </a:rPr>
              <a:t> </a:t>
            </a:r>
            <a:r>
              <a:rPr lang="el-GR" dirty="0">
                <a:solidFill>
                  <a:srgbClr val="412F24"/>
                </a:solidFill>
                <a:latin typeface="Calibri"/>
              </a:rPr>
              <a:t>και αντίστοιχα για τα </a:t>
            </a:r>
            <a:r>
              <a:rPr lang="en-GB" dirty="0">
                <a:solidFill>
                  <a:srgbClr val="412F24"/>
                </a:solidFill>
                <a:latin typeface="Calibri"/>
              </a:rPr>
              <a:t>UE’s.</a:t>
            </a:r>
            <a:endParaRPr kumimoji="0" lang="el-GR" b="0" i="0" u="none" strike="noStrike" kern="1200" cap="none" spc="0" normalizeH="0" baseline="0" noProof="0" dirty="0">
              <a:ln>
                <a:noFill/>
              </a:ln>
              <a:solidFill>
                <a:srgbClr val="412F24"/>
              </a:solidFill>
              <a:effectLst/>
              <a:uLnTx/>
              <a:uFillTx/>
              <a:latin typeface="Calibri"/>
              <a:ea typeface="+mn-ea"/>
              <a:cs typeface="+mn-cs"/>
            </a:endParaRPr>
          </a:p>
        </p:txBody>
      </p:sp>
    </p:spTree>
    <p:extLst>
      <p:ext uri="{BB962C8B-B14F-4D97-AF65-F5344CB8AC3E}">
        <p14:creationId xmlns:p14="http://schemas.microsoft.com/office/powerpoint/2010/main" val="36409127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81D5E-77B5-CCBF-E739-3589E73757EF}"/>
              </a:ext>
            </a:extLst>
          </p:cNvPr>
          <p:cNvSpPr>
            <a:spLocks noGrp="1"/>
          </p:cNvSpPr>
          <p:nvPr>
            <p:ph type="title"/>
          </p:nvPr>
        </p:nvSpPr>
        <p:spPr>
          <a:xfrm>
            <a:off x="777239" y="148815"/>
            <a:ext cx="10659110" cy="1325563"/>
          </a:xfrm>
        </p:spPr>
        <p:txBody>
          <a:bodyPr>
            <a:normAutofit/>
          </a:bodyPr>
          <a:lstStyle/>
          <a:p>
            <a:r>
              <a:rPr lang="el-GR" dirty="0"/>
              <a:t>Μέθοδος </a:t>
            </a:r>
            <a:r>
              <a:rPr lang="en-US" dirty="0" err="1"/>
              <a:t>create_base_stations</a:t>
            </a:r>
            <a:r>
              <a:rPr lang="en-US" dirty="0"/>
              <a:t> (grid)</a:t>
            </a:r>
            <a:endParaRPr lang="el-GR" dirty="0"/>
          </a:p>
        </p:txBody>
      </p:sp>
      <p:sp>
        <p:nvSpPr>
          <p:cNvPr id="3" name="Content Placeholder 2">
            <a:extLst>
              <a:ext uri="{FF2B5EF4-FFF2-40B4-BE49-F238E27FC236}">
                <a16:creationId xmlns:a16="http://schemas.microsoft.com/office/drawing/2014/main" id="{5D7720BC-8127-421E-9225-F1D90BA944F4}"/>
              </a:ext>
            </a:extLst>
          </p:cNvPr>
          <p:cNvSpPr>
            <a:spLocks noGrp="1"/>
          </p:cNvSpPr>
          <p:nvPr>
            <p:ph idx="1"/>
          </p:nvPr>
        </p:nvSpPr>
        <p:spPr>
          <a:xfrm>
            <a:off x="777239" y="1474378"/>
            <a:ext cx="10854321" cy="5383621"/>
          </a:xfrm>
        </p:spPr>
        <p:txBody>
          <a:bodyPr>
            <a:normAutofit/>
          </a:bodyPr>
          <a:lstStyle/>
          <a:p>
            <a:r>
              <a:rPr lang="el-GR" dirty="0"/>
              <a:t>Στόχος</a:t>
            </a:r>
            <a:r>
              <a:rPr lang="en-GB" dirty="0"/>
              <a:t>: </a:t>
            </a:r>
            <a:r>
              <a:rPr lang="el-GR" dirty="0"/>
              <a:t>Να δημιουργήσουμε ένα ομοιόμορφο πλέγμα σταθμών βάσης που καλύπτει ολόκληρο το χώρο με ίσες αποστάσεις μεταξύ τους. Αυτό θα μας επιτρέψει μια πιο ρεαλιστική και ελεγχόμενη προσομοίωση της τοπολογίας του δικτύου, όπου οι σταθμοί βάσης κατανέμονται στρατηγικά για να παρέχουν βέλτιστη κάλυψη.</a:t>
            </a:r>
          </a:p>
          <a:p>
            <a:r>
              <a:rPr lang="el-GR" dirty="0"/>
              <a:t>Δημιουργούμε τους σταθμούς βάσης του δικτύου με βάση τον αριθμό των σταθμών και την επιλογή διάταξης πλέγματος</a:t>
            </a:r>
            <a:r>
              <a:rPr lang="en-GB" dirty="0"/>
              <a:t>, </a:t>
            </a:r>
            <a:r>
              <a:rPr lang="el-GR" dirty="0"/>
              <a:t>αν η παράμετρος </a:t>
            </a:r>
            <a:r>
              <a:rPr lang="el-GR" dirty="0" err="1"/>
              <a:t>grid</a:t>
            </a:r>
            <a:r>
              <a:rPr lang="el-GR" dirty="0"/>
              <a:t> είναι </a:t>
            </a:r>
            <a:r>
              <a:rPr lang="el-GR" dirty="0" err="1"/>
              <a:t>True</a:t>
            </a:r>
            <a:r>
              <a:rPr lang="el-GR" dirty="0"/>
              <a:t>, οι σταθμοί βάσης τοποθετούνται σε διάταξη πλέγματος. </a:t>
            </a:r>
          </a:p>
          <a:p>
            <a:r>
              <a:rPr lang="el-GR" dirty="0"/>
              <a:t>Υπολογίζουμε το μέγεθος του πλέγματος (</a:t>
            </a:r>
            <a:r>
              <a:rPr lang="el-GR" dirty="0" err="1"/>
              <a:t>grid</a:t>
            </a:r>
            <a:r>
              <a:rPr lang="en-GB" dirty="0"/>
              <a:t>_size</a:t>
            </a:r>
            <a:r>
              <a:rPr lang="el-GR" dirty="0"/>
              <a:t>) ως η τετραγωνική ρίζα του αριθμού των σταθμών, στρογγυλοποιημένη προς τα κάτω. Αυτό γίνεται για να δημιουργηθεί ένα τετραγωνικό πλέγμα με ίσο αριθμό σταθμών σε κάθε γραμμή και στήλη. Για παράδειγμα, αν έχουμε 9 σταθμούς, η τετραγωνική ρίζα του 9 είναι 3, οπότε θα έχουμε ένα πλέγμα 3x3.</a:t>
            </a:r>
          </a:p>
          <a:p>
            <a:r>
              <a:rPr lang="el-GR" dirty="0"/>
              <a:t>Υπολογίζουμε το διάστημα (</a:t>
            </a:r>
            <a:r>
              <a:rPr lang="el-GR" dirty="0" err="1"/>
              <a:t>spacing</a:t>
            </a:r>
            <a:r>
              <a:rPr lang="el-GR" dirty="0"/>
              <a:t>) μεταξύ των σταθμών ως 100 / (</a:t>
            </a:r>
            <a:r>
              <a:rPr lang="el-GR" dirty="0" err="1"/>
              <a:t>grid_size</a:t>
            </a:r>
            <a:r>
              <a:rPr lang="el-GR" dirty="0"/>
              <a:t> - 1) αν το </a:t>
            </a:r>
            <a:r>
              <a:rPr lang="el-GR" dirty="0" err="1"/>
              <a:t>grid_size</a:t>
            </a:r>
            <a:r>
              <a:rPr lang="el-GR" dirty="0"/>
              <a:t> είναι μεγαλύτερο από 1, διαφορετικά το διάστημα είναι 100. Το 100 αντιπροσωπεύει το συνολικό μέγεθος του χώρου (π.χ. 100x100). Διαιρώντας το 100 με (</a:t>
            </a:r>
            <a:r>
              <a:rPr lang="el-GR" dirty="0" err="1"/>
              <a:t>grid_size</a:t>
            </a:r>
            <a:r>
              <a:rPr lang="el-GR" dirty="0"/>
              <a:t> - 1), υπολογίζουμε το διάστημα μεταξύ των σταθμών έτσι ώστε να καλύπτουν ομοιόμορφα ολόκληρο το χώρο. Αν το </a:t>
            </a:r>
            <a:r>
              <a:rPr lang="el-GR" dirty="0" err="1"/>
              <a:t>grid_size</a:t>
            </a:r>
            <a:r>
              <a:rPr lang="el-GR" dirty="0"/>
              <a:t> είναι 1, σημαίνει ότι έχουμε μόνο έναν σταθμό, οπότε το διάστημα ορίζεται ως 100, δηλαδή ο σταθμός τοποθετείται στο κέντρο του χώρου.</a:t>
            </a:r>
          </a:p>
        </p:txBody>
      </p:sp>
    </p:spTree>
    <p:extLst>
      <p:ext uri="{BB962C8B-B14F-4D97-AF65-F5344CB8AC3E}">
        <p14:creationId xmlns:p14="http://schemas.microsoft.com/office/powerpoint/2010/main" val="24589644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E0839-55F5-9EAC-A2AA-07F16BA76E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779C0A-197C-A12E-79B3-3BB20C51986F}"/>
              </a:ext>
            </a:extLst>
          </p:cNvPr>
          <p:cNvSpPr>
            <a:spLocks noGrp="1"/>
          </p:cNvSpPr>
          <p:nvPr>
            <p:ph type="title"/>
          </p:nvPr>
        </p:nvSpPr>
        <p:spPr>
          <a:xfrm>
            <a:off x="777239" y="148815"/>
            <a:ext cx="10659110" cy="1325563"/>
          </a:xfrm>
        </p:spPr>
        <p:txBody>
          <a:bodyPr>
            <a:normAutofit/>
          </a:bodyPr>
          <a:lstStyle/>
          <a:p>
            <a:r>
              <a:rPr lang="el-GR" dirty="0"/>
              <a:t>Μέθοδος </a:t>
            </a:r>
            <a:r>
              <a:rPr lang="en-US" dirty="0" err="1"/>
              <a:t>create_base_stations</a:t>
            </a:r>
            <a:r>
              <a:rPr lang="en-US" dirty="0"/>
              <a:t> (grid)</a:t>
            </a:r>
            <a:endParaRPr lang="el-GR" dirty="0"/>
          </a:p>
        </p:txBody>
      </p:sp>
      <p:sp>
        <p:nvSpPr>
          <p:cNvPr id="3" name="Content Placeholder 2">
            <a:extLst>
              <a:ext uri="{FF2B5EF4-FFF2-40B4-BE49-F238E27FC236}">
                <a16:creationId xmlns:a16="http://schemas.microsoft.com/office/drawing/2014/main" id="{53C6891C-74A8-8D4E-6604-6E57A59D35EC}"/>
              </a:ext>
            </a:extLst>
          </p:cNvPr>
          <p:cNvSpPr>
            <a:spLocks noGrp="1"/>
          </p:cNvSpPr>
          <p:nvPr>
            <p:ph idx="1"/>
          </p:nvPr>
        </p:nvSpPr>
        <p:spPr>
          <a:xfrm>
            <a:off x="777239" y="1474379"/>
            <a:ext cx="10854321" cy="2930474"/>
          </a:xfrm>
        </p:spPr>
        <p:txBody>
          <a:bodyPr>
            <a:normAutofit/>
          </a:bodyPr>
          <a:lstStyle/>
          <a:p>
            <a:pPr marL="228600" marR="0" lvl="0" indent="-228600" algn="l" defTabSz="914400" rtl="0" eaLnBrk="1" fontAlgn="auto" latinLnBrk="0" hangingPunct="1">
              <a:lnSpc>
                <a:spcPct val="90000"/>
              </a:lnSpc>
              <a:spcBef>
                <a:spcPts val="1000"/>
              </a:spcBef>
              <a:spcAft>
                <a:spcPts val="0"/>
              </a:spcAft>
              <a:buClr>
                <a:srgbClr val="412F24">
                  <a:lumMod val="75000"/>
                  <a:lumOff val="25000"/>
                </a:srgbClr>
              </a:buClr>
              <a:buSzTx/>
              <a:buFont typeface="Arial" panose="020B0604020202020204" pitchFamily="34" charset="0"/>
              <a:buChar char="•"/>
              <a:tabLst/>
              <a:defRPr/>
            </a:pPr>
            <a:r>
              <a:rPr kumimoji="0" lang="el-GR" sz="2000" b="0" i="0" u="none" strike="noStrike" kern="1200" cap="none" spc="0" normalizeH="0" baseline="0" noProof="0" dirty="0" err="1">
                <a:ln>
                  <a:noFill/>
                </a:ln>
                <a:solidFill>
                  <a:srgbClr val="412F24"/>
                </a:solidFill>
                <a:effectLst/>
                <a:uLnTx/>
                <a:uFillTx/>
                <a:latin typeface="Calibri"/>
                <a:ea typeface="+mn-ea"/>
                <a:cs typeface="+mn-cs"/>
              </a:rPr>
              <a:t>Δημιουργ</a:t>
            </a:r>
            <a:r>
              <a:rPr kumimoji="0" lang="en-GB" sz="2000" b="0" i="0" u="none" strike="noStrike" kern="1200" cap="none" spc="0" normalizeH="0" baseline="0" noProof="0" dirty="0">
                <a:ln>
                  <a:noFill/>
                </a:ln>
                <a:solidFill>
                  <a:srgbClr val="412F24"/>
                </a:solidFill>
                <a:effectLst/>
                <a:uLnTx/>
                <a:uFillTx/>
                <a:latin typeface="Calibri"/>
                <a:ea typeface="+mn-ea"/>
                <a:cs typeface="+mn-cs"/>
              </a:rPr>
              <a:t>o</a:t>
            </a:r>
            <a:r>
              <a:rPr kumimoji="0" lang="el-GR" sz="2000" b="0" i="0" u="none" strike="noStrike" kern="1200" cap="none" spc="0" normalizeH="0" baseline="0" noProof="0" dirty="0" err="1">
                <a:ln>
                  <a:noFill/>
                </a:ln>
                <a:solidFill>
                  <a:srgbClr val="412F24"/>
                </a:solidFill>
                <a:effectLst/>
                <a:uLnTx/>
                <a:uFillTx/>
                <a:latin typeface="Calibri"/>
                <a:ea typeface="+mn-ea"/>
                <a:cs typeface="+mn-cs"/>
              </a:rPr>
              <a:t>ύμε</a:t>
            </a:r>
            <a:r>
              <a:rPr kumimoji="0" lang="el-GR" sz="2000" b="0" i="0" u="none" strike="noStrike" kern="1200" cap="none" spc="0" normalizeH="0" baseline="0" noProof="0" dirty="0">
                <a:ln>
                  <a:noFill/>
                </a:ln>
                <a:solidFill>
                  <a:srgbClr val="412F24"/>
                </a:solidFill>
                <a:effectLst/>
                <a:uLnTx/>
                <a:uFillTx/>
                <a:latin typeface="Calibri"/>
                <a:ea typeface="+mn-ea"/>
                <a:cs typeface="+mn-cs"/>
              </a:rPr>
              <a:t> μια λίστα αντικειμένων </a:t>
            </a:r>
            <a:r>
              <a:rPr kumimoji="0" lang="el-GR" sz="2000" b="0" i="0" u="none" strike="noStrike" kern="1200" cap="none" spc="0" normalizeH="0" baseline="0" noProof="0" dirty="0" err="1">
                <a:ln>
                  <a:noFill/>
                </a:ln>
                <a:solidFill>
                  <a:srgbClr val="412F24"/>
                </a:solidFill>
                <a:effectLst/>
                <a:uLnTx/>
                <a:uFillTx/>
                <a:latin typeface="Calibri"/>
                <a:ea typeface="+mn-ea"/>
                <a:cs typeface="+mn-cs"/>
              </a:rPr>
              <a:t>BaseStation</a:t>
            </a:r>
            <a:r>
              <a:rPr kumimoji="0" lang="el-GR" sz="2000" b="0" i="0" u="none" strike="noStrike" kern="1200" cap="none" spc="0" normalizeH="0" baseline="0" noProof="0" dirty="0">
                <a:ln>
                  <a:noFill/>
                </a:ln>
                <a:solidFill>
                  <a:srgbClr val="412F24"/>
                </a:solidFill>
                <a:effectLst/>
                <a:uLnTx/>
                <a:uFillTx/>
                <a:latin typeface="Calibri"/>
                <a:ea typeface="+mn-ea"/>
                <a:cs typeface="+mn-cs"/>
              </a:rPr>
              <a:t> χρησιμοποιώντας μια γεννήτρια λίστας (</a:t>
            </a:r>
            <a:r>
              <a:rPr kumimoji="0" lang="el-GR" sz="2000" b="0" i="0" u="none" strike="noStrike" kern="1200" cap="none" spc="0" normalizeH="0" baseline="0" noProof="0" dirty="0" err="1">
                <a:ln>
                  <a:noFill/>
                </a:ln>
                <a:solidFill>
                  <a:srgbClr val="412F24"/>
                </a:solidFill>
                <a:effectLst/>
                <a:uLnTx/>
                <a:uFillTx/>
                <a:latin typeface="Calibri"/>
                <a:ea typeface="+mn-ea"/>
                <a:cs typeface="+mn-cs"/>
              </a:rPr>
              <a:t>list</a:t>
            </a:r>
            <a:r>
              <a:rPr kumimoji="0" lang="el-GR" sz="2000" b="0" i="0" u="none" strike="noStrike" kern="1200" cap="none" spc="0" normalizeH="0" baseline="0" noProof="0" dirty="0">
                <a:ln>
                  <a:noFill/>
                </a:ln>
                <a:solidFill>
                  <a:srgbClr val="412F24"/>
                </a:solidFill>
                <a:effectLst/>
                <a:uLnTx/>
                <a:uFillTx/>
                <a:latin typeface="Calibri"/>
                <a:ea typeface="+mn-ea"/>
                <a:cs typeface="+mn-cs"/>
              </a:rPr>
              <a:t> </a:t>
            </a:r>
            <a:r>
              <a:rPr kumimoji="0" lang="el-GR" sz="2000" b="0" i="0" u="none" strike="noStrike" kern="1200" cap="none" spc="0" normalizeH="0" baseline="0" noProof="0" dirty="0" err="1">
                <a:ln>
                  <a:noFill/>
                </a:ln>
                <a:solidFill>
                  <a:srgbClr val="412F24"/>
                </a:solidFill>
                <a:effectLst/>
                <a:uLnTx/>
                <a:uFillTx/>
                <a:latin typeface="Calibri"/>
                <a:ea typeface="+mn-ea"/>
                <a:cs typeface="+mn-cs"/>
              </a:rPr>
              <a:t>comprehension</a:t>
            </a:r>
            <a:r>
              <a:rPr kumimoji="0" lang="el-GR" sz="2000" b="0" i="0" u="none" strike="noStrike" kern="1200" cap="none" spc="0" normalizeH="0" baseline="0" noProof="0" dirty="0">
                <a:ln>
                  <a:noFill/>
                </a:ln>
                <a:solidFill>
                  <a:srgbClr val="412F24"/>
                </a:solidFill>
                <a:effectLst/>
                <a:uLnTx/>
                <a:uFillTx/>
                <a:latin typeface="Calibri"/>
                <a:ea typeface="+mn-ea"/>
                <a:cs typeface="+mn-cs"/>
              </a:rPr>
              <a:t>)</a:t>
            </a:r>
            <a:r>
              <a:rPr kumimoji="0" lang="en-GB" sz="2000" b="0" i="0" u="none" strike="noStrike" kern="1200" cap="none" spc="0" normalizeH="0" baseline="0" noProof="0" dirty="0">
                <a:ln>
                  <a:noFill/>
                </a:ln>
                <a:solidFill>
                  <a:srgbClr val="412F24"/>
                </a:solidFill>
                <a:effectLst/>
                <a:uLnTx/>
                <a:uFillTx/>
                <a:latin typeface="Calibri"/>
                <a:ea typeface="+mn-ea"/>
                <a:cs typeface="+mn-cs"/>
              </a:rPr>
              <a:t>: </a:t>
            </a:r>
          </a:p>
          <a:p>
            <a:pPr marL="685800" marR="0" lvl="1" indent="-228600" algn="l" defTabSz="914400" rtl="0" eaLnBrk="1" fontAlgn="auto" latinLnBrk="0" hangingPunct="1">
              <a:lnSpc>
                <a:spcPct val="90000"/>
              </a:lnSpc>
              <a:spcBef>
                <a:spcPts val="500"/>
              </a:spcBef>
              <a:spcAft>
                <a:spcPts val="0"/>
              </a:spcAft>
              <a:buClr>
                <a:srgbClr val="412F24">
                  <a:lumMod val="75000"/>
                  <a:lumOff val="25000"/>
                </a:srgbClr>
              </a:buClr>
              <a:buSzTx/>
              <a:buFont typeface="Wingdings" panose="05000000000000000000" pitchFamily="2" charset="2"/>
              <a:buChar char="§"/>
              <a:tabLst/>
              <a:defRPr/>
            </a:pPr>
            <a:r>
              <a:rPr kumimoji="0" lang="el-GR" sz="2000" b="0" i="0" u="none" strike="noStrike" kern="1200" cap="none" spc="0" normalizeH="0" baseline="0" noProof="0" dirty="0">
                <a:ln>
                  <a:noFill/>
                </a:ln>
                <a:solidFill>
                  <a:srgbClr val="412F24"/>
                </a:solidFill>
                <a:effectLst/>
                <a:uLnTx/>
                <a:uFillTx/>
                <a:latin typeface="Calibri"/>
                <a:ea typeface="+mn-ea"/>
                <a:cs typeface="+mn-cs"/>
              </a:rPr>
              <a:t>Για κάθε σταθμό, το i αντιπροσωπεύει το αναγνωριστικό του σταθμού, και οι συντεταγμένες x και y υπολογίζονται με βάση το i και το </a:t>
            </a:r>
            <a:r>
              <a:rPr kumimoji="0" lang="el-GR" sz="2000" b="0" i="0" u="none" strike="noStrike" kern="1200" cap="none" spc="0" normalizeH="0" baseline="0" noProof="0" dirty="0" err="1">
                <a:ln>
                  <a:noFill/>
                </a:ln>
                <a:solidFill>
                  <a:srgbClr val="412F24"/>
                </a:solidFill>
                <a:effectLst/>
                <a:uLnTx/>
                <a:uFillTx/>
                <a:latin typeface="Calibri"/>
                <a:ea typeface="+mn-ea"/>
                <a:cs typeface="+mn-cs"/>
              </a:rPr>
              <a:t>spacing</a:t>
            </a:r>
            <a:r>
              <a:rPr kumimoji="0" lang="el-GR" sz="2000" b="0" i="0" u="none" strike="noStrike" kern="1200" cap="none" spc="0" normalizeH="0" baseline="0" noProof="0" dirty="0">
                <a:ln>
                  <a:noFill/>
                </a:ln>
                <a:solidFill>
                  <a:srgbClr val="412F24"/>
                </a:solidFill>
                <a:effectLst/>
                <a:uLnTx/>
                <a:uFillTx/>
                <a:latin typeface="Calibri"/>
                <a:ea typeface="+mn-ea"/>
                <a:cs typeface="+mn-cs"/>
              </a:rPr>
              <a:t> για να τοποθετηθούν σε διάταξη πλέγματος.</a:t>
            </a:r>
            <a:endParaRPr kumimoji="0" lang="en-GB" sz="2000" b="0" i="0" u="none" strike="noStrike" kern="1200" cap="none" spc="0" normalizeH="0" baseline="0" noProof="0" dirty="0">
              <a:ln>
                <a:noFill/>
              </a:ln>
              <a:solidFill>
                <a:srgbClr val="412F24"/>
              </a:solidFill>
              <a:effectLst/>
              <a:uLnTx/>
              <a:uFillTx/>
              <a:latin typeface="Calibri"/>
              <a:ea typeface="+mn-ea"/>
              <a:cs typeface="+mn-cs"/>
            </a:endParaRPr>
          </a:p>
          <a:p>
            <a:pPr marL="685800" marR="0" lvl="1" indent="-228600" algn="l" defTabSz="914400" rtl="0" eaLnBrk="1" fontAlgn="auto" latinLnBrk="0" hangingPunct="1">
              <a:lnSpc>
                <a:spcPct val="90000"/>
              </a:lnSpc>
              <a:spcBef>
                <a:spcPts val="500"/>
              </a:spcBef>
              <a:spcAft>
                <a:spcPts val="0"/>
              </a:spcAft>
              <a:buClr>
                <a:srgbClr val="412F24">
                  <a:lumMod val="75000"/>
                  <a:lumOff val="25000"/>
                </a:srgbClr>
              </a:buClr>
              <a:buSzTx/>
              <a:buFont typeface="Wingdings" panose="05000000000000000000" pitchFamily="2" charset="2"/>
              <a:buChar char="§"/>
              <a:tabLst/>
              <a:defRPr/>
            </a:pPr>
            <a:r>
              <a:rPr kumimoji="0" lang="el-GR" sz="2000" b="0" i="0" u="none" strike="noStrike" kern="1200" cap="none" spc="0" normalizeH="0" baseline="0" noProof="0" dirty="0">
                <a:ln>
                  <a:noFill/>
                </a:ln>
                <a:solidFill>
                  <a:srgbClr val="412F24"/>
                </a:solidFill>
                <a:effectLst/>
                <a:uLnTx/>
                <a:uFillTx/>
                <a:latin typeface="Calibri"/>
                <a:ea typeface="+mn-ea"/>
                <a:cs typeface="+mn-cs"/>
              </a:rPr>
              <a:t>Η ακτίνα κάλυψης (</a:t>
            </a:r>
            <a:r>
              <a:rPr kumimoji="0" lang="el-GR" sz="2000" b="0" i="0" u="none" strike="noStrike" kern="1200" cap="none" spc="0" normalizeH="0" baseline="0" noProof="0" dirty="0" err="1">
                <a:ln>
                  <a:noFill/>
                </a:ln>
                <a:solidFill>
                  <a:srgbClr val="412F24"/>
                </a:solidFill>
                <a:effectLst/>
                <a:uLnTx/>
                <a:uFillTx/>
                <a:latin typeface="Calibri"/>
                <a:ea typeface="+mn-ea"/>
                <a:cs typeface="+mn-cs"/>
              </a:rPr>
              <a:t>coverage_radius</a:t>
            </a:r>
            <a:r>
              <a:rPr kumimoji="0" lang="el-GR" sz="2000" b="0" i="0" u="none" strike="noStrike" kern="1200" cap="none" spc="0" normalizeH="0" baseline="0" noProof="0" dirty="0">
                <a:ln>
                  <a:noFill/>
                </a:ln>
                <a:solidFill>
                  <a:srgbClr val="412F24"/>
                </a:solidFill>
                <a:effectLst/>
                <a:uLnTx/>
                <a:uFillTx/>
                <a:latin typeface="Calibri"/>
                <a:ea typeface="+mn-ea"/>
                <a:cs typeface="+mn-cs"/>
              </a:rPr>
              <a:t>) για κάθε σταθμό ορίζεται σε 70.</a:t>
            </a:r>
            <a:endParaRPr lang="en-GB" dirty="0"/>
          </a:p>
          <a:p>
            <a:pPr marL="228600" marR="0" lvl="0" indent="-228600" algn="l" defTabSz="914400" rtl="0" eaLnBrk="1" fontAlgn="auto" latinLnBrk="0" hangingPunct="1">
              <a:lnSpc>
                <a:spcPct val="90000"/>
              </a:lnSpc>
              <a:spcBef>
                <a:spcPts val="1000"/>
              </a:spcBef>
              <a:spcAft>
                <a:spcPts val="0"/>
              </a:spcAft>
              <a:buClr>
                <a:srgbClr val="412F24">
                  <a:lumMod val="75000"/>
                  <a:lumOff val="25000"/>
                </a:srgbClr>
              </a:buClr>
              <a:buSzTx/>
              <a:buFont typeface="Arial" panose="020B0604020202020204" pitchFamily="34" charset="0"/>
              <a:buChar char="•"/>
              <a:tabLst/>
              <a:defRPr/>
            </a:pPr>
            <a:r>
              <a:rPr kumimoji="0" lang="el-GR" sz="2000" b="0" i="0" u="none" strike="noStrike" kern="1200" cap="none" spc="0" normalizeH="0" baseline="0" noProof="0" dirty="0">
                <a:ln>
                  <a:noFill/>
                </a:ln>
                <a:solidFill>
                  <a:srgbClr val="412F24"/>
                </a:solidFill>
                <a:effectLst/>
                <a:uLnTx/>
                <a:uFillTx/>
                <a:latin typeface="Calibri"/>
                <a:ea typeface="+mn-ea"/>
                <a:cs typeface="+mn-cs"/>
              </a:rPr>
              <a:t>Ορίζουμε την ακτίνα κάλυψης σε 70, καθώς είναι κατάλληλη για την κλίμακα της προσομοίωσης, όπου οι συντεταγμένες των σταθμών βάσης και των UE κυμαίνονται από 0 έως 100. Με αυτόν τον τρόπο εξασφαλίζουμε ότι οι σταθμοί βάσης καλύπτουν ένα σημαντικό μέρος του χώρου προσομοίωσης, οπότε </a:t>
            </a:r>
            <a:r>
              <a:rPr kumimoji="0" lang="el-GR" sz="2000" b="0" i="0" u="none" strike="noStrike" kern="1200" cap="none" spc="0" normalizeH="0" baseline="0" noProof="0" dirty="0">
                <a:ln>
                  <a:noFill/>
                </a:ln>
                <a:solidFill>
                  <a:srgbClr val="2E2F30"/>
                </a:solidFill>
                <a:effectLst/>
                <a:uLnTx/>
                <a:uFillTx/>
                <a:latin typeface="Inter"/>
                <a:ea typeface="+mn-ea"/>
                <a:cs typeface="+mn-cs"/>
              </a:rPr>
              <a:t>θα έχουν επικάλυψη στις περιοχές κάλυψής τους. </a:t>
            </a:r>
            <a:endParaRPr lang="en-GB" dirty="0"/>
          </a:p>
          <a:p>
            <a:pPr lvl="1">
              <a:buFont typeface="Wingdings" panose="05000000000000000000" pitchFamily="2" charset="2"/>
              <a:buChar char="§"/>
            </a:pPr>
            <a:endParaRPr lang="en-GB" sz="2000" dirty="0"/>
          </a:p>
          <a:p>
            <a:pPr lvl="1">
              <a:buFont typeface="Wingdings" panose="05000000000000000000" pitchFamily="2" charset="2"/>
              <a:buChar char="§"/>
            </a:pPr>
            <a:endParaRPr lang="en-GB" sz="2000" dirty="0"/>
          </a:p>
        </p:txBody>
      </p:sp>
      <p:pic>
        <p:nvPicPr>
          <p:cNvPr id="5" name="Picture 4" descr="A screenshot of a computer screen&#10;&#10;Description automatically generated">
            <a:extLst>
              <a:ext uri="{FF2B5EF4-FFF2-40B4-BE49-F238E27FC236}">
                <a16:creationId xmlns:a16="http://schemas.microsoft.com/office/drawing/2014/main" id="{89C376BE-B267-4297-7B2F-CB43D81FAA5C}"/>
              </a:ext>
            </a:extLst>
          </p:cNvPr>
          <p:cNvPicPr>
            <a:picLocks noChangeAspect="1"/>
          </p:cNvPicPr>
          <p:nvPr/>
        </p:nvPicPr>
        <p:blipFill>
          <a:blip r:embed="rId2">
            <a:extLst>
              <a:ext uri="{28A0092B-C50C-407E-A947-70E740481C1C}">
                <a14:useLocalDpi xmlns:a14="http://schemas.microsoft.com/office/drawing/2010/main" val="0"/>
              </a:ext>
            </a:extLst>
          </a:blip>
          <a:srcRect t="14892"/>
          <a:stretch/>
        </p:blipFill>
        <p:spPr>
          <a:xfrm>
            <a:off x="0" y="4166188"/>
            <a:ext cx="3891547" cy="2712720"/>
          </a:xfrm>
          <a:prstGeom prst="rect">
            <a:avLst/>
          </a:prstGeom>
        </p:spPr>
      </p:pic>
      <p:sp>
        <p:nvSpPr>
          <p:cNvPr id="7" name="TextBox 6">
            <a:extLst>
              <a:ext uri="{FF2B5EF4-FFF2-40B4-BE49-F238E27FC236}">
                <a16:creationId xmlns:a16="http://schemas.microsoft.com/office/drawing/2014/main" id="{465A6C70-7A80-860D-25B8-5672C8852454}"/>
              </a:ext>
            </a:extLst>
          </p:cNvPr>
          <p:cNvSpPr txBox="1"/>
          <p:nvPr/>
        </p:nvSpPr>
        <p:spPr>
          <a:xfrm>
            <a:off x="3891547" y="4645197"/>
            <a:ext cx="7458608" cy="1993366"/>
          </a:xfrm>
          <a:prstGeom prst="rect">
            <a:avLst/>
          </a:prstGeom>
          <a:noFill/>
        </p:spPr>
        <p:txBody>
          <a:bodyPr wrap="square" rtlCol="0">
            <a:spAutoFit/>
          </a:bodyPr>
          <a:lstStyle/>
          <a:p>
            <a:pPr marL="228600" marR="0" lvl="0" indent="-228600" algn="l" defTabSz="914400" rtl="0" eaLnBrk="1" fontAlgn="auto" latinLnBrk="0" hangingPunct="1">
              <a:lnSpc>
                <a:spcPct val="90000"/>
              </a:lnSpc>
              <a:spcBef>
                <a:spcPts val="1000"/>
              </a:spcBef>
              <a:spcAft>
                <a:spcPts val="0"/>
              </a:spcAft>
              <a:buClr>
                <a:srgbClr val="412F24">
                  <a:lumMod val="75000"/>
                  <a:lumOff val="25000"/>
                </a:srgbClr>
              </a:buClr>
              <a:buSzTx/>
              <a:buFont typeface="Arial" panose="020B0604020202020204" pitchFamily="34" charset="0"/>
              <a:buChar char="•"/>
              <a:tabLst/>
              <a:defRPr/>
            </a:pPr>
            <a:r>
              <a:rPr kumimoji="0" lang="el-GR" sz="1800" b="0" i="0" u="none" strike="noStrike" kern="1200" cap="none" spc="0" normalizeH="0" baseline="0" noProof="0" dirty="0">
                <a:ln>
                  <a:noFill/>
                </a:ln>
                <a:solidFill>
                  <a:srgbClr val="2E2F30"/>
                </a:solidFill>
                <a:effectLst/>
                <a:uLnTx/>
                <a:uFillTx/>
                <a:latin typeface="Inter"/>
                <a:ea typeface="+mn-ea"/>
                <a:cs typeface="+mn-cs"/>
              </a:rPr>
              <a:t>Αυτό είναι σημαντικό για την προσομοίωση των </a:t>
            </a:r>
            <a:r>
              <a:rPr kumimoji="0" lang="el-GR" sz="1800" b="0" i="0" u="none" strike="noStrike" kern="1200" cap="none" spc="0" normalizeH="0" baseline="0" noProof="0" dirty="0" err="1">
                <a:ln>
                  <a:noFill/>
                </a:ln>
                <a:solidFill>
                  <a:srgbClr val="2E2F30"/>
                </a:solidFill>
                <a:effectLst/>
                <a:uLnTx/>
                <a:uFillTx/>
                <a:latin typeface="Inter"/>
                <a:ea typeface="+mn-ea"/>
                <a:cs typeface="+mn-cs"/>
              </a:rPr>
              <a:t>handovers</a:t>
            </a:r>
            <a:r>
              <a:rPr kumimoji="0" lang="el-GR" sz="1800" b="0" i="0" u="none" strike="noStrike" kern="1200" cap="none" spc="0" normalizeH="0" baseline="0" noProof="0" dirty="0">
                <a:ln>
                  <a:noFill/>
                </a:ln>
                <a:solidFill>
                  <a:srgbClr val="2E2F30"/>
                </a:solidFill>
                <a:effectLst/>
                <a:uLnTx/>
                <a:uFillTx/>
                <a:latin typeface="Inter"/>
                <a:ea typeface="+mn-ea"/>
                <a:cs typeface="+mn-cs"/>
              </a:rPr>
              <a:t>, καθώς τα UE μπορούν να μεταβούν από τον ένα σταθμό βάσης στον άλλο όταν κινούνται στο όριο μεταξύ των περιοχών κάλυψης.</a:t>
            </a:r>
          </a:p>
          <a:p>
            <a:pPr marL="228600" marR="0" lvl="0" indent="-228600" algn="l" defTabSz="914400" rtl="0" eaLnBrk="1" fontAlgn="auto" latinLnBrk="0" hangingPunct="1">
              <a:lnSpc>
                <a:spcPct val="90000"/>
              </a:lnSpc>
              <a:spcBef>
                <a:spcPts val="1000"/>
              </a:spcBef>
              <a:spcAft>
                <a:spcPts val="0"/>
              </a:spcAft>
              <a:buClr>
                <a:srgbClr val="412F24">
                  <a:lumMod val="75000"/>
                  <a:lumOff val="25000"/>
                </a:srgbClr>
              </a:buClr>
              <a:buSzTx/>
              <a:buFont typeface="Arial" panose="020B0604020202020204" pitchFamily="34" charset="0"/>
              <a:buChar char="•"/>
              <a:tabLst/>
              <a:defRPr/>
            </a:pPr>
            <a:r>
              <a:rPr kumimoji="0" lang="el-GR" sz="1800" b="0" i="0" u="none" strike="noStrike" kern="1200" cap="none" spc="0" normalizeH="0" baseline="0" noProof="0" dirty="0">
                <a:ln>
                  <a:noFill/>
                </a:ln>
                <a:solidFill>
                  <a:srgbClr val="412F24"/>
                </a:solidFill>
                <a:effectLst/>
                <a:uLnTx/>
                <a:uFillTx/>
                <a:latin typeface="Calibri"/>
                <a:ea typeface="+mn-ea"/>
                <a:cs typeface="+mn-cs"/>
              </a:rPr>
              <a:t>Ωστόσο, είναι σημαντικό να σημειωθεί ότι η τιμή 70 είναι μια υπόθεση για τους σκοπούς της προσομοίωσης και μπορεί να μην αντιπροσωπεύει με ακρίβεια όλα τα πραγματικά σενάρια δικτύου. </a:t>
            </a:r>
          </a:p>
          <a:p>
            <a:endParaRPr lang="el-GR" dirty="0"/>
          </a:p>
        </p:txBody>
      </p:sp>
    </p:spTree>
    <p:extLst>
      <p:ext uri="{BB962C8B-B14F-4D97-AF65-F5344CB8AC3E}">
        <p14:creationId xmlns:p14="http://schemas.microsoft.com/office/powerpoint/2010/main" val="11723436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5898F-6230-68FB-8223-9D44B1A40A13}"/>
              </a:ext>
            </a:extLst>
          </p:cNvPr>
          <p:cNvSpPr>
            <a:spLocks noGrp="1"/>
          </p:cNvSpPr>
          <p:nvPr>
            <p:ph type="title"/>
          </p:nvPr>
        </p:nvSpPr>
        <p:spPr/>
        <p:txBody>
          <a:bodyPr>
            <a:normAutofit fontScale="90000"/>
          </a:bodyPr>
          <a:lstStyle/>
          <a:p>
            <a:r>
              <a:rPr lang="el-GR" dirty="0"/>
              <a:t>Μέθοδος </a:t>
            </a:r>
            <a:r>
              <a:rPr lang="en-US" dirty="0" err="1"/>
              <a:t>create_base_stations</a:t>
            </a:r>
            <a:r>
              <a:rPr lang="en-US" dirty="0"/>
              <a:t> (random)</a:t>
            </a:r>
            <a:endParaRPr lang="el-GR" dirty="0"/>
          </a:p>
        </p:txBody>
      </p:sp>
      <p:sp>
        <p:nvSpPr>
          <p:cNvPr id="3" name="Content Placeholder 2">
            <a:extLst>
              <a:ext uri="{FF2B5EF4-FFF2-40B4-BE49-F238E27FC236}">
                <a16:creationId xmlns:a16="http://schemas.microsoft.com/office/drawing/2014/main" id="{A0A04073-2221-092F-9241-24111AF692B2}"/>
              </a:ext>
            </a:extLst>
          </p:cNvPr>
          <p:cNvSpPr>
            <a:spLocks noGrp="1"/>
          </p:cNvSpPr>
          <p:nvPr>
            <p:ph idx="1"/>
          </p:nvPr>
        </p:nvSpPr>
        <p:spPr/>
        <p:txBody>
          <a:bodyPr>
            <a:normAutofit/>
          </a:bodyPr>
          <a:lstStyle/>
          <a:p>
            <a:r>
              <a:rPr lang="el-GR" dirty="0"/>
              <a:t>Αν η παράμετρος </a:t>
            </a:r>
            <a:r>
              <a:rPr lang="el-GR" dirty="0" err="1"/>
              <a:t>grid</a:t>
            </a:r>
            <a:r>
              <a:rPr lang="el-GR" dirty="0"/>
              <a:t> είναι </a:t>
            </a:r>
            <a:r>
              <a:rPr lang="el-GR" dirty="0" err="1"/>
              <a:t>False</a:t>
            </a:r>
            <a:r>
              <a:rPr lang="el-GR" dirty="0"/>
              <a:t>, οι σταθμοί βάσης τοποθετούνται σε τυχαίες θέσεις.</a:t>
            </a:r>
          </a:p>
          <a:p>
            <a:r>
              <a:rPr lang="el-GR" dirty="0"/>
              <a:t>Δημιουργούμε μια λίστα αντικειμένων </a:t>
            </a:r>
            <a:r>
              <a:rPr lang="el-GR" dirty="0" err="1"/>
              <a:t>BaseStation</a:t>
            </a:r>
            <a:r>
              <a:rPr lang="el-GR" dirty="0"/>
              <a:t> χρησιμοποιώντας μια γεννήτρια λίστα</a:t>
            </a:r>
            <a:r>
              <a:rPr lang="en-GB" dirty="0"/>
              <a:t>.</a:t>
            </a:r>
            <a:endParaRPr lang="el-GR" dirty="0"/>
          </a:p>
          <a:p>
            <a:r>
              <a:rPr lang="el-GR" dirty="0"/>
              <a:t>Για κάθε σταθμό, το i αντιπροσωπεύει το αναγνωριστικό του σταθμού, και οι συντεταγμένες x και y επιλέγονται τυχαία μεταξύ 0 και 100 χρησιμοποιώντας τη συνάρτηση </a:t>
            </a:r>
            <a:r>
              <a:rPr lang="el-GR" dirty="0" err="1"/>
              <a:t>random.uniform</a:t>
            </a:r>
            <a:r>
              <a:rPr lang="el-GR" dirty="0"/>
              <a:t>.</a:t>
            </a:r>
          </a:p>
          <a:p>
            <a:r>
              <a:rPr lang="el-GR" dirty="0"/>
              <a:t>Η ακτίνα κάλυψης για κάθε σταθμό επιλέγεται επίσης τυχαία μεταξύ 60 και 70.</a:t>
            </a:r>
            <a:endParaRPr lang="en-GB" dirty="0"/>
          </a:p>
          <a:p>
            <a:r>
              <a:rPr lang="el-GR" dirty="0"/>
              <a:t>Συνοπτικά, η μέθοδος </a:t>
            </a:r>
            <a:r>
              <a:rPr lang="el-GR" dirty="0" err="1"/>
              <a:t>create_base_stations</a:t>
            </a:r>
            <a:r>
              <a:rPr lang="el-GR" dirty="0"/>
              <a:t> δημιουργεί μια λίστα αντικειμένων </a:t>
            </a:r>
            <a:r>
              <a:rPr lang="el-GR" dirty="0" err="1"/>
              <a:t>BaseStation</a:t>
            </a:r>
            <a:r>
              <a:rPr lang="el-GR" dirty="0"/>
              <a:t> με βάση τις παρεχόμενες παραμέτρους</a:t>
            </a:r>
            <a:r>
              <a:rPr lang="en-GB" dirty="0"/>
              <a:t>:</a:t>
            </a:r>
          </a:p>
          <a:p>
            <a:pPr lvl="1"/>
            <a:r>
              <a:rPr lang="el-GR" sz="2000" dirty="0"/>
              <a:t>Αν η παράμετρος </a:t>
            </a:r>
            <a:r>
              <a:rPr lang="el-GR" sz="2000" dirty="0" err="1"/>
              <a:t>grid</a:t>
            </a:r>
            <a:r>
              <a:rPr lang="el-GR" sz="2000" dirty="0"/>
              <a:t> είναι </a:t>
            </a:r>
            <a:r>
              <a:rPr lang="el-GR" sz="2000" dirty="0" err="1"/>
              <a:t>True</a:t>
            </a:r>
            <a:r>
              <a:rPr lang="el-GR" sz="2000" dirty="0"/>
              <a:t>, οι σταθμοί τοποθετούνται σε διάταξη πλέγματος με ίσες αποστάσεις μεταξύ τους. </a:t>
            </a:r>
            <a:endParaRPr lang="en-GB" sz="2000" dirty="0"/>
          </a:p>
          <a:p>
            <a:pPr lvl="1"/>
            <a:r>
              <a:rPr lang="el-GR" sz="2000" dirty="0"/>
              <a:t>Διαφορετικά, οι σταθμοί τοποθετούνται σε τυχαίες θέσεις εντός ενός καθορισμένου εύρους</a:t>
            </a:r>
            <a:r>
              <a:rPr lang="el-GR" dirty="0"/>
              <a:t>. </a:t>
            </a:r>
            <a:endParaRPr lang="en-GB" dirty="0"/>
          </a:p>
          <a:p>
            <a:r>
              <a:rPr lang="el-GR" dirty="0"/>
              <a:t>Αυτή η μέθοδος επιτρέπει ευελιξία στη δημιουργία διαφορετικών τοπολογιών δικτύου για την προσομοίωση.</a:t>
            </a:r>
          </a:p>
        </p:txBody>
      </p:sp>
    </p:spTree>
    <p:extLst>
      <p:ext uri="{BB962C8B-B14F-4D97-AF65-F5344CB8AC3E}">
        <p14:creationId xmlns:p14="http://schemas.microsoft.com/office/powerpoint/2010/main" val="2201200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6F263-C985-9DC5-999C-B37F2647398A}"/>
              </a:ext>
            </a:extLst>
          </p:cNvPr>
          <p:cNvSpPr>
            <a:spLocks noGrp="1"/>
          </p:cNvSpPr>
          <p:nvPr>
            <p:ph type="title"/>
          </p:nvPr>
        </p:nvSpPr>
        <p:spPr/>
        <p:txBody>
          <a:bodyPr/>
          <a:lstStyle/>
          <a:p>
            <a:r>
              <a:rPr lang="el-GR" dirty="0"/>
              <a:t>Μέθοδος</a:t>
            </a:r>
            <a:r>
              <a:rPr lang="en-GB" dirty="0"/>
              <a:t> </a:t>
            </a:r>
            <a:r>
              <a:rPr lang="en-GB" dirty="0" err="1"/>
              <a:t>create_ues</a:t>
            </a:r>
            <a:endParaRPr lang="el-GR" dirty="0"/>
          </a:p>
        </p:txBody>
      </p:sp>
      <p:sp>
        <p:nvSpPr>
          <p:cNvPr id="3" name="Content Placeholder 2">
            <a:extLst>
              <a:ext uri="{FF2B5EF4-FFF2-40B4-BE49-F238E27FC236}">
                <a16:creationId xmlns:a16="http://schemas.microsoft.com/office/drawing/2014/main" id="{76562797-8722-AC9F-CE76-7E8887DE3CF8}"/>
              </a:ext>
            </a:extLst>
          </p:cNvPr>
          <p:cNvSpPr>
            <a:spLocks noGrp="1"/>
          </p:cNvSpPr>
          <p:nvPr>
            <p:ph idx="1"/>
          </p:nvPr>
        </p:nvSpPr>
        <p:spPr>
          <a:xfrm>
            <a:off x="777240" y="1690688"/>
            <a:ext cx="10659110" cy="4651117"/>
          </a:xfrm>
        </p:spPr>
        <p:txBody>
          <a:bodyPr>
            <a:normAutofit/>
          </a:bodyPr>
          <a:lstStyle/>
          <a:p>
            <a:r>
              <a:rPr lang="el-GR" b="1" dirty="0"/>
              <a:t>Στόχος</a:t>
            </a:r>
            <a:r>
              <a:rPr lang="en-GB" b="1" dirty="0"/>
              <a:t>: </a:t>
            </a:r>
            <a:r>
              <a:rPr lang="el-GR" dirty="0"/>
              <a:t>Η προσομοίωση ενός δικτύου με πολλαπλούς χρήστες που βρίσκονται σε διαφορετικές τοποθεσίες εντός της περιοχής κάλυψης του δικτύου. Η χρήση της συνάρτησης </a:t>
            </a:r>
            <a:r>
              <a:rPr lang="el-GR" dirty="0" err="1"/>
              <a:t>random.uniform</a:t>
            </a:r>
            <a:r>
              <a:rPr lang="el-GR" dirty="0"/>
              <a:t> εξασφαλίζει ότι οι αρχικές θέσεις των UE κατανέμονται ομοιόμορφα στο καθορισμένο εύρος.</a:t>
            </a:r>
          </a:p>
          <a:p>
            <a:r>
              <a:rPr lang="el-GR" dirty="0"/>
              <a:t>Δημιουργούμε τους εξοπλισμούς χρήστη (UE) του δικτύου με τυχαίες αρχικές θέσεις.</a:t>
            </a:r>
          </a:p>
          <a:p>
            <a:r>
              <a:rPr lang="el-GR" dirty="0"/>
              <a:t>Η μέθοδος δέχεται μια παράμετρο </a:t>
            </a:r>
            <a:r>
              <a:rPr lang="el-GR" dirty="0" err="1"/>
              <a:t>num_ues</a:t>
            </a:r>
            <a:r>
              <a:rPr lang="el-GR" dirty="0"/>
              <a:t>, που αντιπροσωπεύει τον αριθμό των UE που θα δημιουργηθούν. Δημιουργούμε μια λίστα αντικειμένων UE, για κάθε τιμή του i στο εύρος </a:t>
            </a:r>
            <a:r>
              <a:rPr lang="el-GR" dirty="0" err="1"/>
              <a:t>range</a:t>
            </a:r>
            <a:r>
              <a:rPr lang="el-GR" dirty="0"/>
              <a:t>(</a:t>
            </a:r>
            <a:r>
              <a:rPr lang="el-GR" dirty="0" err="1"/>
              <a:t>num_ues</a:t>
            </a:r>
            <a:r>
              <a:rPr lang="el-GR" dirty="0"/>
              <a:t>), μέσω γεννήτριας λίστας, όπου για κάθε UE, το i αντιπροσωπεύει το αναγνωριστικό του UE, και οι αρχικές συντεταγμένες x και y επιλέγονται τυχαία χρησιμοποιώντας τη συνάρτηση </a:t>
            </a:r>
            <a:r>
              <a:rPr lang="el-GR" dirty="0" err="1"/>
              <a:t>random.uniform</a:t>
            </a:r>
            <a:r>
              <a:rPr lang="el-GR" dirty="0"/>
              <a:t>(0, 100).</a:t>
            </a:r>
          </a:p>
          <a:p>
            <a:r>
              <a:rPr lang="el-GR" dirty="0"/>
              <a:t>Αυτό σημαίνει ότι τα UE θα τοποθετηθούν τυχαία σε συντεταγμένες εντός του εύρους [0, 100) για τόσο τον άξονα x όσο και τον άξονα y.</a:t>
            </a:r>
          </a:p>
        </p:txBody>
      </p:sp>
    </p:spTree>
    <p:extLst>
      <p:ext uri="{BB962C8B-B14F-4D97-AF65-F5344CB8AC3E}">
        <p14:creationId xmlns:p14="http://schemas.microsoft.com/office/powerpoint/2010/main" val="30564898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FA42F7A-ADB0-0D13-22A4-0611802297C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3CF6831-0C69-666D-AA08-860AADBC4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10" name="Rectangle 9">
            <a:extLst>
              <a:ext uri="{FF2B5EF4-FFF2-40B4-BE49-F238E27FC236}">
                <a16:creationId xmlns:a16="http://schemas.microsoft.com/office/drawing/2014/main" id="{A5660AF6-F83A-E803-C8BD-8B1D30A2C9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Gill Sans Nova"/>
              <a:ea typeface="+mn-ea"/>
              <a:cs typeface="+mn-cs"/>
            </a:endParaRPr>
          </a:p>
        </p:txBody>
      </p:sp>
      <p:pic>
        <p:nvPicPr>
          <p:cNvPr id="30" name="Picture 29" descr="A close-up of a wave&#10;&#10;Description automatically generated">
            <a:extLst>
              <a:ext uri="{FF2B5EF4-FFF2-40B4-BE49-F238E27FC236}">
                <a16:creationId xmlns:a16="http://schemas.microsoft.com/office/drawing/2014/main" id="{C8B3F35C-7109-890D-0B5B-18D8C84F7B26}"/>
              </a:ext>
            </a:extLst>
          </p:cNvPr>
          <p:cNvPicPr>
            <a:picLocks noChangeAspect="1"/>
          </p:cNvPicPr>
          <p:nvPr/>
        </p:nvPicPr>
        <p:blipFill>
          <a:blip r:embed="rId2">
            <a:alphaModFix amt="40000"/>
          </a:blip>
          <a:srcRect t="12769" r="-1" b="-1"/>
          <a:stretch/>
        </p:blipFill>
        <p:spPr>
          <a:xfrm>
            <a:off x="1525" y="10"/>
            <a:ext cx="12188951" cy="6857990"/>
          </a:xfrm>
          <a:prstGeom prst="rect">
            <a:avLst/>
          </a:prstGeom>
        </p:spPr>
      </p:pic>
      <p:grpSp>
        <p:nvGrpSpPr>
          <p:cNvPr id="31" name="decorative circle">
            <a:extLst>
              <a:ext uri="{FF2B5EF4-FFF2-40B4-BE49-F238E27FC236}">
                <a16:creationId xmlns:a16="http://schemas.microsoft.com/office/drawing/2014/main" id="{0A5A7C89-D4C1-4CEA-7495-50DE0A53D59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4102" y="236341"/>
            <a:ext cx="11340713" cy="5464029"/>
            <a:chOff x="314102" y="236341"/>
            <a:chExt cx="11340713" cy="5464029"/>
          </a:xfrm>
        </p:grpSpPr>
        <p:sp>
          <p:nvSpPr>
            <p:cNvPr id="32" name="Oval 31">
              <a:extLst>
                <a:ext uri="{FF2B5EF4-FFF2-40B4-BE49-F238E27FC236}">
                  <a16:creationId xmlns:a16="http://schemas.microsoft.com/office/drawing/2014/main" id="{A1C57C15-5E8E-A166-C7AD-5C42A2ABC1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0448" y="3803994"/>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14" name="Oval 13">
              <a:extLst>
                <a:ext uri="{FF2B5EF4-FFF2-40B4-BE49-F238E27FC236}">
                  <a16:creationId xmlns:a16="http://schemas.microsoft.com/office/drawing/2014/main" id="{A269CCB4-3992-1819-78CE-835A8D9323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4102" y="3044381"/>
              <a:ext cx="226735" cy="226735"/>
            </a:xfrm>
            <a:prstGeom prst="ellipse">
              <a:avLst/>
            </a:prstGeom>
            <a:solidFill>
              <a:schemeClr val="tx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15" name="Oval 14">
              <a:extLst>
                <a:ext uri="{FF2B5EF4-FFF2-40B4-BE49-F238E27FC236}">
                  <a16:creationId xmlns:a16="http://schemas.microsoft.com/office/drawing/2014/main" id="{C1A2129A-AB96-E295-B2ED-BD367BCCF7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88374" y="386135"/>
              <a:ext cx="466441" cy="466441"/>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3" name="Oval 32">
              <a:extLst>
                <a:ext uri="{FF2B5EF4-FFF2-40B4-BE49-F238E27FC236}">
                  <a16:creationId xmlns:a16="http://schemas.microsoft.com/office/drawing/2014/main" id="{B42D551C-ADD7-1B36-6A55-CE4620FD85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65714" y="236341"/>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4" name="Oval 33">
              <a:extLst>
                <a:ext uri="{FF2B5EF4-FFF2-40B4-BE49-F238E27FC236}">
                  <a16:creationId xmlns:a16="http://schemas.microsoft.com/office/drawing/2014/main" id="{29CF3AA2-16D4-80CE-A989-8FE25F47B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1535" y="2516671"/>
              <a:ext cx="466441" cy="46644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5" name="Oval 34">
              <a:extLst>
                <a:ext uri="{FF2B5EF4-FFF2-40B4-BE49-F238E27FC236}">
                  <a16:creationId xmlns:a16="http://schemas.microsoft.com/office/drawing/2014/main" id="{7D60E117-14F3-7FB0-4035-2AC8A801C8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30142" y="458803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6" name="Oval 35">
              <a:extLst>
                <a:ext uri="{FF2B5EF4-FFF2-40B4-BE49-F238E27FC236}">
                  <a16:creationId xmlns:a16="http://schemas.microsoft.com/office/drawing/2014/main" id="{45F20C1F-20FA-86F0-A0BE-B4D0020D10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02046" y="5394590"/>
              <a:ext cx="305780" cy="30578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7" name="Oval 36">
              <a:extLst>
                <a:ext uri="{FF2B5EF4-FFF2-40B4-BE49-F238E27FC236}">
                  <a16:creationId xmlns:a16="http://schemas.microsoft.com/office/drawing/2014/main" id="{FB41CF90-EE49-D3C7-9D95-1F6B20A0CF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08287" y="5160714"/>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3D6B517B-A0C4-FAFB-F977-ED1A07872E22}"/>
              </a:ext>
            </a:extLst>
          </p:cNvPr>
          <p:cNvSpPr>
            <a:spLocks noGrp="1"/>
          </p:cNvSpPr>
          <p:nvPr>
            <p:ph type="ctrTitle"/>
          </p:nvPr>
        </p:nvSpPr>
        <p:spPr>
          <a:xfrm>
            <a:off x="2562606" y="1122363"/>
            <a:ext cx="7063739" cy="2387600"/>
          </a:xfrm>
        </p:spPr>
        <p:txBody>
          <a:bodyPr>
            <a:normAutofit/>
          </a:bodyPr>
          <a:lstStyle/>
          <a:p>
            <a:r>
              <a:rPr lang="el-GR" dirty="0">
                <a:solidFill>
                  <a:srgbClr val="FFFFFF"/>
                </a:solidFill>
              </a:rPr>
              <a:t>Υλοποίηση Αλγορίθμων Εναλλαγής Κυττάρων</a:t>
            </a:r>
          </a:p>
        </p:txBody>
      </p:sp>
    </p:spTree>
    <p:extLst>
      <p:ext uri="{BB962C8B-B14F-4D97-AF65-F5344CB8AC3E}">
        <p14:creationId xmlns:p14="http://schemas.microsoft.com/office/powerpoint/2010/main" val="34431269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33571-2E04-EDF5-2D0C-59090FD2A2F1}"/>
              </a:ext>
            </a:extLst>
          </p:cNvPr>
          <p:cNvSpPr>
            <a:spLocks noGrp="1"/>
          </p:cNvSpPr>
          <p:nvPr>
            <p:ph type="title"/>
          </p:nvPr>
        </p:nvSpPr>
        <p:spPr/>
        <p:txBody>
          <a:bodyPr/>
          <a:lstStyle/>
          <a:p>
            <a:r>
              <a:rPr lang="el-GR" b="0" i="0" dirty="0">
                <a:solidFill>
                  <a:srgbClr val="2E2F30"/>
                </a:solidFill>
                <a:effectLst/>
                <a:latin typeface="Inter"/>
              </a:rPr>
              <a:t>Αλγόριθμος </a:t>
            </a:r>
            <a:r>
              <a:rPr lang="en-US" b="0" i="0" dirty="0">
                <a:solidFill>
                  <a:srgbClr val="2E2F30"/>
                </a:solidFill>
                <a:effectLst/>
                <a:latin typeface="Inter"/>
              </a:rPr>
              <a:t>RSSI</a:t>
            </a:r>
            <a:endParaRPr lang="el-GR" dirty="0"/>
          </a:p>
        </p:txBody>
      </p:sp>
      <p:sp>
        <p:nvSpPr>
          <p:cNvPr id="3" name="Content Placeholder 2">
            <a:extLst>
              <a:ext uri="{FF2B5EF4-FFF2-40B4-BE49-F238E27FC236}">
                <a16:creationId xmlns:a16="http://schemas.microsoft.com/office/drawing/2014/main" id="{691EDB3C-0C57-44FA-AEE9-8F24326C17A9}"/>
              </a:ext>
            </a:extLst>
          </p:cNvPr>
          <p:cNvSpPr>
            <a:spLocks noGrp="1"/>
          </p:cNvSpPr>
          <p:nvPr>
            <p:ph idx="1"/>
          </p:nvPr>
        </p:nvSpPr>
        <p:spPr>
          <a:xfrm>
            <a:off x="777240" y="1825625"/>
            <a:ext cx="10659110" cy="4667250"/>
          </a:xfrm>
        </p:spPr>
        <p:txBody>
          <a:bodyPr>
            <a:normAutofit/>
          </a:bodyPr>
          <a:lstStyle/>
          <a:p>
            <a:r>
              <a:rPr lang="el-GR" dirty="0"/>
              <a:t>Χρησιμοποιούμε τον </a:t>
            </a:r>
            <a:r>
              <a:rPr lang="el-GR" dirty="0" err="1"/>
              <a:t>Received</a:t>
            </a:r>
            <a:r>
              <a:rPr lang="el-GR" dirty="0"/>
              <a:t> </a:t>
            </a:r>
            <a:r>
              <a:rPr lang="el-GR" dirty="0" err="1"/>
              <a:t>Signal</a:t>
            </a:r>
            <a:r>
              <a:rPr lang="el-GR" dirty="0"/>
              <a:t> </a:t>
            </a:r>
            <a:r>
              <a:rPr lang="el-GR" dirty="0" err="1"/>
              <a:t>Strength</a:t>
            </a:r>
            <a:r>
              <a:rPr lang="el-GR" dirty="0"/>
              <a:t> </a:t>
            </a:r>
            <a:r>
              <a:rPr lang="el-GR" dirty="0" err="1"/>
              <a:t>Indicator</a:t>
            </a:r>
            <a:r>
              <a:rPr lang="el-GR" dirty="0"/>
              <a:t> - RSSI ως βάση για την εναλλαγή μεταξύ σταθμών βάσης. </a:t>
            </a:r>
            <a:endParaRPr lang="en-GB" dirty="0"/>
          </a:p>
          <a:p>
            <a:r>
              <a:rPr lang="el-GR" dirty="0"/>
              <a:t>Κάθε UE παρακολουθεί συνεχώς την ισχύ του σήματος από όλους τους κοντινούς σταθμούς και μεταβαίνει σε αυτόν που παρέχει σημαντικά καλύτερο σήμα. </a:t>
            </a:r>
          </a:p>
          <a:p>
            <a:r>
              <a:rPr lang="el-GR" b="1" dirty="0"/>
              <a:t>Προσέγγιση: </a:t>
            </a:r>
            <a:r>
              <a:rPr lang="el-GR" dirty="0"/>
              <a:t>Ο αλγόριθμος σχεδιάστηκε για να ελαχιστοποιεί την απώλεια σήματος, δίνοντας προτεραιότητα στη σύνδεση με τον ισχυρότερο σταθμό βάσης. Ωστόσο, αναγνωρίζεται ότι η συνεχής αναζήτηση του ισχυρότερου σήματος μπορεί να οδηγήσει σε αστάθεια λόγω συχνών</a:t>
            </a:r>
            <a:r>
              <a:rPr lang="en-GB" dirty="0"/>
              <a:t> </a:t>
            </a:r>
            <a:r>
              <a:rPr lang="el-GR" dirty="0"/>
              <a:t>και περιττών </a:t>
            </a:r>
            <a:r>
              <a:rPr lang="en-GB" dirty="0"/>
              <a:t>handovers</a:t>
            </a:r>
            <a:r>
              <a:rPr lang="el-GR" dirty="0"/>
              <a:t>, που μπορούν να υποβαθμίσουν τη συνολική απόδοση του δικτύου.</a:t>
            </a:r>
          </a:p>
          <a:p>
            <a:r>
              <a:rPr lang="el-GR" dirty="0"/>
              <a:t>Για την επίλυση της αστάθειας λόγω συχνών </a:t>
            </a:r>
            <a:r>
              <a:rPr lang="en-GB" dirty="0"/>
              <a:t>handover</a:t>
            </a:r>
            <a:r>
              <a:rPr lang="el-GR" dirty="0"/>
              <a:t> (φαινόμενο </a:t>
            </a:r>
            <a:r>
              <a:rPr lang="el-GR" dirty="0" err="1"/>
              <a:t>ping-pong</a:t>
            </a:r>
            <a:r>
              <a:rPr lang="el-GR" dirty="0"/>
              <a:t>), προσθέσαμε έναν μηχανισμός υστέρησης. Αυτός ο μηχανισμός διασφαλίζει ότι τα UE δεν αλλάζουν σταθμούς βάσης πολύ συχνά, παρέχοντας μια πιο σταθερή σύνδεση.</a:t>
            </a:r>
          </a:p>
        </p:txBody>
      </p:sp>
    </p:spTree>
    <p:extLst>
      <p:ext uri="{BB962C8B-B14F-4D97-AF65-F5344CB8AC3E}">
        <p14:creationId xmlns:p14="http://schemas.microsoft.com/office/powerpoint/2010/main" val="30432649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F8E18AC-903E-4B46-8CC0-FE20E612CE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3DEE38FB-0763-470C-8A5E-44456B5130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sp>
        <p:nvSpPr>
          <p:cNvPr id="2" name="Title 1">
            <a:extLst>
              <a:ext uri="{FF2B5EF4-FFF2-40B4-BE49-F238E27FC236}">
                <a16:creationId xmlns:a16="http://schemas.microsoft.com/office/drawing/2014/main" id="{C76019CE-8A42-9CD5-3A81-0ECB6AD9DEBB}"/>
              </a:ext>
            </a:extLst>
          </p:cNvPr>
          <p:cNvSpPr>
            <a:spLocks noGrp="1"/>
          </p:cNvSpPr>
          <p:nvPr>
            <p:ph type="title"/>
          </p:nvPr>
        </p:nvSpPr>
        <p:spPr>
          <a:xfrm>
            <a:off x="840104" y="318395"/>
            <a:ext cx="5253434" cy="1356360"/>
          </a:xfrm>
        </p:spPr>
        <p:txBody>
          <a:bodyPr anchor="b">
            <a:normAutofit/>
          </a:bodyPr>
          <a:lstStyle/>
          <a:p>
            <a:r>
              <a:rPr lang="el-GR" sz="4400" dirty="0"/>
              <a:t>Φαινόμενο </a:t>
            </a:r>
            <a:r>
              <a:rPr lang="en-US" sz="4400" dirty="0"/>
              <a:t>ping-pong </a:t>
            </a:r>
            <a:endParaRPr lang="el-GR" sz="4400" dirty="0"/>
          </a:p>
        </p:txBody>
      </p:sp>
      <p:sp>
        <p:nvSpPr>
          <p:cNvPr id="14" name="Oval 1">
            <a:extLst>
              <a:ext uri="{FF2B5EF4-FFF2-40B4-BE49-F238E27FC236}">
                <a16:creationId xmlns:a16="http://schemas.microsoft.com/office/drawing/2014/main" id="{F1D6E6C0-11C7-4A38-BD12-80741960B5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91411" y="557332"/>
            <a:ext cx="5743337" cy="57433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decorative circles">
            <a:extLst>
              <a:ext uri="{FF2B5EF4-FFF2-40B4-BE49-F238E27FC236}">
                <a16:creationId xmlns:a16="http://schemas.microsoft.com/office/drawing/2014/main" id="{2B16E781-E64A-4007-B0F1-5A50135A427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870062" y="289695"/>
            <a:ext cx="4971115" cy="6138399"/>
            <a:chOff x="6870062" y="289695"/>
            <a:chExt cx="4971115" cy="6138399"/>
          </a:xfrm>
        </p:grpSpPr>
        <p:sp>
          <p:nvSpPr>
            <p:cNvPr id="17" name="Oval 16">
              <a:extLst>
                <a:ext uri="{FF2B5EF4-FFF2-40B4-BE49-F238E27FC236}">
                  <a16:creationId xmlns:a16="http://schemas.microsoft.com/office/drawing/2014/main" id="{6F5849D6-7C1F-435A-8BEB-2A37173B65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543605" y="289695"/>
              <a:ext cx="226735" cy="226735"/>
            </a:xfrm>
            <a:prstGeom prst="ellipse">
              <a:avLst/>
            </a:prstGeom>
            <a:solidFill>
              <a:srgbClr val="9744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9C6C5D90-0568-4F1C-9392-536D4E32E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74736" y="5667686"/>
              <a:ext cx="466441" cy="46644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E069E425-421F-469A-9C32-9FB5C16E59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27805" y="5275653"/>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4C31A526-345A-4A63-BA59-FF91204E97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69847" y="5942894"/>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F27432B5-3C17-4415-B09A-67FCBD6360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81540" y="655922"/>
              <a:ext cx="466441" cy="466441"/>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90E4DDCC-A5A9-4365-876A-7992F2CF4D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03560" y="387281"/>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A5DB42D-36BB-41F6-A512-3AFDD33ADA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63367" y="6122314"/>
              <a:ext cx="305780" cy="30578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E03F45BD-67A0-4732-B626-9ECB4B18E2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0062" y="5959435"/>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descr="A black background with text and a scale&#10;&#10;Description automatically generated">
            <a:extLst>
              <a:ext uri="{FF2B5EF4-FFF2-40B4-BE49-F238E27FC236}">
                <a16:creationId xmlns:a16="http://schemas.microsoft.com/office/drawing/2014/main" id="{00ACB8E3-BDDF-5315-04CA-EDBE6B7FDC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69330" y="2100427"/>
            <a:ext cx="4715158" cy="2888033"/>
          </a:xfrm>
          <a:prstGeom prst="rect">
            <a:avLst/>
          </a:prstGeom>
        </p:spPr>
      </p:pic>
      <p:sp>
        <p:nvSpPr>
          <p:cNvPr id="8" name="Content Placeholder 2">
            <a:extLst>
              <a:ext uri="{FF2B5EF4-FFF2-40B4-BE49-F238E27FC236}">
                <a16:creationId xmlns:a16="http://schemas.microsoft.com/office/drawing/2014/main" id="{1F134A0C-E241-E239-2135-533403955334}"/>
              </a:ext>
            </a:extLst>
          </p:cNvPr>
          <p:cNvSpPr>
            <a:spLocks noGrp="1"/>
          </p:cNvSpPr>
          <p:nvPr>
            <p:ph idx="1"/>
          </p:nvPr>
        </p:nvSpPr>
        <p:spPr>
          <a:xfrm>
            <a:off x="642233" y="2077313"/>
            <a:ext cx="5649177" cy="4351338"/>
          </a:xfrm>
        </p:spPr>
        <p:txBody>
          <a:bodyPr>
            <a:normAutofit fontScale="92500" lnSpcReduction="10000"/>
          </a:bodyPr>
          <a:lstStyle/>
          <a:p>
            <a:r>
              <a:rPr lang="el-GR" b="0" i="0" dirty="0">
                <a:solidFill>
                  <a:srgbClr val="2E2F30"/>
                </a:solidFill>
                <a:effectLst/>
                <a:latin typeface="Inter"/>
              </a:rPr>
              <a:t>Το φαινόμενο </a:t>
            </a:r>
            <a:r>
              <a:rPr lang="el-GR" b="0" i="0" dirty="0" err="1">
                <a:solidFill>
                  <a:srgbClr val="2E2F30"/>
                </a:solidFill>
                <a:effectLst/>
                <a:latin typeface="Inter"/>
              </a:rPr>
              <a:t>ping-pong</a:t>
            </a:r>
            <a:r>
              <a:rPr lang="el-GR" b="0" i="0" dirty="0">
                <a:solidFill>
                  <a:srgbClr val="2E2F30"/>
                </a:solidFill>
                <a:effectLst/>
                <a:latin typeface="Inter"/>
              </a:rPr>
              <a:t> στα </a:t>
            </a:r>
            <a:r>
              <a:rPr lang="el-GR" b="0" i="0" dirty="0" err="1">
                <a:solidFill>
                  <a:srgbClr val="2E2F30"/>
                </a:solidFill>
                <a:effectLst/>
                <a:latin typeface="Inter"/>
              </a:rPr>
              <a:t>κυψελωτά</a:t>
            </a:r>
            <a:r>
              <a:rPr lang="el-GR" b="0" i="0" dirty="0">
                <a:solidFill>
                  <a:srgbClr val="2E2F30"/>
                </a:solidFill>
                <a:effectLst/>
                <a:latin typeface="Inter"/>
              </a:rPr>
              <a:t> δίκτυα αναφέρεται στην κατάσταση όπου ένα UE</a:t>
            </a:r>
            <a:r>
              <a:rPr lang="el-GR" dirty="0">
                <a:solidFill>
                  <a:srgbClr val="2E2F30"/>
                </a:solidFill>
                <a:latin typeface="Inter"/>
              </a:rPr>
              <a:t> </a:t>
            </a:r>
            <a:r>
              <a:rPr lang="el-GR" b="0" i="0" dirty="0">
                <a:solidFill>
                  <a:srgbClr val="2E2F30"/>
                </a:solidFill>
                <a:effectLst/>
                <a:latin typeface="Inter"/>
              </a:rPr>
              <a:t>εναλλάσσεται συχνά μεταξύ δύο ή περισσότερων σταθμών βάσης σε σύντομο χρονικό διάστημα. Αυτό συμβαίνει συνήθως όταν ο χρήστης βρίσκεται στα όρια της κάλυψης μεταξύ γειτονικών κυψελών και οι συνθήκες σήματος είναι παρόμοιες.</a:t>
            </a:r>
            <a:endParaRPr lang="en-GB" dirty="0"/>
          </a:p>
          <a:p>
            <a:r>
              <a:rPr lang="el-GR" dirty="0"/>
              <a:t>Εισάγουμε ένα κατώφλι 1.05, που σημαίνει ότι το νέο σήμα πρέπει να είναι τουλάχιστον </a:t>
            </a:r>
            <a:r>
              <a:rPr lang="en-GB" dirty="0"/>
              <a:t>5</a:t>
            </a:r>
            <a:r>
              <a:rPr lang="el-GR" dirty="0"/>
              <a:t>% ισχυρότερο από το τρέχον για να γίνει το </a:t>
            </a:r>
            <a:r>
              <a:rPr lang="en-GB" dirty="0"/>
              <a:t>handover, </a:t>
            </a:r>
            <a:r>
              <a:rPr lang="el-GR" dirty="0"/>
              <a:t>ώστε να αποφύγουμε τις συχνές εναλλαγές μεταξύ σταθμών βάσης. </a:t>
            </a:r>
            <a:endParaRPr lang="en-GB" dirty="0"/>
          </a:p>
          <a:p>
            <a:r>
              <a:rPr lang="el-GR" dirty="0"/>
              <a:t>Μια χαμηλότερη τιμή μπορεί να οδηγήσει ακόμα σε υπερβολικές εναλλαγές, ενώ μια υψηλότερη τιμή θα μπορούσε να οδηγήσει σε χαμένες ευκαιρίες για βελτίωση της ποιότητας του σήματος. </a:t>
            </a:r>
          </a:p>
        </p:txBody>
      </p:sp>
    </p:spTree>
    <p:extLst>
      <p:ext uri="{BB962C8B-B14F-4D97-AF65-F5344CB8AC3E}">
        <p14:creationId xmlns:p14="http://schemas.microsoft.com/office/powerpoint/2010/main" val="19008043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EC8C7-63C8-8E8E-10FB-6D862B1E3EB8}"/>
              </a:ext>
            </a:extLst>
          </p:cNvPr>
          <p:cNvSpPr>
            <a:spLocks noGrp="1"/>
          </p:cNvSpPr>
          <p:nvPr>
            <p:ph type="title"/>
          </p:nvPr>
        </p:nvSpPr>
        <p:spPr>
          <a:xfrm>
            <a:off x="777240" y="247137"/>
            <a:ext cx="10659110" cy="1325563"/>
          </a:xfrm>
        </p:spPr>
        <p:txBody>
          <a:bodyPr/>
          <a:lstStyle/>
          <a:p>
            <a:r>
              <a:rPr lang="el-GR" dirty="0"/>
              <a:t>Μέθοδος </a:t>
            </a:r>
            <a:r>
              <a:rPr lang="en-US" dirty="0" err="1"/>
              <a:t>rssi_based_handover</a:t>
            </a:r>
            <a:r>
              <a:rPr lang="en-US" dirty="0"/>
              <a:t> (I)</a:t>
            </a:r>
            <a:endParaRPr lang="el-GR" dirty="0"/>
          </a:p>
        </p:txBody>
      </p:sp>
      <p:sp>
        <p:nvSpPr>
          <p:cNvPr id="3" name="Content Placeholder 2">
            <a:extLst>
              <a:ext uri="{FF2B5EF4-FFF2-40B4-BE49-F238E27FC236}">
                <a16:creationId xmlns:a16="http://schemas.microsoft.com/office/drawing/2014/main" id="{72F24033-578D-38D1-18D9-75F273734A14}"/>
              </a:ext>
            </a:extLst>
          </p:cNvPr>
          <p:cNvSpPr>
            <a:spLocks noGrp="1"/>
          </p:cNvSpPr>
          <p:nvPr>
            <p:ph idx="1"/>
          </p:nvPr>
        </p:nvSpPr>
        <p:spPr>
          <a:xfrm>
            <a:off x="777240" y="1720183"/>
            <a:ext cx="10659110" cy="4667250"/>
          </a:xfrm>
        </p:spPr>
        <p:txBody>
          <a:bodyPr>
            <a:normAutofit/>
          </a:bodyPr>
          <a:lstStyle/>
          <a:p>
            <a:r>
              <a:rPr lang="el-GR" dirty="0"/>
              <a:t>Πραγματοποιούμε </a:t>
            </a:r>
            <a:r>
              <a:rPr lang="el-GR" dirty="0" err="1"/>
              <a:t>handover</a:t>
            </a:r>
            <a:r>
              <a:rPr lang="el-GR" dirty="0"/>
              <a:t> για ένα UE με βάση την ισχύ του σήματος (RSSI) και χρησιμοποιούμε </a:t>
            </a:r>
            <a:r>
              <a:rPr lang="el-GR" dirty="0" err="1"/>
              <a:t>hysteresis</a:t>
            </a:r>
            <a:r>
              <a:rPr lang="el-GR" dirty="0"/>
              <a:t> για να αποφύγουμε συχνές εναλλαγές μεταξύ σταθμών βάσης. </a:t>
            </a:r>
          </a:p>
          <a:p>
            <a:r>
              <a:rPr lang="el-GR" dirty="0"/>
              <a:t>Δέχεται 2 παραμέτρους</a:t>
            </a:r>
            <a:r>
              <a:rPr lang="en-GB" dirty="0"/>
              <a:t>:</a:t>
            </a:r>
          </a:p>
          <a:p>
            <a:pPr lvl="1">
              <a:buFont typeface="Wingdings" panose="05000000000000000000" pitchFamily="2" charset="2"/>
              <a:buChar char="§"/>
            </a:pPr>
            <a:r>
              <a:rPr lang="el-GR" sz="2000" dirty="0" err="1"/>
              <a:t>ue</a:t>
            </a:r>
            <a:r>
              <a:rPr lang="el-GR" sz="2000" dirty="0"/>
              <a:t>: Το αντικείμενο UE για το οποίο μπορεί να χρειαστεί </a:t>
            </a:r>
            <a:r>
              <a:rPr lang="en-GB" sz="2000" dirty="0"/>
              <a:t>handover</a:t>
            </a:r>
            <a:r>
              <a:rPr lang="el-GR" sz="2000" dirty="0"/>
              <a:t>.</a:t>
            </a:r>
          </a:p>
          <a:p>
            <a:pPr lvl="1">
              <a:buFont typeface="Wingdings" panose="05000000000000000000" pitchFamily="2" charset="2"/>
              <a:buChar char="§"/>
            </a:pPr>
            <a:r>
              <a:rPr lang="el-GR" sz="2000" dirty="0" err="1"/>
              <a:t>hysteresis_margin</a:t>
            </a:r>
            <a:r>
              <a:rPr lang="el-GR" sz="2000" dirty="0"/>
              <a:t> (προαιρετικό): Το περιθώριο κατά το οποίο το νέο σήμα πρέπει να υπερβαίνει το τρέχον σήμα για να γίνει </a:t>
            </a:r>
            <a:r>
              <a:rPr lang="en-GB" sz="2000" dirty="0"/>
              <a:t>handover</a:t>
            </a:r>
            <a:r>
              <a:rPr lang="el-GR" sz="2000" dirty="0"/>
              <a:t>. Η προεπιλεγμένη τιμή είναι 0.05</a:t>
            </a:r>
            <a:r>
              <a:rPr lang="en-GB" sz="2000" dirty="0"/>
              <a:t> (5%)</a:t>
            </a:r>
            <a:r>
              <a:rPr lang="el-GR" sz="2000" dirty="0"/>
              <a:t>.</a:t>
            </a:r>
            <a:endParaRPr lang="en-GB" dirty="0"/>
          </a:p>
          <a:p>
            <a:r>
              <a:rPr lang="el-GR" dirty="0"/>
              <a:t>Αποθηκεύουμε την ισχύ του σήματος του τρέχοντος σταθμού βάσης στον οποίο είναι συνδεδεμένο το UE στο </a:t>
            </a:r>
            <a:r>
              <a:rPr lang="el-GR" dirty="0" err="1"/>
              <a:t>current_signal</a:t>
            </a:r>
            <a:r>
              <a:rPr lang="el-GR" dirty="0"/>
              <a:t>. Εάν το UE δεν είναι συνδεδεμένο σε κανέναν σταθμό το ορίζουμε σε 0.</a:t>
            </a:r>
            <a:r>
              <a:rPr lang="en-GB" dirty="0"/>
              <a:t> </a:t>
            </a:r>
          </a:p>
          <a:p>
            <a:r>
              <a:rPr lang="el-GR" dirty="0"/>
              <a:t>Η μεταβλητή </a:t>
            </a:r>
            <a:r>
              <a:rPr lang="el-GR" dirty="0" err="1"/>
              <a:t>best_station</a:t>
            </a:r>
            <a:r>
              <a:rPr lang="el-GR" dirty="0"/>
              <a:t> αρχικοποιείται με τον τρέχοντα σταθμό βάσης στον οποίο είναι συνδεδεμένο το UE.</a:t>
            </a:r>
          </a:p>
          <a:p>
            <a:endParaRPr lang="el-GR" dirty="0"/>
          </a:p>
        </p:txBody>
      </p:sp>
    </p:spTree>
    <p:extLst>
      <p:ext uri="{BB962C8B-B14F-4D97-AF65-F5344CB8AC3E}">
        <p14:creationId xmlns:p14="http://schemas.microsoft.com/office/powerpoint/2010/main" val="34598453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9F20E-00BB-9547-E8CB-BBB7F12A46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894B62-45C0-82AB-BE0A-0E0322FC24B9}"/>
              </a:ext>
            </a:extLst>
          </p:cNvPr>
          <p:cNvSpPr>
            <a:spLocks noGrp="1"/>
          </p:cNvSpPr>
          <p:nvPr>
            <p:ph type="title"/>
          </p:nvPr>
        </p:nvSpPr>
        <p:spPr/>
        <p:txBody>
          <a:bodyPr/>
          <a:lstStyle/>
          <a:p>
            <a:r>
              <a:rPr lang="el-GR"/>
              <a:t>Μέθοδος </a:t>
            </a:r>
            <a:r>
              <a:rPr lang="en-US"/>
              <a:t>rssi_based_handover (II)</a:t>
            </a:r>
            <a:endParaRPr lang="el-GR" dirty="0"/>
          </a:p>
        </p:txBody>
      </p:sp>
      <p:sp>
        <p:nvSpPr>
          <p:cNvPr id="3" name="Content Placeholder 2">
            <a:extLst>
              <a:ext uri="{FF2B5EF4-FFF2-40B4-BE49-F238E27FC236}">
                <a16:creationId xmlns:a16="http://schemas.microsoft.com/office/drawing/2014/main" id="{3DFD07FE-A158-5799-D097-93F7FA6E95E8}"/>
              </a:ext>
            </a:extLst>
          </p:cNvPr>
          <p:cNvSpPr>
            <a:spLocks noGrp="1"/>
          </p:cNvSpPr>
          <p:nvPr>
            <p:ph idx="1"/>
          </p:nvPr>
        </p:nvSpPr>
        <p:spPr>
          <a:xfrm>
            <a:off x="574041" y="1918048"/>
            <a:ext cx="10978862" cy="4667250"/>
          </a:xfrm>
        </p:spPr>
        <p:txBody>
          <a:bodyPr>
            <a:normAutofit/>
          </a:bodyPr>
          <a:lstStyle/>
          <a:p>
            <a:r>
              <a:rPr lang="el-GR"/>
              <a:t>Κάθε UE αξιολογεί την ισχύ του σήματος των κοντινών σταθμών βάσης και κάνει handover μόνο εάν βρει ένα σημαντικά καλύτερο σήμα.</a:t>
            </a:r>
            <a:endParaRPr lang="en-US"/>
          </a:p>
          <a:p>
            <a:r>
              <a:rPr lang="el-GR"/>
              <a:t>Για κάθε σταθμό, υπολογίζεται η ισχύς του σήματος για το δεδομένο UE χρησιμοποιώντας τη μέθοδο get_signal_strength</a:t>
            </a:r>
            <a:r>
              <a:rPr lang="en-GB"/>
              <a:t>: </a:t>
            </a:r>
            <a:endParaRPr lang="el-GR"/>
          </a:p>
          <a:p>
            <a:pPr lvl="1">
              <a:buFont typeface="Wingdings" panose="05000000000000000000" pitchFamily="2" charset="2"/>
              <a:buChar char="§"/>
            </a:pPr>
            <a:r>
              <a:rPr lang="el-GR" sz="2000"/>
              <a:t>Εάν η ισχύς του σήματος του τρέχοντος σταθμού υπερβαίνει την τρέχουσα ισχύ του σήματος κατά το  hysteresis_margin, ο σταθμός θεωρείται ως ο καλύτερος σταθμός (best_station).</a:t>
            </a:r>
          </a:p>
          <a:p>
            <a:pPr lvl="1">
              <a:buFont typeface="Wingdings" panose="05000000000000000000" pitchFamily="2" charset="2"/>
              <a:buChar char="§"/>
            </a:pPr>
            <a:r>
              <a:rPr lang="el-GR" sz="2000"/>
              <a:t>Το περιθώριο χρησιμοποιείται για να αποφευχθούν συχνές εναλλαγές μεταξύ σταθμών όταν η διαφορά ισχύος σήματος είναι μικρή.</a:t>
            </a:r>
            <a:r>
              <a:rPr lang="en-GB" sz="2000"/>
              <a:t> </a:t>
            </a:r>
          </a:p>
          <a:p>
            <a:r>
              <a:rPr lang="el-GR"/>
              <a:t>Εάν ο καλύτερος σταθμός (best_station) είναι διαφορετικός από τον τρέχοντα σταθμό στον οποίο είναι συνδεδεμένο το UE, πραγματοποιείται </a:t>
            </a:r>
            <a:r>
              <a:rPr lang="en-GB"/>
              <a:t>handover</a:t>
            </a:r>
            <a:r>
              <a:rPr lang="el-GR"/>
              <a:t>.</a:t>
            </a:r>
          </a:p>
          <a:p>
            <a:r>
              <a:rPr lang="el-GR"/>
              <a:t>Η μέθοδος execute_handover καλείται με το UE και τον καλύτερο σταθμό ως παραμέτρους για να εκτελέσει τη διαδικασία εναλλαγής.</a:t>
            </a:r>
            <a:endParaRPr lang="el-GR" dirty="0"/>
          </a:p>
        </p:txBody>
      </p:sp>
    </p:spTree>
    <p:extLst>
      <p:ext uri="{BB962C8B-B14F-4D97-AF65-F5344CB8AC3E}">
        <p14:creationId xmlns:p14="http://schemas.microsoft.com/office/powerpoint/2010/main" val="10241382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EB938-A517-9854-9E4B-EA445CE6EDC6}"/>
              </a:ext>
            </a:extLst>
          </p:cNvPr>
          <p:cNvSpPr>
            <a:spLocks noGrp="1"/>
          </p:cNvSpPr>
          <p:nvPr>
            <p:ph type="title"/>
          </p:nvPr>
        </p:nvSpPr>
        <p:spPr/>
        <p:txBody>
          <a:bodyPr/>
          <a:lstStyle/>
          <a:p>
            <a:r>
              <a:rPr lang="el-GR" dirty="0"/>
              <a:t>Μέθοδος </a:t>
            </a:r>
            <a:r>
              <a:rPr lang="en-US" dirty="0" err="1"/>
              <a:t>execute_handover</a:t>
            </a:r>
            <a:endParaRPr lang="el-GR" dirty="0"/>
          </a:p>
        </p:txBody>
      </p:sp>
      <p:sp>
        <p:nvSpPr>
          <p:cNvPr id="3" name="Content Placeholder 2">
            <a:extLst>
              <a:ext uri="{FF2B5EF4-FFF2-40B4-BE49-F238E27FC236}">
                <a16:creationId xmlns:a16="http://schemas.microsoft.com/office/drawing/2014/main" id="{FDF8777A-4F7D-8170-B25F-B78FD3240D36}"/>
              </a:ext>
            </a:extLst>
          </p:cNvPr>
          <p:cNvSpPr>
            <a:spLocks noGrp="1"/>
          </p:cNvSpPr>
          <p:nvPr>
            <p:ph idx="1"/>
          </p:nvPr>
        </p:nvSpPr>
        <p:spPr>
          <a:xfrm>
            <a:off x="766445" y="1690687"/>
            <a:ext cx="10659110" cy="4887093"/>
          </a:xfrm>
        </p:spPr>
        <p:txBody>
          <a:bodyPr>
            <a:normAutofit fontScale="92500" lnSpcReduction="10000"/>
          </a:bodyPr>
          <a:lstStyle/>
          <a:p>
            <a:r>
              <a:rPr lang="el-GR" sz="1900" dirty="0"/>
              <a:t>Η μέθοδος δέχεται δύο παραμέτρους:</a:t>
            </a:r>
          </a:p>
          <a:p>
            <a:pPr lvl="1"/>
            <a:r>
              <a:rPr lang="el-GR" sz="1900" dirty="0" err="1"/>
              <a:t>ue</a:t>
            </a:r>
            <a:r>
              <a:rPr lang="el-GR" sz="1900" dirty="0"/>
              <a:t>: Το αντικείμενο UE που εκτελεί το </a:t>
            </a:r>
            <a:r>
              <a:rPr lang="en-GB" sz="1900" dirty="0"/>
              <a:t>handover</a:t>
            </a:r>
            <a:r>
              <a:rPr lang="el-GR" sz="1900" dirty="0"/>
              <a:t>.</a:t>
            </a:r>
          </a:p>
          <a:p>
            <a:pPr lvl="1"/>
            <a:r>
              <a:rPr lang="el-GR" sz="1900" dirty="0" err="1"/>
              <a:t>new_station</a:t>
            </a:r>
            <a:r>
              <a:rPr lang="el-GR" sz="1900" dirty="0"/>
              <a:t>: Ο νέος σταθμός βάσης στον οποίο θα συνδεθεί το UE.</a:t>
            </a:r>
          </a:p>
          <a:p>
            <a:r>
              <a:rPr lang="el-GR" sz="1900" dirty="0"/>
              <a:t>Ο μετρητής (</a:t>
            </a:r>
            <a:r>
              <a:rPr lang="el-GR" sz="1900" dirty="0" err="1"/>
              <a:t>handover_count</a:t>
            </a:r>
            <a:r>
              <a:rPr lang="el-GR" sz="1900" dirty="0"/>
              <a:t>) του UE αυξάνεται κατά 1, καταγράφοντας την εναλλαγή. </a:t>
            </a:r>
          </a:p>
          <a:p>
            <a:r>
              <a:rPr lang="el-GR" sz="1900" dirty="0"/>
              <a:t>Εάν το UE είναι ήδη συνδεδεμένο σε έναν σταθμό βάσης (</a:t>
            </a:r>
            <a:r>
              <a:rPr lang="el-GR" sz="1900" dirty="0" err="1"/>
              <a:t>ue.connected_station</a:t>
            </a:r>
            <a:r>
              <a:rPr lang="el-GR" sz="1900" dirty="0"/>
              <a:t>), ο αριθμός των συνδεδεμένων UE σε αυτόν τον σταθμό μειώνεται κατά 1. Ενώ ο αριθμός των συνδεδεμένων UE στον νέο σταθμό βάσης (</a:t>
            </a:r>
            <a:r>
              <a:rPr lang="el-GR" sz="1900" dirty="0" err="1"/>
              <a:t>new_station</a:t>
            </a:r>
            <a:r>
              <a:rPr lang="el-GR" sz="1900" dirty="0"/>
              <a:t>) αυξάνεται κατά 1.</a:t>
            </a:r>
          </a:p>
          <a:p>
            <a:r>
              <a:rPr lang="el-GR" sz="1900" dirty="0"/>
              <a:t>Υπολογίζουμε την καθυστέρηση εναλλαγής για το UE</a:t>
            </a:r>
            <a:r>
              <a:rPr lang="en-GB" sz="1900" dirty="0"/>
              <a:t>: </a:t>
            </a:r>
            <a:endParaRPr lang="el-GR" sz="1900" dirty="0"/>
          </a:p>
          <a:p>
            <a:pPr lvl="1"/>
            <a:r>
              <a:rPr lang="el-GR" sz="2000" dirty="0"/>
              <a:t>Η καθυστέρηση αποτελείται από ένα σταθερό μέρος (</a:t>
            </a:r>
            <a:r>
              <a:rPr lang="el-GR" sz="2000" dirty="0" err="1"/>
              <a:t>fixed_delay</a:t>
            </a:r>
            <a:r>
              <a:rPr lang="el-GR" sz="2000" dirty="0"/>
              <a:t>) ίσο με 0.2, για την ανταλλαγή σημάτων και ένα μεταβλητό μέρος (</a:t>
            </a:r>
            <a:r>
              <a:rPr lang="el-GR" sz="2000" dirty="0" err="1"/>
              <a:t>variable_delay</a:t>
            </a:r>
            <a:r>
              <a:rPr lang="el-GR" sz="2000" dirty="0"/>
              <a:t>) που υπολογίζεται με βάση το κόστος σύνδεσης στον νέο σταθμό βάσης (το φορτίο του νέου σταθμού βάσης και την απόσταση του UE από τον σταθμό ).</a:t>
            </a:r>
          </a:p>
          <a:p>
            <a:pPr lvl="1"/>
            <a:r>
              <a:rPr lang="el-GR" sz="2000" dirty="0"/>
              <a:t>Το μεταβλητό μέρος της καθυστέρησης υπολογίζεται διαιρώντας το κόστος σύνδεσης με 100 και περιορίζεται σε μέγιστη τιμή 1.</a:t>
            </a:r>
          </a:p>
          <a:p>
            <a:pPr lvl="1"/>
            <a:r>
              <a:rPr lang="el-GR" sz="2000" dirty="0"/>
              <a:t>Η συνολική καθυστέρηση προστίθεται στην υπάρχουσα καθυστέρηση του UE (</a:t>
            </a:r>
            <a:r>
              <a:rPr lang="el-GR" sz="2000" dirty="0" err="1"/>
              <a:t>ue.handover_delay</a:t>
            </a:r>
            <a:r>
              <a:rPr lang="el-GR" sz="2000" dirty="0"/>
              <a:t>).</a:t>
            </a:r>
            <a:endParaRPr lang="en-GB" sz="2000" dirty="0"/>
          </a:p>
          <a:p>
            <a:pPr marL="228600" marR="0" lvl="0" indent="-228600" algn="l" defTabSz="914400" rtl="0" eaLnBrk="1" fontAlgn="auto" latinLnBrk="0" hangingPunct="1">
              <a:lnSpc>
                <a:spcPct val="90000"/>
              </a:lnSpc>
              <a:spcBef>
                <a:spcPts val="1000"/>
              </a:spcBef>
              <a:spcAft>
                <a:spcPts val="0"/>
              </a:spcAft>
              <a:buClr>
                <a:srgbClr val="412F24">
                  <a:lumMod val="75000"/>
                  <a:lumOff val="25000"/>
                </a:srgbClr>
              </a:buClr>
              <a:buSzTx/>
              <a:buFont typeface="Arial" panose="020B0604020202020204" pitchFamily="34" charset="0"/>
              <a:buChar char="•"/>
              <a:tabLst/>
              <a:defRPr/>
            </a:pPr>
            <a:r>
              <a:rPr kumimoji="0" lang="el-GR" sz="1900" b="0" i="0" u="none" strike="noStrike" kern="1200" cap="none" spc="0" normalizeH="0" baseline="0" noProof="0" dirty="0">
                <a:ln>
                  <a:noFill/>
                </a:ln>
                <a:solidFill>
                  <a:srgbClr val="412F24"/>
                </a:solidFill>
                <a:effectLst/>
                <a:uLnTx/>
                <a:uFillTx/>
                <a:latin typeface="Calibri"/>
                <a:ea typeface="+mn-ea"/>
                <a:cs typeface="+mn-cs"/>
              </a:rPr>
              <a:t>Ο συνδεδεμένος σταθμός βάσης του UE (</a:t>
            </a:r>
            <a:r>
              <a:rPr kumimoji="0" lang="el-GR" sz="1900" b="0" i="0" u="none" strike="noStrike" kern="1200" cap="none" spc="0" normalizeH="0" baseline="0" noProof="0" dirty="0" err="1">
                <a:ln>
                  <a:noFill/>
                </a:ln>
                <a:solidFill>
                  <a:srgbClr val="412F24"/>
                </a:solidFill>
                <a:effectLst/>
                <a:uLnTx/>
                <a:uFillTx/>
                <a:latin typeface="Calibri"/>
                <a:ea typeface="+mn-ea"/>
                <a:cs typeface="+mn-cs"/>
              </a:rPr>
              <a:t>ue.connected_station</a:t>
            </a:r>
            <a:r>
              <a:rPr kumimoji="0" lang="el-GR" sz="1900" b="0" i="0" u="none" strike="noStrike" kern="1200" cap="none" spc="0" normalizeH="0" baseline="0" noProof="0" dirty="0">
                <a:ln>
                  <a:noFill/>
                </a:ln>
                <a:solidFill>
                  <a:srgbClr val="412F24"/>
                </a:solidFill>
                <a:effectLst/>
                <a:uLnTx/>
                <a:uFillTx/>
                <a:latin typeface="Calibri"/>
                <a:ea typeface="+mn-ea"/>
                <a:cs typeface="+mn-cs"/>
              </a:rPr>
              <a:t>) ενημερώνεται στον νέο σταθμό βάσης (</a:t>
            </a:r>
            <a:r>
              <a:rPr kumimoji="0" lang="el-GR" sz="1900" b="0" i="0" u="none" strike="noStrike" kern="1200" cap="none" spc="0" normalizeH="0" baseline="0" noProof="0" dirty="0" err="1">
                <a:ln>
                  <a:noFill/>
                </a:ln>
                <a:solidFill>
                  <a:srgbClr val="412F24"/>
                </a:solidFill>
                <a:effectLst/>
                <a:uLnTx/>
                <a:uFillTx/>
                <a:latin typeface="Calibri"/>
                <a:ea typeface="+mn-ea"/>
                <a:cs typeface="+mn-cs"/>
              </a:rPr>
              <a:t>new_station</a:t>
            </a:r>
            <a:r>
              <a:rPr kumimoji="0" lang="el-GR" sz="1900" b="0" i="0" u="none" strike="noStrike" kern="1200" cap="none" spc="0" normalizeH="0" baseline="0" noProof="0" dirty="0">
                <a:ln>
                  <a:noFill/>
                </a:ln>
                <a:solidFill>
                  <a:srgbClr val="412F24"/>
                </a:solidFill>
                <a:effectLst/>
                <a:uLnTx/>
                <a:uFillTx/>
                <a:latin typeface="Calibri"/>
                <a:ea typeface="+mn-ea"/>
                <a:cs typeface="+mn-cs"/>
              </a:rPr>
              <a:t>), ολοκληρώνοντας τη διαδικασία </a:t>
            </a:r>
            <a:r>
              <a:rPr lang="el-GR" sz="1900" dirty="0">
                <a:solidFill>
                  <a:srgbClr val="412F24"/>
                </a:solidFill>
                <a:latin typeface="Calibri"/>
              </a:rPr>
              <a:t>εναλλαγής</a:t>
            </a:r>
            <a:r>
              <a:rPr kumimoji="0" lang="el-GR" sz="1900" b="0" i="0" u="none" strike="noStrike" kern="1200" cap="none" spc="0" normalizeH="0" baseline="0" noProof="0" dirty="0">
                <a:ln>
                  <a:noFill/>
                </a:ln>
                <a:solidFill>
                  <a:srgbClr val="412F24"/>
                </a:solidFill>
                <a:effectLst/>
                <a:uLnTx/>
                <a:uFillTx/>
                <a:latin typeface="Calibri"/>
                <a:ea typeface="+mn-ea"/>
                <a:cs typeface="+mn-cs"/>
              </a:rPr>
              <a:t>.</a:t>
            </a:r>
          </a:p>
          <a:p>
            <a:pPr lvl="1"/>
            <a:endParaRPr lang="en-GB" sz="2000" dirty="0"/>
          </a:p>
          <a:p>
            <a:pPr lvl="1"/>
            <a:endParaRPr lang="en-GB" sz="2000" dirty="0"/>
          </a:p>
          <a:p>
            <a:pPr lvl="1"/>
            <a:endParaRPr lang="en-GB" sz="2000" dirty="0"/>
          </a:p>
        </p:txBody>
      </p:sp>
    </p:spTree>
    <p:extLst>
      <p:ext uri="{BB962C8B-B14F-4D97-AF65-F5344CB8AC3E}">
        <p14:creationId xmlns:p14="http://schemas.microsoft.com/office/powerpoint/2010/main" val="20839084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72122-D9AE-DE5F-07C5-15E954765B06}"/>
              </a:ext>
            </a:extLst>
          </p:cNvPr>
          <p:cNvSpPr>
            <a:spLocks noGrp="1"/>
          </p:cNvSpPr>
          <p:nvPr>
            <p:ph type="title"/>
          </p:nvPr>
        </p:nvSpPr>
        <p:spPr>
          <a:xfrm>
            <a:off x="766445" y="89822"/>
            <a:ext cx="10659110" cy="1325563"/>
          </a:xfrm>
        </p:spPr>
        <p:txBody>
          <a:bodyPr/>
          <a:lstStyle/>
          <a:p>
            <a:r>
              <a:rPr lang="el-GR" dirty="0"/>
              <a:t>Μέθοδος </a:t>
            </a:r>
            <a:r>
              <a:rPr lang="en-GB" dirty="0"/>
              <a:t>calculate_</a:t>
            </a:r>
            <a:r>
              <a:rPr lang="en-US" dirty="0"/>
              <a:t>cost</a:t>
            </a:r>
            <a:endParaRPr lang="el-GR" dirty="0"/>
          </a:p>
        </p:txBody>
      </p:sp>
      <p:sp>
        <p:nvSpPr>
          <p:cNvPr id="3" name="Content Placeholder 2">
            <a:extLst>
              <a:ext uri="{FF2B5EF4-FFF2-40B4-BE49-F238E27FC236}">
                <a16:creationId xmlns:a16="http://schemas.microsoft.com/office/drawing/2014/main" id="{B334850C-2DE8-D418-BE11-14F99E735483}"/>
              </a:ext>
            </a:extLst>
          </p:cNvPr>
          <p:cNvSpPr>
            <a:spLocks noGrp="1"/>
          </p:cNvSpPr>
          <p:nvPr>
            <p:ph idx="1"/>
          </p:nvPr>
        </p:nvSpPr>
        <p:spPr>
          <a:xfrm>
            <a:off x="766445" y="1399765"/>
            <a:ext cx="10659110" cy="5368413"/>
          </a:xfrm>
        </p:spPr>
        <p:txBody>
          <a:bodyPr>
            <a:normAutofit fontScale="92500" lnSpcReduction="10000"/>
          </a:bodyPr>
          <a:lstStyle/>
          <a:p>
            <a:r>
              <a:rPr lang="el-GR" sz="2200" dirty="0"/>
              <a:t>Υπολογίζουμε το κόστος σύνδεσης σε έναν δεδομένο σταθμό βάσης, λαμβάνοντας υπόψη την ισχύ του σήματος, το φορτίο και την απόσταση.</a:t>
            </a:r>
          </a:p>
          <a:p>
            <a:r>
              <a:rPr lang="el-GR" sz="2200" dirty="0"/>
              <a:t>Η μέθοδος δέχεται δύο παραμέτρους:</a:t>
            </a:r>
          </a:p>
          <a:p>
            <a:pPr lvl="1"/>
            <a:r>
              <a:rPr lang="el-GR" sz="2200" dirty="0" err="1"/>
              <a:t>station</a:t>
            </a:r>
            <a:r>
              <a:rPr lang="el-GR" sz="2200" dirty="0"/>
              <a:t>: Ο σταθμός βάσης που αξιολογείται.</a:t>
            </a:r>
          </a:p>
          <a:p>
            <a:pPr lvl="1"/>
            <a:r>
              <a:rPr lang="el-GR" sz="2200" dirty="0" err="1"/>
              <a:t>ue</a:t>
            </a:r>
            <a:r>
              <a:rPr lang="el-GR" sz="2200" dirty="0"/>
              <a:t>: Το UE για το οποίο υπολογίζεται το κόστος.</a:t>
            </a:r>
            <a:endParaRPr lang="en-GB" sz="2200" dirty="0"/>
          </a:p>
          <a:p>
            <a:pPr marL="228600" marR="0" lvl="0" indent="-228600" algn="l" defTabSz="914400" rtl="0" eaLnBrk="1" fontAlgn="auto" latinLnBrk="0" hangingPunct="1">
              <a:lnSpc>
                <a:spcPct val="90000"/>
              </a:lnSpc>
              <a:spcBef>
                <a:spcPts val="1000"/>
              </a:spcBef>
              <a:spcAft>
                <a:spcPts val="0"/>
              </a:spcAft>
              <a:buClr>
                <a:srgbClr val="412F24">
                  <a:lumMod val="75000"/>
                  <a:lumOff val="25000"/>
                </a:srgbClr>
              </a:buClr>
              <a:buSzTx/>
              <a:buFont typeface="Arial" panose="020B0604020202020204" pitchFamily="34" charset="0"/>
              <a:buChar char="•"/>
              <a:tabLst/>
              <a:defRPr/>
            </a:pPr>
            <a:r>
              <a:rPr kumimoji="0" lang="el-GR" sz="2200" b="0" i="0" u="none" strike="noStrike" kern="1200" cap="none" spc="0" normalizeH="0" baseline="0" noProof="0" dirty="0">
                <a:ln>
                  <a:noFill/>
                </a:ln>
                <a:solidFill>
                  <a:srgbClr val="412F24"/>
                </a:solidFill>
                <a:effectLst/>
                <a:uLnTx/>
                <a:uFillTx/>
                <a:latin typeface="Calibri"/>
                <a:ea typeface="+mn-ea"/>
                <a:cs typeface="+mn-cs"/>
              </a:rPr>
              <a:t>Υπολογίζουμε την απόσταση μεταξύ του UE και του σταθμού βάσης χρησιμοποιώντας την ευκλείδεια απόσταση.</a:t>
            </a:r>
          </a:p>
          <a:p>
            <a:pPr marL="228600" marR="0" lvl="0" indent="-228600" algn="l" defTabSz="914400" rtl="0" eaLnBrk="1" fontAlgn="auto" latinLnBrk="0" hangingPunct="1">
              <a:lnSpc>
                <a:spcPct val="90000"/>
              </a:lnSpc>
              <a:spcBef>
                <a:spcPts val="1000"/>
              </a:spcBef>
              <a:spcAft>
                <a:spcPts val="0"/>
              </a:spcAft>
              <a:buClr>
                <a:srgbClr val="412F24">
                  <a:lumMod val="75000"/>
                  <a:lumOff val="25000"/>
                </a:srgbClr>
              </a:buClr>
              <a:buSzTx/>
              <a:buFont typeface="Arial" panose="020B0604020202020204" pitchFamily="34" charset="0"/>
              <a:buChar char="•"/>
              <a:tabLst/>
              <a:defRPr/>
            </a:pPr>
            <a:r>
              <a:rPr kumimoji="0" lang="el-GR" sz="2200" b="0" i="0" u="none" strike="noStrike" kern="1200" cap="none" spc="0" normalizeH="0" baseline="0" noProof="0" dirty="0">
                <a:ln>
                  <a:noFill/>
                </a:ln>
                <a:solidFill>
                  <a:srgbClr val="412F24"/>
                </a:solidFill>
                <a:effectLst/>
                <a:uLnTx/>
                <a:uFillTx/>
                <a:latin typeface="Calibri"/>
                <a:ea typeface="+mn-ea"/>
                <a:cs typeface="+mn-cs"/>
              </a:rPr>
              <a:t>Η ισχύς του σήματος υπολογίζεται καλώντας τη μέθοδο </a:t>
            </a:r>
            <a:r>
              <a:rPr kumimoji="0" lang="el-GR" sz="2200" b="0" i="0" u="none" strike="noStrike" kern="1200" cap="none" spc="0" normalizeH="0" baseline="0" noProof="0" dirty="0" err="1">
                <a:ln>
                  <a:noFill/>
                </a:ln>
                <a:solidFill>
                  <a:srgbClr val="412F24"/>
                </a:solidFill>
                <a:effectLst/>
                <a:uLnTx/>
                <a:uFillTx/>
                <a:latin typeface="Calibri"/>
                <a:ea typeface="+mn-ea"/>
                <a:cs typeface="+mn-cs"/>
              </a:rPr>
              <a:t>get_signal_strength</a:t>
            </a:r>
            <a:r>
              <a:rPr kumimoji="0" lang="el-GR" sz="2200" b="0" i="0" u="none" strike="noStrike" kern="1200" cap="none" spc="0" normalizeH="0" baseline="0" noProof="0" dirty="0">
                <a:ln>
                  <a:noFill/>
                </a:ln>
                <a:solidFill>
                  <a:srgbClr val="412F24"/>
                </a:solidFill>
                <a:effectLst/>
                <a:uLnTx/>
                <a:uFillTx/>
                <a:latin typeface="Calibri"/>
                <a:ea typeface="+mn-ea"/>
                <a:cs typeface="+mn-cs"/>
              </a:rPr>
              <a:t> του σταθμού βάσης με το UE ως παράμετρο.</a:t>
            </a:r>
            <a:endParaRPr kumimoji="0" lang="en-GB" sz="2200" b="0" i="0" u="none" strike="noStrike" kern="1200" cap="none" spc="0" normalizeH="0" baseline="0" noProof="0" dirty="0">
              <a:ln>
                <a:noFill/>
              </a:ln>
              <a:solidFill>
                <a:srgbClr val="412F24"/>
              </a:solidFill>
              <a:effectLst/>
              <a:uLnTx/>
              <a:uFillTx/>
              <a:latin typeface="Calibri"/>
              <a:ea typeface="+mn-ea"/>
              <a:cs typeface="+mn-cs"/>
            </a:endParaRPr>
          </a:p>
          <a:p>
            <a:pPr marL="228600" marR="0" lvl="0" indent="-228600" algn="l" defTabSz="914400" rtl="0" eaLnBrk="1" fontAlgn="auto" latinLnBrk="0" hangingPunct="1">
              <a:lnSpc>
                <a:spcPct val="90000"/>
              </a:lnSpc>
              <a:spcBef>
                <a:spcPts val="1000"/>
              </a:spcBef>
              <a:spcAft>
                <a:spcPts val="0"/>
              </a:spcAft>
              <a:buClr>
                <a:srgbClr val="412F24">
                  <a:lumMod val="75000"/>
                  <a:lumOff val="25000"/>
                </a:srgbClr>
              </a:buClr>
              <a:buSzTx/>
              <a:buFont typeface="Arial" panose="020B0604020202020204" pitchFamily="34" charset="0"/>
              <a:buChar char="•"/>
              <a:tabLst/>
              <a:defRPr/>
            </a:pPr>
            <a:r>
              <a:rPr lang="el-GR" sz="2200" dirty="0"/>
              <a:t>Εάν η ισχύς του σήματος είναι μηδέν, η μέθοδος επιστρέφει άπειρο κόστος, υποδεικνύοντας ότι δεν υπάρχει σήμα.</a:t>
            </a:r>
            <a:endParaRPr lang="en-GB" sz="2200" dirty="0"/>
          </a:p>
          <a:p>
            <a:pPr algn="l">
              <a:buFont typeface="Arial" panose="020B0604020202020204" pitchFamily="34" charset="0"/>
              <a:buChar char="•"/>
            </a:pPr>
            <a:r>
              <a:rPr lang="el-GR" sz="2200" b="0" i="0" dirty="0">
                <a:solidFill>
                  <a:srgbClr val="2E2F30"/>
                </a:solidFill>
                <a:effectLst/>
                <a:latin typeface="Inter"/>
              </a:rPr>
              <a:t>Υπολογίζουμε το κόστος λαμβάνοντας υπόψη την απόσταση και το φορτίο ως παράγοντες που αυξάνουν το κόστος, ενώ η ισχύς του σήματος το μειώνει. </a:t>
            </a:r>
          </a:p>
          <a:p>
            <a:pPr algn="l">
              <a:buFont typeface="Arial" panose="020B0604020202020204" pitchFamily="34" charset="0"/>
              <a:buChar char="•"/>
            </a:pPr>
            <a:r>
              <a:rPr lang="el-GR" sz="2200" dirty="0"/>
              <a:t>Εισάγουμε μια ποινή </a:t>
            </a:r>
            <a:r>
              <a:rPr lang="en-GB" sz="2200" dirty="0"/>
              <a:t>handover</a:t>
            </a:r>
            <a:r>
              <a:rPr lang="el-GR" sz="2200" dirty="0"/>
              <a:t> για να αποθαρρυνθούν οι συχνές εναλλαγές.</a:t>
            </a:r>
            <a:r>
              <a:rPr lang="en-GB" sz="2200" dirty="0"/>
              <a:t> </a:t>
            </a:r>
            <a:r>
              <a:rPr lang="el-GR" sz="2200" dirty="0"/>
              <a:t>Εάν ο σταθμός που αξιολογείται είναι διαφορετικός από τον τρέχοντα σταθμό στον οποίο είναι συνδεδεμένο το UE, προστίθεται μια ποινή 50 μονάδων στο κόστος.</a:t>
            </a:r>
            <a:r>
              <a:rPr lang="en-GB" sz="2200" dirty="0"/>
              <a:t> </a:t>
            </a:r>
            <a:endParaRPr lang="el-GR" sz="2200" dirty="0"/>
          </a:p>
          <a:p>
            <a:pPr algn="l">
              <a:buFont typeface="Arial" panose="020B0604020202020204" pitchFamily="34" charset="0"/>
              <a:buChar char="•"/>
            </a:pPr>
            <a:endParaRPr lang="el-GR" b="0" i="0" dirty="0">
              <a:solidFill>
                <a:srgbClr val="2E2F30"/>
              </a:solidFill>
              <a:effectLst/>
              <a:latin typeface="Inter"/>
            </a:endParaRPr>
          </a:p>
          <a:p>
            <a:pPr marL="228600" marR="0" lvl="0" indent="-228600" algn="l" defTabSz="914400" rtl="0" eaLnBrk="1" fontAlgn="auto" latinLnBrk="0" hangingPunct="1">
              <a:lnSpc>
                <a:spcPct val="90000"/>
              </a:lnSpc>
              <a:spcBef>
                <a:spcPts val="1000"/>
              </a:spcBef>
              <a:spcAft>
                <a:spcPts val="0"/>
              </a:spcAft>
              <a:buClr>
                <a:srgbClr val="412F24">
                  <a:lumMod val="75000"/>
                  <a:lumOff val="25000"/>
                </a:srgbClr>
              </a:buClr>
              <a:buSzTx/>
              <a:buFont typeface="Arial" panose="020B0604020202020204" pitchFamily="34" charset="0"/>
              <a:buChar char="•"/>
              <a:tabLst/>
              <a:defRPr/>
            </a:pPr>
            <a:endParaRPr lang="en-GB" sz="2000" dirty="0"/>
          </a:p>
          <a:p>
            <a:pPr marL="457200" lvl="1" indent="0">
              <a:buNone/>
            </a:pPr>
            <a:endParaRPr lang="el-GR" sz="2000" dirty="0"/>
          </a:p>
        </p:txBody>
      </p:sp>
    </p:spTree>
    <p:extLst>
      <p:ext uri="{BB962C8B-B14F-4D97-AF65-F5344CB8AC3E}">
        <p14:creationId xmlns:p14="http://schemas.microsoft.com/office/powerpoint/2010/main" val="37183431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F551E-21D2-978C-7446-79C33BBED772}"/>
              </a:ext>
            </a:extLst>
          </p:cNvPr>
          <p:cNvSpPr>
            <a:spLocks noGrp="1"/>
          </p:cNvSpPr>
          <p:nvPr>
            <p:ph type="title"/>
          </p:nvPr>
        </p:nvSpPr>
        <p:spPr>
          <a:xfrm>
            <a:off x="777240" y="99217"/>
            <a:ext cx="10659110" cy="1325563"/>
          </a:xfrm>
        </p:spPr>
        <p:txBody>
          <a:bodyPr/>
          <a:lstStyle/>
          <a:p>
            <a:r>
              <a:rPr lang="el-GR" dirty="0"/>
              <a:t>Μέθοδος</a:t>
            </a:r>
            <a:r>
              <a:rPr lang="en-GB" dirty="0"/>
              <a:t> </a:t>
            </a:r>
            <a:r>
              <a:rPr lang="en-GB" dirty="0" err="1"/>
              <a:t>run_simulation</a:t>
            </a:r>
            <a:endParaRPr lang="el-GR" dirty="0"/>
          </a:p>
        </p:txBody>
      </p:sp>
      <p:sp>
        <p:nvSpPr>
          <p:cNvPr id="3" name="Content Placeholder 2">
            <a:extLst>
              <a:ext uri="{FF2B5EF4-FFF2-40B4-BE49-F238E27FC236}">
                <a16:creationId xmlns:a16="http://schemas.microsoft.com/office/drawing/2014/main" id="{6FACBB5E-5B26-2E23-6B90-D7C7EB09C588}"/>
              </a:ext>
            </a:extLst>
          </p:cNvPr>
          <p:cNvSpPr>
            <a:spLocks noGrp="1"/>
          </p:cNvSpPr>
          <p:nvPr>
            <p:ph idx="1"/>
          </p:nvPr>
        </p:nvSpPr>
        <p:spPr>
          <a:xfrm>
            <a:off x="777240" y="1284851"/>
            <a:ext cx="10659110" cy="5194607"/>
          </a:xfrm>
        </p:spPr>
        <p:txBody>
          <a:bodyPr>
            <a:normAutofit fontScale="92500" lnSpcReduction="10000"/>
          </a:bodyPr>
          <a:lstStyle/>
          <a:p>
            <a:r>
              <a:rPr lang="el-GR" dirty="0"/>
              <a:t>Εκτελούμε την προσομοίωση του δικτύου για έναν καθορισμένο αριθμό βημάτων.</a:t>
            </a:r>
          </a:p>
          <a:p>
            <a:r>
              <a:rPr lang="el-GR" dirty="0"/>
              <a:t>Η μέθοδος δέχεται τέσσερις παραμέτρους:</a:t>
            </a:r>
          </a:p>
          <a:p>
            <a:pPr lvl="1"/>
            <a:r>
              <a:rPr lang="el-GR" dirty="0" err="1"/>
              <a:t>steps</a:t>
            </a:r>
            <a:r>
              <a:rPr lang="el-GR" dirty="0"/>
              <a:t>: Ο αριθμός των βημάτων στην προσομοίωση (προεπιλογή: 100).</a:t>
            </a:r>
          </a:p>
          <a:p>
            <a:pPr lvl="1"/>
            <a:r>
              <a:rPr lang="el-GR" dirty="0" err="1"/>
              <a:t>handover_algorithm</a:t>
            </a:r>
            <a:r>
              <a:rPr lang="el-GR" dirty="0"/>
              <a:t>: Ο αλγόριθμος εναλλαγής στην προκειμένη περίπτωση '</a:t>
            </a:r>
            <a:r>
              <a:rPr lang="el-GR" dirty="0" err="1"/>
              <a:t>rssi</a:t>
            </a:r>
            <a:r>
              <a:rPr lang="el-GR" dirty="0"/>
              <a:t>’.</a:t>
            </a:r>
          </a:p>
          <a:p>
            <a:pPr lvl="1"/>
            <a:r>
              <a:rPr lang="el-GR" dirty="0" err="1"/>
              <a:t>mobility_pattern</a:t>
            </a:r>
            <a:r>
              <a:rPr lang="el-GR" dirty="0"/>
              <a:t>: Το μοντέλο κίνησης για τα UE ('</a:t>
            </a:r>
            <a:r>
              <a:rPr lang="el-GR" dirty="0" err="1"/>
              <a:t>random</a:t>
            </a:r>
            <a:r>
              <a:rPr lang="el-GR" dirty="0"/>
              <a:t>', '</a:t>
            </a:r>
            <a:r>
              <a:rPr lang="el-GR" dirty="0" err="1"/>
              <a:t>linear</a:t>
            </a:r>
            <a:r>
              <a:rPr lang="el-GR" dirty="0"/>
              <a:t>', '</a:t>
            </a:r>
            <a:r>
              <a:rPr lang="el-GR" dirty="0" err="1"/>
              <a:t>custom</a:t>
            </a:r>
            <a:r>
              <a:rPr lang="el-GR" dirty="0"/>
              <a:t>').</a:t>
            </a:r>
          </a:p>
          <a:p>
            <a:pPr lvl="1"/>
            <a:r>
              <a:rPr lang="el-GR" dirty="0" err="1"/>
              <a:t>custom_path</a:t>
            </a:r>
            <a:r>
              <a:rPr lang="el-GR" dirty="0"/>
              <a:t>: Μια προσαρμοσμένη διαδρομή για τα UE, εάν ισχύει.</a:t>
            </a:r>
          </a:p>
          <a:p>
            <a:r>
              <a:rPr lang="el-GR" dirty="0"/>
              <a:t>Σε κάθε βήμα, για κάθε UE στο δίκτυο:</a:t>
            </a:r>
          </a:p>
          <a:p>
            <a:pPr lvl="1"/>
            <a:r>
              <a:rPr lang="el-GR" dirty="0"/>
              <a:t>Εάν το μοτίβο κινητικότητας είναι '</a:t>
            </a:r>
            <a:r>
              <a:rPr lang="el-GR" dirty="0" err="1"/>
              <a:t>random</a:t>
            </a:r>
            <a:r>
              <a:rPr lang="el-GR" dirty="0"/>
              <a:t>', καλείται η μέθοδος </a:t>
            </a:r>
            <a:r>
              <a:rPr lang="el-GR" dirty="0" err="1"/>
              <a:t>move_randomly</a:t>
            </a:r>
            <a:r>
              <a:rPr lang="el-GR" dirty="0"/>
              <a:t>() για να μετακινηθεί το UE τυχαία.</a:t>
            </a:r>
          </a:p>
          <a:p>
            <a:pPr lvl="1"/>
            <a:r>
              <a:rPr lang="el-GR" dirty="0"/>
              <a:t>Εάν το μοτίβο κινητικότητας είναι '</a:t>
            </a:r>
            <a:r>
              <a:rPr lang="el-GR" dirty="0" err="1"/>
              <a:t>linear</a:t>
            </a:r>
            <a:r>
              <a:rPr lang="el-GR" dirty="0"/>
              <a:t>', καλείται η μέθοδος </a:t>
            </a:r>
            <a:r>
              <a:rPr lang="el-GR" dirty="0" err="1"/>
              <a:t>move_linearly</a:t>
            </a:r>
            <a:r>
              <a:rPr lang="el-GR" dirty="0"/>
              <a:t>() για να μετακινηθεί το UE γραμμικά με καθορισμένες ταχύτητες </a:t>
            </a:r>
            <a:r>
              <a:rPr lang="el-GR" dirty="0" err="1"/>
              <a:t>x_speed</a:t>
            </a:r>
            <a:r>
              <a:rPr lang="el-GR" dirty="0"/>
              <a:t> και </a:t>
            </a:r>
            <a:r>
              <a:rPr lang="el-GR" dirty="0" err="1"/>
              <a:t>y_speed</a:t>
            </a:r>
            <a:r>
              <a:rPr lang="el-GR" dirty="0"/>
              <a:t>.</a:t>
            </a:r>
          </a:p>
          <a:p>
            <a:pPr lvl="1"/>
            <a:r>
              <a:rPr lang="el-GR" dirty="0"/>
              <a:t>Εάν το μοτίβο κινητικότητας είναι '</a:t>
            </a:r>
            <a:r>
              <a:rPr lang="el-GR" dirty="0" err="1"/>
              <a:t>custom</a:t>
            </a:r>
            <a:r>
              <a:rPr lang="el-GR" dirty="0"/>
              <a:t>' και παρέχεται μια προσαρμοσμένη διαδρομή (</a:t>
            </a:r>
            <a:r>
              <a:rPr lang="el-GR" dirty="0" err="1"/>
              <a:t>custom_path</a:t>
            </a:r>
            <a:r>
              <a:rPr lang="el-GR" dirty="0"/>
              <a:t>), καλείται η μέθοδος </a:t>
            </a:r>
            <a:r>
              <a:rPr lang="el-GR" dirty="0" err="1"/>
              <a:t>move_custom</a:t>
            </a:r>
            <a:r>
              <a:rPr lang="el-GR" dirty="0"/>
              <a:t>() για να μετακινηθεί το UE σύμφωνα με την προσαρμοσμένη διαδρομή.</a:t>
            </a:r>
          </a:p>
          <a:p>
            <a:r>
              <a:rPr lang="el-GR" dirty="0"/>
              <a:t>Μετά την κίνηση του UE, επιλέγεται ο αλγόριθμος </a:t>
            </a:r>
            <a:r>
              <a:rPr lang="el-GR" dirty="0" err="1"/>
              <a:t>rssi</a:t>
            </a:r>
            <a:r>
              <a:rPr lang="el-GR" dirty="0"/>
              <a:t> και καλείται η μέθοδος </a:t>
            </a:r>
            <a:r>
              <a:rPr lang="el-GR" dirty="0" err="1"/>
              <a:t>rssi_based_handover</a:t>
            </a:r>
            <a:r>
              <a:rPr lang="el-GR" dirty="0"/>
              <a:t>() για το UE.</a:t>
            </a:r>
          </a:p>
          <a:p>
            <a:r>
              <a:rPr lang="el-GR" dirty="0"/>
              <a:t>Μετά την εκτέλεση των εναλλαγών για όλα τα UE, για κάθε σταθμό βάσης (</a:t>
            </a:r>
            <a:r>
              <a:rPr lang="el-GR" dirty="0" err="1"/>
              <a:t>station</a:t>
            </a:r>
            <a:r>
              <a:rPr lang="el-GR" dirty="0"/>
              <a:t>) στο δίκτυο, καλείται η μέθοδος </a:t>
            </a:r>
            <a:r>
              <a:rPr lang="el-GR" dirty="0" err="1"/>
              <a:t>update_load</a:t>
            </a:r>
            <a:r>
              <a:rPr lang="el-GR" dirty="0"/>
              <a:t>() για να ενημερωθεί το φορτίο του σταθμού.</a:t>
            </a:r>
          </a:p>
          <a:p>
            <a:endParaRPr lang="el-GR" dirty="0"/>
          </a:p>
        </p:txBody>
      </p:sp>
    </p:spTree>
    <p:extLst>
      <p:ext uri="{BB962C8B-B14F-4D97-AF65-F5344CB8AC3E}">
        <p14:creationId xmlns:p14="http://schemas.microsoft.com/office/powerpoint/2010/main" val="8035119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F4663-0994-57B6-DB76-CF03D2159427}"/>
              </a:ext>
            </a:extLst>
          </p:cNvPr>
          <p:cNvSpPr>
            <a:spLocks noGrp="1"/>
          </p:cNvSpPr>
          <p:nvPr>
            <p:ph type="title"/>
          </p:nvPr>
        </p:nvSpPr>
        <p:spPr>
          <a:xfrm>
            <a:off x="777240" y="132735"/>
            <a:ext cx="10659110" cy="1325563"/>
          </a:xfrm>
        </p:spPr>
        <p:txBody>
          <a:bodyPr/>
          <a:lstStyle/>
          <a:p>
            <a:r>
              <a:rPr lang="el-GR" dirty="0"/>
              <a:t>Μέθοδος </a:t>
            </a:r>
            <a:r>
              <a:rPr lang="en-US" dirty="0" err="1"/>
              <a:t>analyze_performance</a:t>
            </a:r>
            <a:endParaRPr lang="el-GR" dirty="0"/>
          </a:p>
        </p:txBody>
      </p:sp>
      <p:sp>
        <p:nvSpPr>
          <p:cNvPr id="3" name="Content Placeholder 2">
            <a:extLst>
              <a:ext uri="{FF2B5EF4-FFF2-40B4-BE49-F238E27FC236}">
                <a16:creationId xmlns:a16="http://schemas.microsoft.com/office/drawing/2014/main" id="{9BF3D82D-3FB0-1E84-074A-871415AF5C48}"/>
              </a:ext>
            </a:extLst>
          </p:cNvPr>
          <p:cNvSpPr>
            <a:spLocks noGrp="1"/>
          </p:cNvSpPr>
          <p:nvPr>
            <p:ph idx="1"/>
          </p:nvPr>
        </p:nvSpPr>
        <p:spPr>
          <a:xfrm>
            <a:off x="777240" y="1455174"/>
            <a:ext cx="10659110" cy="5270091"/>
          </a:xfrm>
        </p:spPr>
        <p:txBody>
          <a:bodyPr>
            <a:normAutofit/>
          </a:bodyPr>
          <a:lstStyle/>
          <a:p>
            <a:r>
              <a:rPr lang="el-GR" dirty="0"/>
              <a:t>Αναλύουμε την απόδοση του δικτύου όσον αφορά τις εναλλαγές και τις καθυστερήσεις.</a:t>
            </a:r>
          </a:p>
          <a:p>
            <a:r>
              <a:rPr lang="el-GR" dirty="0"/>
              <a:t>Επιστρέφει ένα </a:t>
            </a:r>
            <a:r>
              <a:rPr lang="el-GR" dirty="0" err="1"/>
              <a:t>tuple</a:t>
            </a:r>
            <a:r>
              <a:rPr lang="el-GR" dirty="0"/>
              <a:t> που περιέχει τον συνολικό αριθμό εναλλαγών και τη μέση καθυστέρηση.</a:t>
            </a:r>
            <a:endParaRPr lang="en-GB" dirty="0"/>
          </a:p>
          <a:p>
            <a:r>
              <a:rPr lang="el-GR" b="0" i="0" dirty="0">
                <a:solidFill>
                  <a:srgbClr val="2E2F30"/>
                </a:solidFill>
                <a:effectLst/>
                <a:latin typeface="Inter"/>
              </a:rPr>
              <a:t>Αυτές οι μετρικές χρησιμοποιούνται για την αξιολόγηση της απόδοσης του δικτύου και τη σύγκριση διαφορετικών </a:t>
            </a:r>
            <a:r>
              <a:rPr lang="el-GR" dirty="0">
                <a:solidFill>
                  <a:srgbClr val="2E2F30"/>
                </a:solidFill>
                <a:latin typeface="Inter"/>
              </a:rPr>
              <a:t>μοντέλων κινητικότητας</a:t>
            </a:r>
            <a:r>
              <a:rPr lang="el-GR" b="0" i="0" dirty="0">
                <a:solidFill>
                  <a:srgbClr val="2E2F30"/>
                </a:solidFill>
                <a:effectLst/>
                <a:latin typeface="Inter"/>
              </a:rPr>
              <a:t>. </a:t>
            </a:r>
            <a:endParaRPr lang="en-GB" b="0" i="0" dirty="0">
              <a:solidFill>
                <a:srgbClr val="2E2F30"/>
              </a:solidFill>
              <a:effectLst/>
              <a:latin typeface="Inter"/>
            </a:endParaRPr>
          </a:p>
          <a:p>
            <a:r>
              <a:rPr lang="el-GR" dirty="0"/>
              <a:t>Υπολογίζουμε τον συνολικό αριθμό εναλλαγών αθροίζοντας τον αριθμό εναλλαγών (</a:t>
            </a:r>
            <a:r>
              <a:rPr lang="el-GR" dirty="0" err="1"/>
              <a:t>handover_count</a:t>
            </a:r>
            <a:r>
              <a:rPr lang="el-GR" dirty="0"/>
              <a:t>) για κάθε UE στο δίκτυο (</a:t>
            </a:r>
            <a:r>
              <a:rPr lang="el-GR" dirty="0" err="1"/>
              <a:t>self.ues</a:t>
            </a:r>
            <a:r>
              <a:rPr lang="el-GR" dirty="0"/>
              <a:t>). </a:t>
            </a:r>
          </a:p>
          <a:p>
            <a:r>
              <a:rPr lang="el-GR" dirty="0"/>
              <a:t>Υπολογίζουμε την μέση καθυστέρηση εναλλαγής διαιρώντας το άθροισμα των καθυστερήσεων (</a:t>
            </a:r>
            <a:r>
              <a:rPr lang="el-GR" dirty="0" err="1"/>
              <a:t>handover_delay</a:t>
            </a:r>
            <a:r>
              <a:rPr lang="el-GR" dirty="0"/>
              <a:t>) για κάθε UE με τον συνολικό αριθμό UE στο δίκτυο (</a:t>
            </a:r>
            <a:r>
              <a:rPr lang="el-GR" dirty="0" err="1"/>
              <a:t>len</a:t>
            </a:r>
            <a:r>
              <a:rPr lang="el-GR" dirty="0"/>
              <a:t>(</a:t>
            </a:r>
            <a:r>
              <a:rPr lang="el-GR" dirty="0" err="1"/>
              <a:t>self.ues</a:t>
            </a:r>
            <a:r>
              <a:rPr lang="el-GR" dirty="0"/>
              <a:t>)). </a:t>
            </a:r>
          </a:p>
          <a:p>
            <a:r>
              <a:rPr lang="el-GR" dirty="0"/>
              <a:t>Εκτυπώνουμε τον συνολικό αριθμό εναλλαγών (</a:t>
            </a:r>
            <a:r>
              <a:rPr lang="el-GR" dirty="0" err="1"/>
              <a:t>total_handovers</a:t>
            </a:r>
            <a:r>
              <a:rPr lang="el-GR" dirty="0"/>
              <a:t>) και την μέση καθυστέρηση (</a:t>
            </a:r>
            <a:r>
              <a:rPr lang="el-GR" dirty="0" err="1"/>
              <a:t>avg_delay</a:t>
            </a:r>
            <a:r>
              <a:rPr lang="el-GR" dirty="0"/>
              <a:t>) σε μια μορφοποιημένη συμβολοσειρά (f-</a:t>
            </a:r>
            <a:r>
              <a:rPr lang="el-GR" dirty="0" err="1"/>
              <a:t>string</a:t>
            </a:r>
            <a:r>
              <a:rPr lang="el-GR" dirty="0"/>
              <a:t>).</a:t>
            </a:r>
          </a:p>
        </p:txBody>
      </p:sp>
    </p:spTree>
    <p:extLst>
      <p:ext uri="{BB962C8B-B14F-4D97-AF65-F5344CB8AC3E}">
        <p14:creationId xmlns:p14="http://schemas.microsoft.com/office/powerpoint/2010/main" val="37141290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885AD-BE4B-02A1-E55F-ED0BC8531FC4}"/>
              </a:ext>
            </a:extLst>
          </p:cNvPr>
          <p:cNvSpPr>
            <a:spLocks noGrp="1"/>
          </p:cNvSpPr>
          <p:nvPr>
            <p:ph type="title"/>
          </p:nvPr>
        </p:nvSpPr>
        <p:spPr/>
        <p:txBody>
          <a:bodyPr>
            <a:normAutofit fontScale="90000"/>
          </a:bodyPr>
          <a:lstStyle/>
          <a:p>
            <a:r>
              <a:rPr lang="el-GR" dirty="0"/>
              <a:t>Σύγκριση Μοντέλων Κινητικότητας για Αλγόριθμο RSSI</a:t>
            </a:r>
          </a:p>
        </p:txBody>
      </p:sp>
      <p:pic>
        <p:nvPicPr>
          <p:cNvPr id="2050" name="Picture 2">
            <a:extLst>
              <a:ext uri="{FF2B5EF4-FFF2-40B4-BE49-F238E27FC236}">
                <a16:creationId xmlns:a16="http://schemas.microsoft.com/office/drawing/2014/main" id="{6FAE3A4D-71D5-93FD-F1AD-537BEE2C72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25691"/>
            <a:ext cx="6466865" cy="2950766"/>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813F89B1-7D59-DB9A-272E-0C8AB58B04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1743" y="2325691"/>
            <a:ext cx="6402603" cy="31770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26207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F8D1A-54C4-5A9B-5D53-8A7B3A488192}"/>
              </a:ext>
            </a:extLst>
          </p:cNvPr>
          <p:cNvSpPr>
            <a:spLocks noGrp="1"/>
          </p:cNvSpPr>
          <p:nvPr>
            <p:ph type="title"/>
          </p:nvPr>
        </p:nvSpPr>
        <p:spPr/>
        <p:txBody>
          <a:bodyPr/>
          <a:lstStyle/>
          <a:p>
            <a:r>
              <a:rPr lang="el-GR" dirty="0"/>
              <a:t>Μοτίβα Κίνησης</a:t>
            </a:r>
          </a:p>
        </p:txBody>
      </p:sp>
      <p:sp>
        <p:nvSpPr>
          <p:cNvPr id="3" name="Content Placeholder 2">
            <a:extLst>
              <a:ext uri="{FF2B5EF4-FFF2-40B4-BE49-F238E27FC236}">
                <a16:creationId xmlns:a16="http://schemas.microsoft.com/office/drawing/2014/main" id="{7F42865B-9EDA-007E-2C05-E8AFF6D461DB}"/>
              </a:ext>
            </a:extLst>
          </p:cNvPr>
          <p:cNvSpPr>
            <a:spLocks noGrp="1"/>
          </p:cNvSpPr>
          <p:nvPr>
            <p:ph idx="1"/>
          </p:nvPr>
        </p:nvSpPr>
        <p:spPr>
          <a:xfrm>
            <a:off x="777240" y="1690688"/>
            <a:ext cx="10659110" cy="4351338"/>
          </a:xfrm>
        </p:spPr>
        <p:txBody>
          <a:bodyPr>
            <a:normAutofit/>
          </a:bodyPr>
          <a:lstStyle/>
          <a:p>
            <a:r>
              <a:rPr lang="el-GR" dirty="0"/>
              <a:t>Για κάθε UE, σχεδιάζουμε την διαδρομή των συντεταγμένων x και y από το ιστορικό κίνησης του UE.</a:t>
            </a:r>
            <a:r>
              <a:rPr lang="en-GB" dirty="0"/>
              <a:t> </a:t>
            </a:r>
            <a:r>
              <a:rPr lang="el-GR" dirty="0"/>
              <a:t>Το γραμμικό μοντέλο προσφέρει προβλέψιμες και αποδοτικές διαδρομές, το τυχαίο μοντέλο προκαλεί προκλήσεις λόγω της χαοτικής φύσης του, ενώ το προσαρμοσμένο μοντέλο προσφέρει βελτιστοποιημένες και στοχευμένες διαδρομές.</a:t>
            </a:r>
          </a:p>
        </p:txBody>
      </p:sp>
      <p:pic>
        <p:nvPicPr>
          <p:cNvPr id="3074" name="Picture 2">
            <a:extLst>
              <a:ext uri="{FF2B5EF4-FFF2-40B4-BE49-F238E27FC236}">
                <a16:creationId xmlns:a16="http://schemas.microsoft.com/office/drawing/2014/main" id="{5622E7DA-8919-DD7D-9987-59D87EC149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362" y="3084227"/>
            <a:ext cx="3871252" cy="307123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076" name="Picture 4">
            <a:extLst>
              <a:ext uri="{FF2B5EF4-FFF2-40B4-BE49-F238E27FC236}">
                <a16:creationId xmlns:a16="http://schemas.microsoft.com/office/drawing/2014/main" id="{22B2441F-F039-251F-7D84-65E475A391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8592" y="3084227"/>
            <a:ext cx="3892839" cy="308836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078" name="Picture 6">
            <a:extLst>
              <a:ext uri="{FF2B5EF4-FFF2-40B4-BE49-F238E27FC236}">
                <a16:creationId xmlns:a16="http://schemas.microsoft.com/office/drawing/2014/main" id="{B891EE31-6A32-F6C2-3D96-19666679F1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23409" y="3067101"/>
            <a:ext cx="3892838" cy="308836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5265005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158F9-77B5-C898-4A64-9A0868548DD2}"/>
              </a:ext>
            </a:extLst>
          </p:cNvPr>
          <p:cNvSpPr>
            <a:spLocks noGrp="1"/>
          </p:cNvSpPr>
          <p:nvPr>
            <p:ph type="title"/>
          </p:nvPr>
        </p:nvSpPr>
        <p:spPr/>
        <p:txBody>
          <a:bodyPr/>
          <a:lstStyle/>
          <a:p>
            <a:r>
              <a:rPr lang="el-GR" dirty="0"/>
              <a:t>Κατανομή </a:t>
            </a:r>
            <a:r>
              <a:rPr lang="en-GB" dirty="0"/>
              <a:t>H</a:t>
            </a:r>
            <a:r>
              <a:rPr lang="en-US" dirty="0" err="1"/>
              <a:t>andovers</a:t>
            </a:r>
            <a:r>
              <a:rPr lang="en-US" dirty="0"/>
              <a:t> </a:t>
            </a:r>
            <a:endParaRPr lang="el-GR" dirty="0"/>
          </a:p>
        </p:txBody>
      </p:sp>
      <p:sp>
        <p:nvSpPr>
          <p:cNvPr id="3" name="Content Placeholder 2">
            <a:extLst>
              <a:ext uri="{FF2B5EF4-FFF2-40B4-BE49-F238E27FC236}">
                <a16:creationId xmlns:a16="http://schemas.microsoft.com/office/drawing/2014/main" id="{A10B3646-9397-E6C5-7F39-89664A8541D5}"/>
              </a:ext>
            </a:extLst>
          </p:cNvPr>
          <p:cNvSpPr>
            <a:spLocks noGrp="1"/>
          </p:cNvSpPr>
          <p:nvPr>
            <p:ph idx="1"/>
          </p:nvPr>
        </p:nvSpPr>
        <p:spPr>
          <a:xfrm>
            <a:off x="364285" y="1776464"/>
            <a:ext cx="10659110" cy="1045394"/>
          </a:xfrm>
        </p:spPr>
        <p:txBody>
          <a:bodyPr>
            <a:normAutofit fontScale="92500"/>
          </a:bodyPr>
          <a:lstStyle/>
          <a:p>
            <a:r>
              <a:rPr lang="el-GR" dirty="0"/>
              <a:t>Σχεδιάζουμε την κατανομή των </a:t>
            </a:r>
            <a:r>
              <a:rPr lang="en-GB" dirty="0"/>
              <a:t>handovers, </a:t>
            </a:r>
            <a:r>
              <a:rPr lang="el-GR" dirty="0"/>
              <a:t>σύμφωνα με το </a:t>
            </a:r>
            <a:r>
              <a:rPr lang="el-GR" dirty="0" err="1"/>
              <a:t>handover_counts</a:t>
            </a:r>
            <a:r>
              <a:rPr lang="el-GR" dirty="0"/>
              <a:t> για κάθε UE στο δίκτυο.</a:t>
            </a:r>
            <a:r>
              <a:rPr lang="en-GB" dirty="0"/>
              <a:t> </a:t>
            </a:r>
            <a:endParaRPr lang="el-GR" dirty="0"/>
          </a:p>
          <a:p>
            <a:r>
              <a:rPr lang="el-GR" dirty="0"/>
              <a:t>Το γραμμικό μοντέλο έχει ομοιόμορφη κατανομή, το τυχαίο μοντέλο έχει μεγάλη διασπορά, ενώ το προσαρμοσμένο μοντέλο προσφέρει συγκεντρωμένη κατανομή.</a:t>
            </a:r>
          </a:p>
        </p:txBody>
      </p:sp>
      <p:pic>
        <p:nvPicPr>
          <p:cNvPr id="4098" name="Picture 2">
            <a:extLst>
              <a:ext uri="{FF2B5EF4-FFF2-40B4-BE49-F238E27FC236}">
                <a16:creationId xmlns:a16="http://schemas.microsoft.com/office/drawing/2014/main" id="{5ADF3BB6-35E5-063F-E46D-26CBBBEEED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187" y="2970477"/>
            <a:ext cx="3831045" cy="306078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100" name="Picture 4">
            <a:extLst>
              <a:ext uri="{FF2B5EF4-FFF2-40B4-BE49-F238E27FC236}">
                <a16:creationId xmlns:a16="http://schemas.microsoft.com/office/drawing/2014/main" id="{494E2A13-17FA-BEEF-9355-3A43D219098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51070" y="2970477"/>
            <a:ext cx="3831046" cy="306078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102" name="Picture 6">
            <a:extLst>
              <a:ext uri="{FF2B5EF4-FFF2-40B4-BE49-F238E27FC236}">
                <a16:creationId xmlns:a16="http://schemas.microsoft.com/office/drawing/2014/main" id="{789BFD14-3855-E819-2F70-6BC6D17DCD0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60954" y="2970477"/>
            <a:ext cx="3723507" cy="306078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9702124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82DCA-42AF-9113-9446-6CD7B34D3E16}"/>
              </a:ext>
            </a:extLst>
          </p:cNvPr>
          <p:cNvSpPr>
            <a:spLocks noGrp="1"/>
          </p:cNvSpPr>
          <p:nvPr>
            <p:ph type="title"/>
          </p:nvPr>
        </p:nvSpPr>
        <p:spPr/>
        <p:txBody>
          <a:bodyPr>
            <a:normAutofit/>
          </a:bodyPr>
          <a:lstStyle/>
          <a:p>
            <a:r>
              <a:rPr lang="el-GR" dirty="0"/>
              <a:t>Κατανομή </a:t>
            </a:r>
            <a:r>
              <a:rPr lang="en-GB" dirty="0"/>
              <a:t>Handover Delay</a:t>
            </a:r>
            <a:endParaRPr lang="el-GR" dirty="0"/>
          </a:p>
        </p:txBody>
      </p:sp>
      <p:sp>
        <p:nvSpPr>
          <p:cNvPr id="3" name="Content Placeholder 2">
            <a:extLst>
              <a:ext uri="{FF2B5EF4-FFF2-40B4-BE49-F238E27FC236}">
                <a16:creationId xmlns:a16="http://schemas.microsoft.com/office/drawing/2014/main" id="{9485DC15-37E1-A075-015F-7E082451C634}"/>
              </a:ext>
            </a:extLst>
          </p:cNvPr>
          <p:cNvSpPr>
            <a:spLocks noGrp="1"/>
          </p:cNvSpPr>
          <p:nvPr>
            <p:ph idx="1"/>
          </p:nvPr>
        </p:nvSpPr>
        <p:spPr>
          <a:xfrm>
            <a:off x="659252" y="1813591"/>
            <a:ext cx="10659110" cy="1204912"/>
          </a:xfrm>
        </p:spPr>
        <p:txBody>
          <a:bodyPr>
            <a:normAutofit/>
          </a:bodyPr>
          <a:lstStyle/>
          <a:p>
            <a:r>
              <a:rPr lang="el-GR" dirty="0"/>
              <a:t> Το γραμμικό μοντέλο έχει προβλέψιμες και ομοιόμορφες καθυστερήσεις</a:t>
            </a:r>
            <a:r>
              <a:rPr lang="en-GB" dirty="0"/>
              <a:t> </a:t>
            </a:r>
            <a:r>
              <a:rPr lang="el-GR" dirty="0"/>
              <a:t>συγκεντρωμένες σε συγκεκριμένες τιμές, το τυχαίο μοντέλο έχει μεγάλη διασπορά</a:t>
            </a:r>
            <a:r>
              <a:rPr lang="en-GB" dirty="0"/>
              <a:t> </a:t>
            </a:r>
            <a:r>
              <a:rPr lang="el-GR" dirty="0"/>
              <a:t>με πολλές χαμηλές τιμές, ενώ το προσαρμοσμένο μοντέλο προσφέρει συγκεντρωμένες και βελτιστοποιημένες καθυστερήσεις</a:t>
            </a:r>
            <a:r>
              <a:rPr lang="en-GB" dirty="0"/>
              <a:t> </a:t>
            </a:r>
            <a:r>
              <a:rPr lang="el-GR" dirty="0"/>
              <a:t>γύρω από μια συγκεκριμένη τιμή.</a:t>
            </a:r>
          </a:p>
        </p:txBody>
      </p:sp>
      <p:pic>
        <p:nvPicPr>
          <p:cNvPr id="5122" name="Picture 2">
            <a:extLst>
              <a:ext uri="{FF2B5EF4-FFF2-40B4-BE49-F238E27FC236}">
                <a16:creationId xmlns:a16="http://schemas.microsoft.com/office/drawing/2014/main" id="{FF860D00-506E-E9BB-C907-67E53E3043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016" y="3157266"/>
            <a:ext cx="3952875" cy="311417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124" name="Picture 4">
            <a:extLst>
              <a:ext uri="{FF2B5EF4-FFF2-40B4-BE49-F238E27FC236}">
                <a16:creationId xmlns:a16="http://schemas.microsoft.com/office/drawing/2014/main" id="{CB72C829-3B5B-FACB-8D6D-FFCD88C1D3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768" y="3157303"/>
            <a:ext cx="3808464" cy="311414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126" name="Picture 6">
            <a:extLst>
              <a:ext uri="{FF2B5EF4-FFF2-40B4-BE49-F238E27FC236}">
                <a16:creationId xmlns:a16="http://schemas.microsoft.com/office/drawing/2014/main" id="{BD403EE9-95B6-3AE2-E0D4-E44E9CC8EF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34235" y="3157266"/>
            <a:ext cx="3959749" cy="311417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6470328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5817A-6DD1-85C1-D755-80FE4FAEF259}"/>
              </a:ext>
            </a:extLst>
          </p:cNvPr>
          <p:cNvSpPr>
            <a:spLocks noGrp="1"/>
          </p:cNvSpPr>
          <p:nvPr>
            <p:ph type="title"/>
          </p:nvPr>
        </p:nvSpPr>
        <p:spPr>
          <a:xfrm>
            <a:off x="777240" y="0"/>
            <a:ext cx="10659110" cy="1325563"/>
          </a:xfrm>
        </p:spPr>
        <p:txBody>
          <a:bodyPr/>
          <a:lstStyle/>
          <a:p>
            <a:r>
              <a:rPr lang="el-GR" dirty="0"/>
              <a:t>Τοπολογία Δικτύου</a:t>
            </a:r>
          </a:p>
        </p:txBody>
      </p:sp>
      <p:sp>
        <p:nvSpPr>
          <p:cNvPr id="3" name="Content Placeholder 2">
            <a:extLst>
              <a:ext uri="{FF2B5EF4-FFF2-40B4-BE49-F238E27FC236}">
                <a16:creationId xmlns:a16="http://schemas.microsoft.com/office/drawing/2014/main" id="{024E2209-967B-7CF7-21DB-B407D2F08906}"/>
              </a:ext>
            </a:extLst>
          </p:cNvPr>
          <p:cNvSpPr>
            <a:spLocks noGrp="1"/>
          </p:cNvSpPr>
          <p:nvPr>
            <p:ph idx="1"/>
          </p:nvPr>
        </p:nvSpPr>
        <p:spPr>
          <a:xfrm>
            <a:off x="766445" y="1325562"/>
            <a:ext cx="10659110" cy="1978997"/>
          </a:xfrm>
        </p:spPr>
        <p:txBody>
          <a:bodyPr>
            <a:normAutofit fontScale="92500" lnSpcReduction="20000"/>
          </a:bodyPr>
          <a:lstStyle/>
          <a:p>
            <a:r>
              <a:rPr lang="el-GR" dirty="0"/>
              <a:t>Σχεδιάζουμε την τοπολογία του δικτύου, συμπεριλαμβανομένων των σταθμών βάσης και των κινήσεων των UE.</a:t>
            </a:r>
            <a:r>
              <a:rPr lang="en-GB" dirty="0"/>
              <a:t> </a:t>
            </a:r>
            <a:r>
              <a:rPr lang="el-GR" dirty="0"/>
              <a:t>Για κάθε σταθμό βάσης, σχεδιάζουμε έναν κύκλο που αντιπροσωπεύει την ακτίνα κάλυψης και ένα σημάδι x για τη θέση του σταθμού.</a:t>
            </a:r>
            <a:r>
              <a:rPr lang="en-GB" dirty="0"/>
              <a:t> </a:t>
            </a:r>
            <a:r>
              <a:rPr lang="el-GR" dirty="0"/>
              <a:t>Για κάθε UE, σχεδιάζουμε τη διαδρομή κίνησης χρησιμοποιώντας τις συντεταγμένες x και y από το ιστορικό κίνησης.</a:t>
            </a:r>
            <a:r>
              <a:rPr lang="en-GB" dirty="0"/>
              <a:t> </a:t>
            </a:r>
            <a:r>
              <a:rPr lang="el-GR" dirty="0"/>
              <a:t>Το σημείο εκκίνησης κάθε UE σημειώνεται με πράσινο κύκλο και το σημείο τερματισμού με κόκκινο κύκλο.</a:t>
            </a:r>
          </a:p>
          <a:p>
            <a:r>
              <a:rPr lang="el-GR" dirty="0"/>
              <a:t>Το γραμμικό μοντέλο προσφέρει σταθερή κάλυψη και λιγότερες εναλλαγές, το τυχαίο μοντέλο προκαλεί ασταθή κάλυψη και περισσότερες εναλλαγές, ενώ το προσαρμοσμένο μοντέλο προσφέρει βελτιστοποιημένη κάλυψη και ελάχιστες εναλλαγές.</a:t>
            </a:r>
          </a:p>
          <a:p>
            <a:endParaRPr lang="el-GR" dirty="0"/>
          </a:p>
        </p:txBody>
      </p:sp>
      <p:pic>
        <p:nvPicPr>
          <p:cNvPr id="6146" name="Picture 2">
            <a:extLst>
              <a:ext uri="{FF2B5EF4-FFF2-40B4-BE49-F238E27FC236}">
                <a16:creationId xmlns:a16="http://schemas.microsoft.com/office/drawing/2014/main" id="{F7863193-CAAB-3E01-038D-115C79915B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30850" y="3304559"/>
            <a:ext cx="3200582" cy="340168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148" name="Picture 4">
            <a:extLst>
              <a:ext uri="{FF2B5EF4-FFF2-40B4-BE49-F238E27FC236}">
                <a16:creationId xmlns:a16="http://schemas.microsoft.com/office/drawing/2014/main" id="{8A17FD8A-7CAA-2769-6369-F0282B7B89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6557" y="3304559"/>
            <a:ext cx="2982101" cy="336951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150" name="Picture 6">
            <a:extLst>
              <a:ext uri="{FF2B5EF4-FFF2-40B4-BE49-F238E27FC236}">
                <a16:creationId xmlns:a16="http://schemas.microsoft.com/office/drawing/2014/main" id="{3849957A-D958-E823-9046-70B354BF8F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0872" y="3344176"/>
            <a:ext cx="3393493" cy="3322454"/>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18374704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BB4ECDFC-8958-4B83-B01F-58AEFB867B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1D68778-F94A-4C5B-9118-3B992BB975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schemeClr val="bg1"/>
              </a:solidFill>
              <a:latin typeface="+mj-lt"/>
            </a:endParaRPr>
          </a:p>
        </p:txBody>
      </p:sp>
      <p:sp>
        <p:nvSpPr>
          <p:cNvPr id="2" name="Title 1">
            <a:extLst>
              <a:ext uri="{FF2B5EF4-FFF2-40B4-BE49-F238E27FC236}">
                <a16:creationId xmlns:a16="http://schemas.microsoft.com/office/drawing/2014/main" id="{C715BE75-1E0B-8C26-03CB-10B60373B26C}"/>
              </a:ext>
            </a:extLst>
          </p:cNvPr>
          <p:cNvSpPr>
            <a:spLocks noGrp="1"/>
          </p:cNvSpPr>
          <p:nvPr>
            <p:ph type="title"/>
          </p:nvPr>
        </p:nvSpPr>
        <p:spPr>
          <a:xfrm>
            <a:off x="721999" y="633952"/>
            <a:ext cx="6129665" cy="703014"/>
          </a:xfrm>
        </p:spPr>
        <p:txBody>
          <a:bodyPr anchor="b">
            <a:normAutofit/>
          </a:bodyPr>
          <a:lstStyle/>
          <a:p>
            <a:r>
              <a:rPr lang="en-GB" sz="4400" dirty="0"/>
              <a:t>Future Work - </a:t>
            </a:r>
            <a:r>
              <a:rPr lang="en-GB" sz="4400" dirty="0" err="1"/>
              <a:t>Usecase</a:t>
            </a:r>
            <a:endParaRPr lang="el-GR" sz="4400" dirty="0"/>
          </a:p>
        </p:txBody>
      </p:sp>
      <p:grpSp>
        <p:nvGrpSpPr>
          <p:cNvPr id="30" name="decorative circles">
            <a:extLst>
              <a:ext uri="{FF2B5EF4-FFF2-40B4-BE49-F238E27FC236}">
                <a16:creationId xmlns:a16="http://schemas.microsoft.com/office/drawing/2014/main" id="{B29252B9-8F48-4CC0-A640-09C8A8C24E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08627" y="289695"/>
            <a:ext cx="5461374" cy="5966848"/>
            <a:chOff x="6008627" y="289695"/>
            <a:chExt cx="5461374" cy="5966848"/>
          </a:xfrm>
        </p:grpSpPr>
        <p:sp>
          <p:nvSpPr>
            <p:cNvPr id="31" name="Oval 30">
              <a:extLst>
                <a:ext uri="{FF2B5EF4-FFF2-40B4-BE49-F238E27FC236}">
                  <a16:creationId xmlns:a16="http://schemas.microsoft.com/office/drawing/2014/main" id="{28548D73-0AE2-434D-B75C-77D24F5EDC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543605" y="289695"/>
              <a:ext cx="226735" cy="226735"/>
            </a:xfrm>
            <a:prstGeom prst="ellipse">
              <a:avLst/>
            </a:prstGeom>
            <a:solidFill>
              <a:srgbClr val="9744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9BC26AF4-B368-411A-BF70-74F07FA77E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03560" y="387281"/>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6BE4EEE7-FD25-4B68-819D-487E4D78F3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08627" y="5790102"/>
              <a:ext cx="466441" cy="466441"/>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6E52A4F8-9F27-4959-B733-FDA9FCA2E8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03560" y="654708"/>
              <a:ext cx="466441" cy="46644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F13DA742-C9EF-49AA-ADEB-5533449305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08627" y="5407667"/>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descr="A map with circles and a red line&#10;&#10;Description automatically generated">
            <a:hlinkClick r:id="rId2" action="ppaction://hlinkfile"/>
            <a:extLst>
              <a:ext uri="{FF2B5EF4-FFF2-40B4-BE49-F238E27FC236}">
                <a16:creationId xmlns:a16="http://schemas.microsoft.com/office/drawing/2014/main" id="{6E40A65F-89BC-6C3F-EE47-A4CD8F5212C9}"/>
              </a:ext>
            </a:extLst>
          </p:cNvPr>
          <p:cNvPicPr>
            <a:picLocks noChangeAspect="1"/>
          </p:cNvPicPr>
          <p:nvPr/>
        </p:nvPicPr>
        <p:blipFill>
          <a:blip r:embed="rId3">
            <a:extLst>
              <a:ext uri="{28A0092B-C50C-407E-A947-70E740481C1C}">
                <a14:useLocalDpi xmlns:a14="http://schemas.microsoft.com/office/drawing/2010/main" val="0"/>
              </a:ext>
            </a:extLst>
          </a:blip>
          <a:srcRect l="10882" r="4617" b="-2"/>
          <a:stretch/>
        </p:blipFill>
        <p:spPr>
          <a:xfrm>
            <a:off x="7083843" y="1382089"/>
            <a:ext cx="4874454" cy="487445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7" name="Content Placeholder 2">
            <a:extLst>
              <a:ext uri="{FF2B5EF4-FFF2-40B4-BE49-F238E27FC236}">
                <a16:creationId xmlns:a16="http://schemas.microsoft.com/office/drawing/2014/main" id="{6FA8B9C5-8A94-D1FD-3FF3-221250FC7E1F}"/>
              </a:ext>
            </a:extLst>
          </p:cNvPr>
          <p:cNvSpPr>
            <a:spLocks noGrp="1"/>
          </p:cNvSpPr>
          <p:nvPr>
            <p:ph idx="1"/>
          </p:nvPr>
        </p:nvSpPr>
        <p:spPr>
          <a:xfrm>
            <a:off x="515566" y="1582994"/>
            <a:ext cx="6420151" cy="5058731"/>
          </a:xfrm>
        </p:spPr>
        <p:txBody>
          <a:bodyPr>
            <a:normAutofit fontScale="92500" lnSpcReduction="20000"/>
          </a:bodyPr>
          <a:lstStyle/>
          <a:p>
            <a:r>
              <a:rPr lang="el-GR" b="0" i="0" dirty="0">
                <a:solidFill>
                  <a:srgbClr val="2E2F30"/>
                </a:solidFill>
                <a:effectLst/>
                <a:latin typeface="Inter"/>
              </a:rPr>
              <a:t>Στόχος: Ο στόχος αυτού του </a:t>
            </a:r>
            <a:r>
              <a:rPr lang="el-GR" b="0" i="0" dirty="0" err="1">
                <a:solidFill>
                  <a:srgbClr val="2E2F30"/>
                </a:solidFill>
                <a:effectLst/>
                <a:latin typeface="Inter"/>
              </a:rPr>
              <a:t>usecase</a:t>
            </a:r>
            <a:r>
              <a:rPr lang="el-GR" b="0" i="0" dirty="0">
                <a:solidFill>
                  <a:srgbClr val="2E2F30"/>
                </a:solidFill>
                <a:effectLst/>
                <a:latin typeface="Inter"/>
              </a:rPr>
              <a:t> είναι να αξιολογήσει την αξιοπιστία ενός δικτύου 4G για την υποστήριξη εφαρμογών απομακρυσμένης παρακολούθησης ασθενών, όπου φορητές συσκευές υγείας μεταδίδουν ζωτικά σημεία και δεδομένα υγείας σε απομακρυσμένους παρόχους. Η προσομοίωση θα </a:t>
            </a:r>
            <a:r>
              <a:rPr lang="el-GR" b="0" i="0" dirty="0" err="1">
                <a:solidFill>
                  <a:srgbClr val="2E2F30"/>
                </a:solidFill>
                <a:effectLst/>
                <a:latin typeface="Inter"/>
              </a:rPr>
              <a:t>μοντελοποιήσει</a:t>
            </a:r>
            <a:r>
              <a:rPr lang="el-GR" b="0" i="0" dirty="0">
                <a:solidFill>
                  <a:srgbClr val="2E2F30"/>
                </a:solidFill>
                <a:effectLst/>
                <a:latin typeface="Inter"/>
              </a:rPr>
              <a:t> πώς οι συσκευές συνδέονται με διαφορετικούς σταθμούς βάσης καθώς ο ασθενής μετακινείται.</a:t>
            </a:r>
            <a:endParaRPr lang="en-GB" b="0" i="0" dirty="0">
              <a:solidFill>
                <a:srgbClr val="2E2F30"/>
              </a:solidFill>
              <a:effectLst/>
              <a:latin typeface="Inter"/>
            </a:endParaRPr>
          </a:p>
          <a:p>
            <a:pPr algn="l">
              <a:buFont typeface="Arial" panose="020B0604020202020204" pitchFamily="34" charset="0"/>
              <a:buChar char="•"/>
            </a:pPr>
            <a:r>
              <a:rPr lang="el-GR" b="0" i="0" dirty="0">
                <a:solidFill>
                  <a:srgbClr val="2E2F30"/>
                </a:solidFill>
                <a:effectLst/>
                <a:latin typeface="Inter"/>
              </a:rPr>
              <a:t>Σενάριο:</a:t>
            </a:r>
            <a:endParaRPr lang="en-GB" b="0" i="0" dirty="0">
              <a:solidFill>
                <a:srgbClr val="2E2F30"/>
              </a:solidFill>
              <a:effectLst/>
              <a:latin typeface="Inter"/>
            </a:endParaRPr>
          </a:p>
          <a:p>
            <a:pPr lvl="1"/>
            <a:r>
              <a:rPr lang="el-GR" b="0" i="0" dirty="0">
                <a:solidFill>
                  <a:srgbClr val="2E2F30"/>
                </a:solidFill>
                <a:effectLst/>
                <a:latin typeface="Inter"/>
              </a:rPr>
              <a:t>Ασθενείς εξοπλισμένοι με φορητές συσκευές υγείας (</a:t>
            </a:r>
            <a:r>
              <a:rPr lang="el-GR" b="0" i="0" dirty="0" err="1">
                <a:solidFill>
                  <a:srgbClr val="2E2F30"/>
                </a:solidFill>
                <a:effectLst/>
                <a:latin typeface="Inter"/>
              </a:rPr>
              <a:t>UEs</a:t>
            </a:r>
            <a:r>
              <a:rPr lang="el-GR" b="0" i="0" dirty="0">
                <a:solidFill>
                  <a:srgbClr val="2E2F30"/>
                </a:solidFill>
                <a:effectLst/>
                <a:latin typeface="Inter"/>
              </a:rPr>
              <a:t>) κινούνται τυχαία ή κατά μήκος προκαθορισμένων διαδρομών σε μια περιοχή που καλύπτεται από πολλαπλές κυψέλες 4G.</a:t>
            </a:r>
          </a:p>
          <a:p>
            <a:pPr lvl="1"/>
            <a:r>
              <a:rPr lang="el-GR" b="0" i="0" dirty="0">
                <a:solidFill>
                  <a:srgbClr val="2E2F30"/>
                </a:solidFill>
                <a:effectLst/>
                <a:latin typeface="Inter"/>
              </a:rPr>
              <a:t>Οι συσκευές μεταδίδουν περιοδικά δεδομένα υγείας (π.χ. καρδιακό ρυθμό, πίεση αίματος) μέσω του δικτύου 4G σε μια πλατφόρμα παρακολούθησης που χρησιμοποιείται από τους παρόχους υγείας.</a:t>
            </a:r>
          </a:p>
          <a:p>
            <a:pPr lvl="1"/>
            <a:r>
              <a:rPr lang="el-GR" b="0" i="0" dirty="0">
                <a:solidFill>
                  <a:srgbClr val="2E2F30"/>
                </a:solidFill>
                <a:effectLst/>
                <a:latin typeface="Inter"/>
              </a:rPr>
              <a:t>Καθώς οι ασθενείς μετακινούνται, οι συσκευές υπόκεινται σε εναλλαγές κυττάρων (</a:t>
            </a:r>
            <a:r>
              <a:rPr lang="el-GR" b="0" i="0" dirty="0" err="1">
                <a:solidFill>
                  <a:srgbClr val="2E2F30"/>
                </a:solidFill>
                <a:effectLst/>
                <a:latin typeface="Inter"/>
              </a:rPr>
              <a:t>handovers</a:t>
            </a:r>
            <a:r>
              <a:rPr lang="el-GR" b="0" i="0" dirty="0">
                <a:solidFill>
                  <a:srgbClr val="2E2F30"/>
                </a:solidFill>
                <a:effectLst/>
                <a:latin typeface="Inter"/>
              </a:rPr>
              <a:t>) μεταξύ των </a:t>
            </a:r>
            <a:r>
              <a:rPr lang="el-GR" b="0" i="0" dirty="0" err="1">
                <a:solidFill>
                  <a:srgbClr val="2E2F30"/>
                </a:solidFill>
                <a:effectLst/>
                <a:latin typeface="Inter"/>
              </a:rPr>
              <a:t>κυψέλων</a:t>
            </a:r>
            <a:r>
              <a:rPr lang="el-GR" b="0" i="0" dirty="0">
                <a:solidFill>
                  <a:srgbClr val="2E2F30"/>
                </a:solidFill>
                <a:effectLst/>
                <a:latin typeface="Inter"/>
              </a:rPr>
              <a:t> για να διατηρήσουν τη συνδεσιμότητα.</a:t>
            </a:r>
          </a:p>
          <a:p>
            <a:pPr marL="228600" marR="0" lvl="0" indent="-228600" algn="l" defTabSz="914400" rtl="0" eaLnBrk="1" fontAlgn="auto" latinLnBrk="0" hangingPunct="1">
              <a:lnSpc>
                <a:spcPct val="90000"/>
              </a:lnSpc>
              <a:spcBef>
                <a:spcPts val="1000"/>
              </a:spcBef>
              <a:spcAft>
                <a:spcPts val="0"/>
              </a:spcAft>
              <a:buClr>
                <a:srgbClr val="412F24">
                  <a:lumMod val="75000"/>
                  <a:lumOff val="25000"/>
                </a:srgbClr>
              </a:buClr>
              <a:buSzTx/>
              <a:buFont typeface="Arial" panose="020B0604020202020204" pitchFamily="34" charset="0"/>
              <a:buChar char="•"/>
              <a:tabLst/>
              <a:defRPr/>
            </a:pPr>
            <a:r>
              <a:rPr kumimoji="0" lang="el-GR" sz="2000" b="0" i="0" u="none" strike="noStrike" kern="1200" cap="none" spc="0" normalizeH="0" baseline="0" noProof="0" dirty="0" err="1">
                <a:ln>
                  <a:noFill/>
                </a:ln>
                <a:solidFill>
                  <a:srgbClr val="2E2F30"/>
                </a:solidFill>
                <a:effectLst/>
                <a:uLnTx/>
                <a:uFillTx/>
                <a:latin typeface="Inter"/>
                <a:ea typeface="+mn-ea"/>
                <a:cs typeface="+mn-cs"/>
              </a:rPr>
              <a:t>Αποτελέσμα</a:t>
            </a:r>
            <a:r>
              <a:rPr kumimoji="0" lang="el-GR" sz="2000" b="0" i="0" u="none" strike="noStrike" kern="1200" cap="none" spc="0" normalizeH="0" baseline="0" noProof="0" dirty="0">
                <a:ln>
                  <a:noFill/>
                </a:ln>
                <a:solidFill>
                  <a:srgbClr val="2E2F30"/>
                </a:solidFill>
                <a:effectLst/>
                <a:uLnTx/>
                <a:uFillTx/>
                <a:latin typeface="Inter"/>
                <a:ea typeface="+mn-ea"/>
                <a:cs typeface="+mn-cs"/>
              </a:rPr>
              <a:t>: </a:t>
            </a:r>
            <a:r>
              <a:rPr lang="el-GR" dirty="0">
                <a:solidFill>
                  <a:srgbClr val="2E2F30"/>
                </a:solidFill>
                <a:latin typeface="Inter"/>
              </a:rPr>
              <a:t>Καθορισμός α</a:t>
            </a:r>
            <a:r>
              <a:rPr kumimoji="0" lang="el-GR" sz="2000" b="0" i="0" u="none" strike="noStrike" kern="1200" cap="none" spc="0" normalizeH="0" baseline="0" noProof="0" dirty="0">
                <a:ln>
                  <a:noFill/>
                </a:ln>
                <a:solidFill>
                  <a:srgbClr val="2E2F30"/>
                </a:solidFill>
                <a:effectLst/>
                <a:uLnTx/>
                <a:uFillTx/>
                <a:latin typeface="Inter"/>
                <a:ea typeface="+mn-ea"/>
                <a:cs typeface="+mn-cs"/>
              </a:rPr>
              <a:t>ν το δίκτυο 4G μπορεί να παρέχει σταθερή σύνδεση και αποδεκτή απόδοση για την αξιόπιστη μετάδοση δεδομένων απομακρυσμένης παρακολούθησης ασθενών. </a:t>
            </a:r>
            <a:endParaRPr lang="en-GB" b="0" i="0" dirty="0">
              <a:solidFill>
                <a:srgbClr val="2E2F30"/>
              </a:solidFill>
              <a:effectLst/>
              <a:latin typeface="Inter"/>
            </a:endParaRPr>
          </a:p>
          <a:p>
            <a:pPr marL="0" indent="0">
              <a:buNone/>
            </a:pPr>
            <a:endParaRPr lang="el-GR" dirty="0"/>
          </a:p>
        </p:txBody>
      </p:sp>
    </p:spTree>
    <p:extLst>
      <p:ext uri="{BB962C8B-B14F-4D97-AF65-F5344CB8AC3E}">
        <p14:creationId xmlns:p14="http://schemas.microsoft.com/office/powerpoint/2010/main" val="3020133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62E5F-18D7-1E4D-3E91-5FDF62A2BACF}"/>
              </a:ext>
            </a:extLst>
          </p:cNvPr>
          <p:cNvSpPr>
            <a:spLocks noGrp="1"/>
          </p:cNvSpPr>
          <p:nvPr>
            <p:ph type="title"/>
          </p:nvPr>
        </p:nvSpPr>
        <p:spPr/>
        <p:txBody>
          <a:bodyPr/>
          <a:lstStyle/>
          <a:p>
            <a:r>
              <a:rPr lang="en-US" dirty="0"/>
              <a:t>Future Work </a:t>
            </a:r>
            <a:r>
              <a:rPr lang="en-GB" dirty="0"/>
              <a:t>- Architecture</a:t>
            </a:r>
            <a:endParaRPr lang="el-GR" dirty="0"/>
          </a:p>
        </p:txBody>
      </p:sp>
      <p:pic>
        <p:nvPicPr>
          <p:cNvPr id="5" name="Content Placeholder 4" descr="A diagram of a medical network&#10;&#10;Description automatically generated with medium confidence">
            <a:extLst>
              <a:ext uri="{FF2B5EF4-FFF2-40B4-BE49-F238E27FC236}">
                <a16:creationId xmlns:a16="http://schemas.microsoft.com/office/drawing/2014/main" id="{1B57FA76-CF7F-198E-256F-712D510C70D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907274" y="2171873"/>
            <a:ext cx="6177227" cy="419146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TextBox 5">
            <a:extLst>
              <a:ext uri="{FF2B5EF4-FFF2-40B4-BE49-F238E27FC236}">
                <a16:creationId xmlns:a16="http://schemas.microsoft.com/office/drawing/2014/main" id="{73DF394A-D6FC-5A22-2175-2A625FEB4C9A}"/>
              </a:ext>
            </a:extLst>
          </p:cNvPr>
          <p:cNvSpPr txBox="1"/>
          <p:nvPr/>
        </p:nvSpPr>
        <p:spPr>
          <a:xfrm>
            <a:off x="401209" y="2273030"/>
            <a:ext cx="5506065" cy="3785652"/>
          </a:xfrm>
          <a:prstGeom prst="rect">
            <a:avLst/>
          </a:prstGeom>
          <a:noFill/>
        </p:spPr>
        <p:txBody>
          <a:bodyPr wrap="square" rtlCol="0">
            <a:spAutoFit/>
          </a:bodyPr>
          <a:lstStyle/>
          <a:p>
            <a:pPr marL="342900" indent="-342900">
              <a:buFont typeface="Arial" panose="020B0604020202020204" pitchFamily="34" charset="0"/>
              <a:buChar char="•"/>
            </a:pPr>
            <a:r>
              <a:rPr lang="el-GR" sz="2000" b="0" i="0" dirty="0">
                <a:effectLst/>
                <a:latin typeface="Inter"/>
              </a:rPr>
              <a:t>Οι φορητές συσκευές υγείας (WBAN) συλλέγουν δεδομένα από το σώμα του ασθενούς και τα μεταδίδουν μέσω δικτύ</a:t>
            </a:r>
            <a:r>
              <a:rPr lang="el-GR" sz="2000" dirty="0">
                <a:latin typeface="Inter"/>
              </a:rPr>
              <a:t>ου </a:t>
            </a:r>
            <a:r>
              <a:rPr lang="el-GR" sz="2000" b="0" i="0" dirty="0">
                <a:effectLst/>
                <a:latin typeface="Inter"/>
              </a:rPr>
              <a:t>4G LTE. Αυτά τα δεδομένα αποστέλλονται σε έναν ιατρικό διακομιστή και είναι προσβάσιμα από γιατρούς και υπηρεσίες έκτακτης ανάγκης. </a:t>
            </a:r>
          </a:p>
          <a:p>
            <a:pPr marL="342900" indent="-342900">
              <a:buFont typeface="Arial" panose="020B0604020202020204" pitchFamily="34" charset="0"/>
              <a:buChar char="•"/>
            </a:pPr>
            <a:endParaRPr lang="el-GR" sz="2000" dirty="0">
              <a:latin typeface="Inter"/>
            </a:endParaRPr>
          </a:p>
          <a:p>
            <a:pPr marL="342900" indent="-342900">
              <a:buFont typeface="Arial" panose="020B0604020202020204" pitchFamily="34" charset="0"/>
              <a:buChar char="•"/>
            </a:pPr>
            <a:r>
              <a:rPr lang="el-GR" sz="2000" b="0" i="0" dirty="0">
                <a:effectLst/>
                <a:latin typeface="Inter"/>
              </a:rPr>
              <a:t>Η εικόνα δείχνει τη ροή των δεδομένων από τις συσκευές του ασθενούς προς τους παρόχους υγείας, υποστηρίζοντας την αξιολόγηση της αξιοπιστίας του δικτύου 4G για τέτοιες εφαρμογές.</a:t>
            </a:r>
            <a:endParaRPr lang="el-GR" sz="2000" dirty="0"/>
          </a:p>
        </p:txBody>
      </p:sp>
    </p:spTree>
    <p:extLst>
      <p:ext uri="{BB962C8B-B14F-4D97-AF65-F5344CB8AC3E}">
        <p14:creationId xmlns:p14="http://schemas.microsoft.com/office/powerpoint/2010/main" val="2381120828"/>
      </p:ext>
    </p:extLst>
  </p:cSld>
  <p:clrMapOvr>
    <a:masterClrMapping/>
  </p:clrMapOvr>
</p:sld>
</file>

<file path=ppt/theme/theme1.xml><?xml version="1.0" encoding="utf-8"?>
<a:theme xmlns:a="http://schemas.openxmlformats.org/drawingml/2006/main" name="ConfettiVTI">
  <a:themeElements>
    <a:clrScheme name="AnalogousFromLightSeed_2SEEDS">
      <a:dk1>
        <a:srgbClr val="000000"/>
      </a:dk1>
      <a:lt1>
        <a:srgbClr val="FFFFFF"/>
      </a:lt1>
      <a:dk2>
        <a:srgbClr val="412F24"/>
      </a:dk2>
      <a:lt2>
        <a:srgbClr val="E2E6E8"/>
      </a:lt2>
      <a:accent1>
        <a:srgbClr val="BA947F"/>
      </a:accent1>
      <a:accent2>
        <a:srgbClr val="C69699"/>
      </a:accent2>
      <a:accent3>
        <a:srgbClr val="ACA383"/>
      </a:accent3>
      <a:accent4>
        <a:srgbClr val="79AAB1"/>
      </a:accent4>
      <a:accent5>
        <a:srgbClr val="8AA3C0"/>
      </a:accent5>
      <a:accent6>
        <a:srgbClr val="7F82BA"/>
      </a:accent6>
      <a:hlink>
        <a:srgbClr val="5A879F"/>
      </a:hlink>
      <a:folHlink>
        <a:srgbClr val="7F7F7F"/>
      </a:folHlink>
    </a:clrScheme>
    <a:fontScheme name="Custom 10">
      <a:majorFont>
        <a:latin typeface="Gill Sans Nova"/>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nfettiVTI" id="{B5618F7C-B4F0-4D28-83B4-440D0519681F}" vid="{5F84EFDF-E14E-48C6-955C-990A32085A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1373</TotalTime>
  <Words>5044</Words>
  <Application>Microsoft Office PowerPoint</Application>
  <PresentationFormat>Widescreen</PresentationFormat>
  <Paragraphs>227</Paragraphs>
  <Slides>40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Aptos</vt:lpstr>
      <vt:lpstr>Arial</vt:lpstr>
      <vt:lpstr>Calibri</vt:lpstr>
      <vt:lpstr>Gill Sans Nova</vt:lpstr>
      <vt:lpstr>Inter</vt:lpstr>
      <vt:lpstr>Wingdings</vt:lpstr>
      <vt:lpstr>ConfettiVTI</vt:lpstr>
      <vt:lpstr>Προσομοίωση Εναλλαγής Κυττάρων σε Δίκτυο 4G</vt:lpstr>
      <vt:lpstr>Τι θέλουμε να κάνουμε; </vt:lpstr>
      <vt:lpstr>Τι θα δούμε;</vt:lpstr>
      <vt:lpstr>Σημαντικές Έννοιες</vt:lpstr>
      <vt:lpstr>Πως λειτουργεί η κινητή τηλεφωνία;</vt:lpstr>
      <vt:lpstr>Τι κάνει η κυψέλη;</vt:lpstr>
      <vt:lpstr>Ανάπτυξη του Περιβάλλοντος Προσομοίωσης</vt:lpstr>
      <vt:lpstr>1. Κλάση BaseStation </vt:lpstr>
      <vt:lpstr>Μέθοδος __init__ (Αρχικοποίηση)</vt:lpstr>
      <vt:lpstr>Γιατί χρησιμοποιούμε αρχικό φορτίο;</vt:lpstr>
      <vt:lpstr>Μέθοδος update_load</vt:lpstr>
      <vt:lpstr>Μέθοδος get_signal_strength </vt:lpstr>
      <vt:lpstr>2. Κλάση UE</vt:lpstr>
      <vt:lpstr>Μέθοδος __init__ (Αρχικοποίηση)</vt:lpstr>
      <vt:lpstr>Μοντέλα Κινητικότητας</vt:lpstr>
      <vt:lpstr>Α. Μέθοδος move_randomly </vt:lpstr>
      <vt:lpstr>Β. Μέθοδος move_linearly</vt:lpstr>
      <vt:lpstr>Γ. Μέθοδος move_custom</vt:lpstr>
      <vt:lpstr>3. Κλάση Network</vt:lpstr>
      <vt:lpstr>Μέθοδος __init__ (Αρχικοποίηση)</vt:lpstr>
      <vt:lpstr>Μέθοδος create_base_stations (grid)</vt:lpstr>
      <vt:lpstr>Μέθοδος create_base_stations (grid)</vt:lpstr>
      <vt:lpstr>Μέθοδος create_base_stations (random)</vt:lpstr>
      <vt:lpstr>Μέθοδος create_ues</vt:lpstr>
      <vt:lpstr>Υλοποίηση Αλγορίθμων Εναλλαγής Κυττάρων</vt:lpstr>
      <vt:lpstr>Αλγόριθμος RSSI</vt:lpstr>
      <vt:lpstr>Φαινόμενο ping-pong </vt:lpstr>
      <vt:lpstr>Μέθοδος rssi_based_handover (I)</vt:lpstr>
      <vt:lpstr>Μέθοδος rssi_based_handover (II)</vt:lpstr>
      <vt:lpstr>Μέθοδος execute_handover</vt:lpstr>
      <vt:lpstr>Μέθοδος calculate_cost</vt:lpstr>
      <vt:lpstr>Μέθοδος run_simulation</vt:lpstr>
      <vt:lpstr>Μέθοδος analyze_performance</vt:lpstr>
      <vt:lpstr>Σύγκριση Μοντέλων Κινητικότητας για Αλγόριθμο RSSI</vt:lpstr>
      <vt:lpstr>Μοτίβα Κίνησης</vt:lpstr>
      <vt:lpstr>Κατανομή Handovers </vt:lpstr>
      <vt:lpstr>Κατανομή Handover Delay</vt:lpstr>
      <vt:lpstr>Τοπολογία Δικτύου</vt:lpstr>
      <vt:lpstr>Future Work - Usecase</vt:lpstr>
      <vt:lpstr>Future Work - Architecture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Filippos Paraskevas Zygouris</dc:creator>
  <cp:lastModifiedBy>Filippos Paraskevas Zygouris</cp:lastModifiedBy>
  <cp:revision>157</cp:revision>
  <dcterms:created xsi:type="dcterms:W3CDTF">2024-10-22T06:43:16Z</dcterms:created>
  <dcterms:modified xsi:type="dcterms:W3CDTF">2024-11-25T05:50:20Z</dcterms:modified>
</cp:coreProperties>
</file>